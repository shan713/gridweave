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8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2263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2263A"/>
                </a:solidFill>
                <a:latin typeface="Calibri"/>
              </a:rPr>
              <a:t>Critical load served (kW), day 1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need</c:v>
                </c:pt>
              </c:strCache>
            </c:strRef>
          </c:tx>
          <c:spPr>
            <a:solidFill>
              <a:srgbClr val="1B2430"/>
            </a:solidFill>
            <a:ln w="25400" cap="flat">
              <a:solidFill>
                <a:srgbClr val="1B24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43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B2430"/>
              </a:solidFill>
              <a:ln w="9525" cap="flat">
                <a:solidFill>
                  <a:srgbClr val="1B243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Sheet1!$A$2:$A$97</c:f>
              <c:multiLvlStrCache>
                <c:ptCount val="96"/>
                <c:lvl>
                  <c:pt idx="0">
                    <c:v>00:15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>02:15</c:v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>04:15</c:v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06:15</c:v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>08:15</c:v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>10:15</c:v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>12:15</c:v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>14:15</c:v>
                  </c:pt>
                  <c:pt idx="57">
                    <c:v/>
                  </c:pt>
                  <c:pt idx="58">
                    <c:v/>
                  </c:pt>
                  <c:pt idx="59">
                    <c:v/>
                  </c:pt>
                  <c:pt idx="60">
                    <c:v/>
                  </c:pt>
                  <c:pt idx="61">
                    <c:v/>
                  </c:pt>
                  <c:pt idx="62">
                    <c:v/>
                  </c:pt>
                  <c:pt idx="63">
                    <c:v/>
                  </c:pt>
                  <c:pt idx="64">
                    <c:v>16:15</c:v>
                  </c:pt>
                  <c:pt idx="65">
                    <c:v/>
                  </c:pt>
                  <c:pt idx="66">
                    <c:v/>
                  </c:pt>
                  <c:pt idx="67">
                    <c:v/>
                  </c:pt>
                  <c:pt idx="68">
                    <c:v/>
                  </c:pt>
                  <c:pt idx="69">
                    <c:v/>
                  </c:pt>
                  <c:pt idx="70">
                    <c:v/>
                  </c:pt>
                  <c:pt idx="71">
                    <c:v/>
                  </c:pt>
                  <c:pt idx="72">
                    <c:v>18:15</c:v>
                  </c:pt>
                  <c:pt idx="73">
                    <c:v/>
                  </c:pt>
                  <c:pt idx="74">
                    <c:v/>
                  </c:pt>
                  <c:pt idx="75">
                    <c:v/>
                  </c:pt>
                  <c:pt idx="76">
                    <c:v/>
                  </c:pt>
                  <c:pt idx="77">
                    <c:v/>
                  </c:pt>
                  <c:pt idx="78">
                    <c:v/>
                  </c:pt>
                  <c:pt idx="79">
                    <c:v/>
                  </c:pt>
                  <c:pt idx="80">
                    <c:v>20:15</c:v>
                  </c:pt>
                  <c:pt idx="81">
                    <c:v/>
                  </c:pt>
                  <c:pt idx="82">
                    <c:v/>
                  </c:pt>
                  <c:pt idx="83">
                    <c:v/>
                  </c:pt>
                  <c:pt idx="84">
                    <c:v/>
                  </c:pt>
                  <c:pt idx="85">
                    <c:v/>
                  </c:pt>
                  <c:pt idx="86">
                    <c:v/>
                  </c:pt>
                  <c:pt idx="87">
                    <c:v/>
                  </c:pt>
                  <c:pt idx="88">
                    <c:v>22:15</c:v>
                  </c:pt>
                  <c:pt idx="89">
                    <c:v/>
                  </c:pt>
                  <c:pt idx="90">
                    <c:v/>
                  </c:pt>
                  <c:pt idx="91">
                    <c:v/>
                  </c:pt>
                  <c:pt idx="92">
                    <c:v/>
                  </c:pt>
                  <c:pt idx="93">
                    <c:v/>
                  </c:pt>
                  <c:pt idx="94">
                    <c:v/>
                  </c:pt>
                  <c:pt idx="95">
                    <c:v/>
                  </c:pt>
                </c:lvl>
              </c:multiLvlStrCache>
            </c:multiLvlStrRef>
          </c:cat>
          <c:val>
            <c:numRef>
              <c:f>Sheet1!$B$2:$B$97</c:f>
              <c:numCache>
                <c:formatCode>General</c:formatCode>
                <c:ptCount val="96"/>
                <c:pt idx="0">
                  <c:v>71.1</c:v>
                </c:pt>
                <c:pt idx="1">
                  <c:v>71.6</c:v>
                </c:pt>
                <c:pt idx="2">
                  <c:v>72.1</c:v>
                </c:pt>
                <c:pt idx="3">
                  <c:v>70.7</c:v>
                </c:pt>
                <c:pt idx="4">
                  <c:v>66.9</c:v>
                </c:pt>
                <c:pt idx="5">
                  <c:v>65.3</c:v>
                </c:pt>
                <c:pt idx="6">
                  <c:v>63.1</c:v>
                </c:pt>
                <c:pt idx="7">
                  <c:v>62.1</c:v>
                </c:pt>
                <c:pt idx="8">
                  <c:v>62.2</c:v>
                </c:pt>
                <c:pt idx="9">
                  <c:v>62.2</c:v>
                </c:pt>
                <c:pt idx="10">
                  <c:v>62.1</c:v>
                </c:pt>
                <c:pt idx="11">
                  <c:v>62.1</c:v>
                </c:pt>
                <c:pt idx="12">
                  <c:v>63.1</c:v>
                </c:pt>
                <c:pt idx="13">
                  <c:v>62.8</c:v>
                </c:pt>
                <c:pt idx="14">
                  <c:v>63.9</c:v>
                </c:pt>
                <c:pt idx="15">
                  <c:v>63.4</c:v>
                </c:pt>
                <c:pt idx="16">
                  <c:v>63.9</c:v>
                </c:pt>
                <c:pt idx="17">
                  <c:v>64.1</c:v>
                </c:pt>
                <c:pt idx="18">
                  <c:v>62.8</c:v>
                </c:pt>
                <c:pt idx="19">
                  <c:v>62.8</c:v>
                </c:pt>
                <c:pt idx="20">
                  <c:v>62.2</c:v>
                </c:pt>
                <c:pt idx="21">
                  <c:v>63</c:v>
                </c:pt>
                <c:pt idx="22">
                  <c:v>64.8</c:v>
                </c:pt>
                <c:pt idx="23">
                  <c:v>67.4</c:v>
                </c:pt>
                <c:pt idx="24">
                  <c:v>67.3</c:v>
                </c:pt>
                <c:pt idx="25">
                  <c:v>69.3</c:v>
                </c:pt>
                <c:pt idx="26">
                  <c:v>69.5</c:v>
                </c:pt>
                <c:pt idx="27">
                  <c:v>69.3</c:v>
                </c:pt>
                <c:pt idx="28">
                  <c:v>72</c:v>
                </c:pt>
                <c:pt idx="29">
                  <c:v>73.8</c:v>
                </c:pt>
                <c:pt idx="30">
                  <c:v>77.5</c:v>
                </c:pt>
                <c:pt idx="31">
                  <c:v>93.1</c:v>
                </c:pt>
                <c:pt idx="32">
                  <c:v>104.5</c:v>
                </c:pt>
                <c:pt idx="33">
                  <c:v>115.7</c:v>
                </c:pt>
                <c:pt idx="34">
                  <c:v>121.8</c:v>
                </c:pt>
                <c:pt idx="35">
                  <c:v>140.2</c:v>
                </c:pt>
                <c:pt idx="36">
                  <c:v>149.9</c:v>
                </c:pt>
                <c:pt idx="37">
                  <c:v>160.1</c:v>
                </c:pt>
                <c:pt idx="38">
                  <c:v>171.3</c:v>
                </c:pt>
                <c:pt idx="39">
                  <c:v>180.5</c:v>
                </c:pt>
                <c:pt idx="40">
                  <c:v>180.1</c:v>
                </c:pt>
                <c:pt idx="41">
                  <c:v>179.3</c:v>
                </c:pt>
                <c:pt idx="42">
                  <c:v>177.4</c:v>
                </c:pt>
                <c:pt idx="43">
                  <c:v>173.7</c:v>
                </c:pt>
                <c:pt idx="44">
                  <c:v>178.4</c:v>
                </c:pt>
                <c:pt idx="45">
                  <c:v>176.9</c:v>
                </c:pt>
                <c:pt idx="46">
                  <c:v>177.2</c:v>
                </c:pt>
                <c:pt idx="47">
                  <c:v>172.1</c:v>
                </c:pt>
                <c:pt idx="48">
                  <c:v>169</c:v>
                </c:pt>
                <c:pt idx="49">
                  <c:v>161.1</c:v>
                </c:pt>
                <c:pt idx="50">
                  <c:v>158.6</c:v>
                </c:pt>
                <c:pt idx="51">
                  <c:v>157.7</c:v>
                </c:pt>
                <c:pt idx="52">
                  <c:v>154.8</c:v>
                </c:pt>
                <c:pt idx="53">
                  <c:v>156.5</c:v>
                </c:pt>
                <c:pt idx="54">
                  <c:v>164.1</c:v>
                </c:pt>
                <c:pt idx="55">
                  <c:v>171.6</c:v>
                </c:pt>
                <c:pt idx="56">
                  <c:v>172.3</c:v>
                </c:pt>
                <c:pt idx="57">
                  <c:v>168.5</c:v>
                </c:pt>
                <c:pt idx="58">
                  <c:v>166.4</c:v>
                </c:pt>
                <c:pt idx="59">
                  <c:v>173.2</c:v>
                </c:pt>
                <c:pt idx="60">
                  <c:v>175.7</c:v>
                </c:pt>
                <c:pt idx="61">
                  <c:v>176</c:v>
                </c:pt>
                <c:pt idx="62">
                  <c:v>175.1</c:v>
                </c:pt>
                <c:pt idx="63">
                  <c:v>174.2</c:v>
                </c:pt>
                <c:pt idx="64">
                  <c:v>174.7</c:v>
                </c:pt>
                <c:pt idx="65">
                  <c:v>163.4</c:v>
                </c:pt>
                <c:pt idx="66">
                  <c:v>169.6</c:v>
                </c:pt>
                <c:pt idx="67">
                  <c:v>159.9</c:v>
                </c:pt>
                <c:pt idx="68">
                  <c:v>141.5</c:v>
                </c:pt>
                <c:pt idx="69">
                  <c:v>127.5</c:v>
                </c:pt>
                <c:pt idx="70">
                  <c:v>117.5</c:v>
                </c:pt>
                <c:pt idx="71">
                  <c:v>108.5</c:v>
                </c:pt>
                <c:pt idx="72">
                  <c:v>110.3</c:v>
                </c:pt>
                <c:pt idx="73">
                  <c:v>108.6</c:v>
                </c:pt>
                <c:pt idx="74">
                  <c:v>106.8</c:v>
                </c:pt>
                <c:pt idx="75">
                  <c:v>110</c:v>
                </c:pt>
                <c:pt idx="76">
                  <c:v>111.7</c:v>
                </c:pt>
                <c:pt idx="77">
                  <c:v>114.7</c:v>
                </c:pt>
                <c:pt idx="78">
                  <c:v>136.2</c:v>
                </c:pt>
                <c:pt idx="79">
                  <c:v>136</c:v>
                </c:pt>
                <c:pt idx="80">
                  <c:v>118</c:v>
                </c:pt>
                <c:pt idx="81">
                  <c:v>113</c:v>
                </c:pt>
                <c:pt idx="82">
                  <c:v>107.4</c:v>
                </c:pt>
                <c:pt idx="83">
                  <c:v>101.9</c:v>
                </c:pt>
                <c:pt idx="84">
                  <c:v>100.3</c:v>
                </c:pt>
                <c:pt idx="85">
                  <c:v>97.5</c:v>
                </c:pt>
                <c:pt idx="86">
                  <c:v>96.5</c:v>
                </c:pt>
                <c:pt idx="87">
                  <c:v>92.8</c:v>
                </c:pt>
                <c:pt idx="88">
                  <c:v>89.1</c:v>
                </c:pt>
                <c:pt idx="89">
                  <c:v>85.5</c:v>
                </c:pt>
                <c:pt idx="90">
                  <c:v>83.2</c:v>
                </c:pt>
                <c:pt idx="91">
                  <c:v>80</c:v>
                </c:pt>
                <c:pt idx="92">
                  <c:v>80.2</c:v>
                </c:pt>
                <c:pt idx="93">
                  <c:v>76.6</c:v>
                </c:pt>
                <c:pt idx="94">
                  <c:v>75.1</c:v>
                </c:pt>
                <c:pt idx="95">
                  <c:v>74.1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Equal share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43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Sheet1!$A$2:$A$97</c:f>
              <c:multiLvlStrCache>
                <c:ptCount val="96"/>
                <c:lvl>
                  <c:pt idx="0">
                    <c:v>00:15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>02:15</c:v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>04:15</c:v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06:15</c:v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>08:15</c:v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>10:15</c:v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>12:15</c:v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>14:15</c:v>
                  </c:pt>
                  <c:pt idx="57">
                    <c:v/>
                  </c:pt>
                  <c:pt idx="58">
                    <c:v/>
                  </c:pt>
                  <c:pt idx="59">
                    <c:v/>
                  </c:pt>
                  <c:pt idx="60">
                    <c:v/>
                  </c:pt>
                  <c:pt idx="61">
                    <c:v/>
                  </c:pt>
                  <c:pt idx="62">
                    <c:v/>
                  </c:pt>
                  <c:pt idx="63">
                    <c:v/>
                  </c:pt>
                  <c:pt idx="64">
                    <c:v>16:15</c:v>
                  </c:pt>
                  <c:pt idx="65">
                    <c:v/>
                  </c:pt>
                  <c:pt idx="66">
                    <c:v/>
                  </c:pt>
                  <c:pt idx="67">
                    <c:v/>
                  </c:pt>
                  <c:pt idx="68">
                    <c:v/>
                  </c:pt>
                  <c:pt idx="69">
                    <c:v/>
                  </c:pt>
                  <c:pt idx="70">
                    <c:v/>
                  </c:pt>
                  <c:pt idx="71">
                    <c:v/>
                  </c:pt>
                  <c:pt idx="72">
                    <c:v>18:15</c:v>
                  </c:pt>
                  <c:pt idx="73">
                    <c:v/>
                  </c:pt>
                  <c:pt idx="74">
                    <c:v/>
                  </c:pt>
                  <c:pt idx="75">
                    <c:v/>
                  </c:pt>
                  <c:pt idx="76">
                    <c:v/>
                  </c:pt>
                  <c:pt idx="77">
                    <c:v/>
                  </c:pt>
                  <c:pt idx="78">
                    <c:v/>
                  </c:pt>
                  <c:pt idx="79">
                    <c:v/>
                  </c:pt>
                  <c:pt idx="80">
                    <c:v>20:15</c:v>
                  </c:pt>
                  <c:pt idx="81">
                    <c:v/>
                  </c:pt>
                  <c:pt idx="82">
                    <c:v/>
                  </c:pt>
                  <c:pt idx="83">
                    <c:v/>
                  </c:pt>
                  <c:pt idx="84">
                    <c:v/>
                  </c:pt>
                  <c:pt idx="85">
                    <c:v/>
                  </c:pt>
                  <c:pt idx="86">
                    <c:v/>
                  </c:pt>
                  <c:pt idx="87">
                    <c:v/>
                  </c:pt>
                  <c:pt idx="88">
                    <c:v>22:15</c:v>
                  </c:pt>
                  <c:pt idx="89">
                    <c:v/>
                  </c:pt>
                  <c:pt idx="90">
                    <c:v/>
                  </c:pt>
                  <c:pt idx="91">
                    <c:v/>
                  </c:pt>
                  <c:pt idx="92">
                    <c:v/>
                  </c:pt>
                  <c:pt idx="93">
                    <c:v/>
                  </c:pt>
                  <c:pt idx="94">
                    <c:v/>
                  </c:pt>
                  <c:pt idx="95">
                    <c:v/>
                  </c:pt>
                </c:lvl>
              </c:multiLvlStrCache>
            </c:multiLvlStrRef>
          </c:cat>
          <c:val>
            <c:numRef>
              <c:f>Sheet1!$C$2:$C$97</c:f>
              <c:numCache>
                <c:formatCode>General</c:formatCode>
                <c:ptCount val="96"/>
                <c:pt idx="0">
                  <c:v>70.8</c:v>
                </c:pt>
                <c:pt idx="1">
                  <c:v>71.3</c:v>
                </c:pt>
                <c:pt idx="2">
                  <c:v>71.9</c:v>
                </c:pt>
                <c:pt idx="3">
                  <c:v>70.6</c:v>
                </c:pt>
                <c:pt idx="4">
                  <c:v>66.9</c:v>
                </c:pt>
                <c:pt idx="5">
                  <c:v>65.3</c:v>
                </c:pt>
                <c:pt idx="6">
                  <c:v>63.1</c:v>
                </c:pt>
                <c:pt idx="7">
                  <c:v>62.1</c:v>
                </c:pt>
                <c:pt idx="8">
                  <c:v>62.1</c:v>
                </c:pt>
                <c:pt idx="9">
                  <c:v>62.2</c:v>
                </c:pt>
                <c:pt idx="10">
                  <c:v>62.1</c:v>
                </c:pt>
                <c:pt idx="11">
                  <c:v>62.1</c:v>
                </c:pt>
                <c:pt idx="12">
                  <c:v>62.9</c:v>
                </c:pt>
                <c:pt idx="13">
                  <c:v>62.8</c:v>
                </c:pt>
                <c:pt idx="14">
                  <c:v>63.8</c:v>
                </c:pt>
                <c:pt idx="15">
                  <c:v>63.4</c:v>
                </c:pt>
                <c:pt idx="16">
                  <c:v>63.8</c:v>
                </c:pt>
                <c:pt idx="17">
                  <c:v>64</c:v>
                </c:pt>
                <c:pt idx="18">
                  <c:v>62.8</c:v>
                </c:pt>
                <c:pt idx="19">
                  <c:v>62.7</c:v>
                </c:pt>
                <c:pt idx="20">
                  <c:v>62.2</c:v>
                </c:pt>
                <c:pt idx="21">
                  <c:v>63</c:v>
                </c:pt>
                <c:pt idx="22">
                  <c:v>64.7</c:v>
                </c:pt>
                <c:pt idx="23">
                  <c:v>67.4</c:v>
                </c:pt>
                <c:pt idx="24">
                  <c:v>67.3</c:v>
                </c:pt>
                <c:pt idx="25">
                  <c:v>69.3</c:v>
                </c:pt>
                <c:pt idx="26">
                  <c:v>69.5</c:v>
                </c:pt>
                <c:pt idx="27">
                  <c:v>69.2</c:v>
                </c:pt>
                <c:pt idx="28">
                  <c:v>71.9</c:v>
                </c:pt>
                <c:pt idx="29">
                  <c:v>73.8</c:v>
                </c:pt>
                <c:pt idx="30">
                  <c:v>77.5</c:v>
                </c:pt>
                <c:pt idx="31">
                  <c:v>93.1</c:v>
                </c:pt>
                <c:pt idx="32">
                  <c:v>104.5</c:v>
                </c:pt>
                <c:pt idx="33">
                  <c:v>115.4</c:v>
                </c:pt>
                <c:pt idx="34">
                  <c:v>121.8</c:v>
                </c:pt>
                <c:pt idx="35">
                  <c:v>140.2</c:v>
                </c:pt>
                <c:pt idx="36">
                  <c:v>149.9</c:v>
                </c:pt>
                <c:pt idx="37">
                  <c:v>160.1</c:v>
                </c:pt>
                <c:pt idx="38">
                  <c:v>171.3</c:v>
                </c:pt>
                <c:pt idx="39">
                  <c:v>180.5</c:v>
                </c:pt>
                <c:pt idx="40">
                  <c:v>180.1</c:v>
                </c:pt>
                <c:pt idx="41">
                  <c:v>179.3</c:v>
                </c:pt>
                <c:pt idx="42">
                  <c:v>177.4</c:v>
                </c:pt>
                <c:pt idx="43">
                  <c:v>173.7</c:v>
                </c:pt>
                <c:pt idx="44">
                  <c:v>178.4</c:v>
                </c:pt>
                <c:pt idx="45">
                  <c:v>176.9</c:v>
                </c:pt>
                <c:pt idx="46">
                  <c:v>166.5</c:v>
                </c:pt>
                <c:pt idx="47">
                  <c:v>158.7</c:v>
                </c:pt>
                <c:pt idx="48">
                  <c:v>153.9</c:v>
                </c:pt>
                <c:pt idx="49">
                  <c:v>147.5</c:v>
                </c:pt>
                <c:pt idx="50">
                  <c:v>146.2</c:v>
                </c:pt>
                <c:pt idx="51">
                  <c:v>146.9</c:v>
                </c:pt>
                <c:pt idx="52">
                  <c:v>146.3</c:v>
                </c:pt>
                <c:pt idx="53">
                  <c:v>150.7</c:v>
                </c:pt>
                <c:pt idx="54">
                  <c:v>150.1</c:v>
                </c:pt>
                <c:pt idx="55">
                  <c:v>149.5</c:v>
                </c:pt>
                <c:pt idx="56">
                  <c:v>146.7</c:v>
                </c:pt>
                <c:pt idx="57">
                  <c:v>139.3</c:v>
                </c:pt>
                <c:pt idx="58">
                  <c:v>136.4</c:v>
                </c:pt>
                <c:pt idx="59">
                  <c:v>135.9</c:v>
                </c:pt>
                <c:pt idx="60">
                  <c:v>134.8</c:v>
                </c:pt>
                <c:pt idx="61">
                  <c:v>128</c:v>
                </c:pt>
                <c:pt idx="62">
                  <c:v>125.6</c:v>
                </c:pt>
                <c:pt idx="63">
                  <c:v>121.6</c:v>
                </c:pt>
                <c:pt idx="64">
                  <c:v>174.7</c:v>
                </c:pt>
                <c:pt idx="65">
                  <c:v>163.4</c:v>
                </c:pt>
                <c:pt idx="66">
                  <c:v>169</c:v>
                </c:pt>
                <c:pt idx="67">
                  <c:v>159.9</c:v>
                </c:pt>
                <c:pt idx="68">
                  <c:v>141.5</c:v>
                </c:pt>
                <c:pt idx="69">
                  <c:v>127.5</c:v>
                </c:pt>
                <c:pt idx="70">
                  <c:v>117.5</c:v>
                </c:pt>
                <c:pt idx="71">
                  <c:v>108.5</c:v>
                </c:pt>
                <c:pt idx="72">
                  <c:v>110.3</c:v>
                </c:pt>
                <c:pt idx="73">
                  <c:v>108.6</c:v>
                </c:pt>
                <c:pt idx="74">
                  <c:v>106.8</c:v>
                </c:pt>
                <c:pt idx="75">
                  <c:v>110</c:v>
                </c:pt>
                <c:pt idx="76">
                  <c:v>111.7</c:v>
                </c:pt>
                <c:pt idx="77">
                  <c:v>114.2</c:v>
                </c:pt>
                <c:pt idx="78">
                  <c:v>135.9</c:v>
                </c:pt>
                <c:pt idx="79">
                  <c:v>135.3</c:v>
                </c:pt>
                <c:pt idx="80">
                  <c:v>117.2</c:v>
                </c:pt>
                <c:pt idx="81">
                  <c:v>112.7</c:v>
                </c:pt>
                <c:pt idx="82">
                  <c:v>107.4</c:v>
                </c:pt>
                <c:pt idx="83">
                  <c:v>101.7</c:v>
                </c:pt>
                <c:pt idx="84">
                  <c:v>100.3</c:v>
                </c:pt>
                <c:pt idx="85">
                  <c:v>97.5</c:v>
                </c:pt>
                <c:pt idx="86">
                  <c:v>96.4</c:v>
                </c:pt>
                <c:pt idx="87">
                  <c:v>92.8</c:v>
                </c:pt>
                <c:pt idx="88">
                  <c:v>89.1</c:v>
                </c:pt>
                <c:pt idx="89">
                  <c:v>85.4</c:v>
                </c:pt>
                <c:pt idx="90">
                  <c:v>83.1</c:v>
                </c:pt>
                <c:pt idx="91">
                  <c:v>79.9</c:v>
                </c:pt>
                <c:pt idx="92">
                  <c:v>80.2</c:v>
                </c:pt>
                <c:pt idx="93">
                  <c:v>76.6</c:v>
                </c:pt>
                <c:pt idx="94">
                  <c:v>75</c:v>
                </c:pt>
                <c:pt idx="95">
                  <c:v>74.1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Critical first</c:v>
                </c:pt>
              </c:strCache>
            </c:strRef>
          </c:tx>
          <c:spPr>
            <a:solidFill>
              <a:srgbClr val="EB6834"/>
            </a:solidFill>
            <a:ln w="25400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43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Sheet1!$A$2:$A$97</c:f>
              <c:multiLvlStrCache>
                <c:ptCount val="96"/>
                <c:lvl>
                  <c:pt idx="0">
                    <c:v>00:15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>02:15</c:v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>04:15</c:v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06:15</c:v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>08:15</c:v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>10:15</c:v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>12:15</c:v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>14:15</c:v>
                  </c:pt>
                  <c:pt idx="57">
                    <c:v/>
                  </c:pt>
                  <c:pt idx="58">
                    <c:v/>
                  </c:pt>
                  <c:pt idx="59">
                    <c:v/>
                  </c:pt>
                  <c:pt idx="60">
                    <c:v/>
                  </c:pt>
                  <c:pt idx="61">
                    <c:v/>
                  </c:pt>
                  <c:pt idx="62">
                    <c:v/>
                  </c:pt>
                  <c:pt idx="63">
                    <c:v/>
                  </c:pt>
                  <c:pt idx="64">
                    <c:v>16:15</c:v>
                  </c:pt>
                  <c:pt idx="65">
                    <c:v/>
                  </c:pt>
                  <c:pt idx="66">
                    <c:v/>
                  </c:pt>
                  <c:pt idx="67">
                    <c:v/>
                  </c:pt>
                  <c:pt idx="68">
                    <c:v/>
                  </c:pt>
                  <c:pt idx="69">
                    <c:v/>
                  </c:pt>
                  <c:pt idx="70">
                    <c:v/>
                  </c:pt>
                  <c:pt idx="71">
                    <c:v/>
                  </c:pt>
                  <c:pt idx="72">
                    <c:v>18:15</c:v>
                  </c:pt>
                  <c:pt idx="73">
                    <c:v/>
                  </c:pt>
                  <c:pt idx="74">
                    <c:v/>
                  </c:pt>
                  <c:pt idx="75">
                    <c:v/>
                  </c:pt>
                  <c:pt idx="76">
                    <c:v/>
                  </c:pt>
                  <c:pt idx="77">
                    <c:v/>
                  </c:pt>
                  <c:pt idx="78">
                    <c:v/>
                  </c:pt>
                  <c:pt idx="79">
                    <c:v/>
                  </c:pt>
                  <c:pt idx="80">
                    <c:v>20:15</c:v>
                  </c:pt>
                  <c:pt idx="81">
                    <c:v/>
                  </c:pt>
                  <c:pt idx="82">
                    <c:v/>
                  </c:pt>
                  <c:pt idx="83">
                    <c:v/>
                  </c:pt>
                  <c:pt idx="84">
                    <c:v/>
                  </c:pt>
                  <c:pt idx="85">
                    <c:v/>
                  </c:pt>
                  <c:pt idx="86">
                    <c:v/>
                  </c:pt>
                  <c:pt idx="87">
                    <c:v/>
                  </c:pt>
                  <c:pt idx="88">
                    <c:v>22:15</c:v>
                  </c:pt>
                  <c:pt idx="89">
                    <c:v/>
                  </c:pt>
                  <c:pt idx="90">
                    <c:v/>
                  </c:pt>
                  <c:pt idx="91">
                    <c:v/>
                  </c:pt>
                  <c:pt idx="92">
                    <c:v/>
                  </c:pt>
                  <c:pt idx="93">
                    <c:v/>
                  </c:pt>
                  <c:pt idx="94">
                    <c:v/>
                  </c:pt>
                  <c:pt idx="95">
                    <c:v/>
                  </c:pt>
                </c:lvl>
              </c:multiLvlStrCache>
            </c:multiLvlStrRef>
          </c:cat>
          <c:val>
            <c:numRef>
              <c:f>Sheet1!$D$2:$D$97</c:f>
              <c:numCache>
                <c:formatCode>General</c:formatCode>
                <c:ptCount val="96"/>
                <c:pt idx="0">
                  <c:v>70.8</c:v>
                </c:pt>
                <c:pt idx="1">
                  <c:v>71.3</c:v>
                </c:pt>
                <c:pt idx="2">
                  <c:v>71.9</c:v>
                </c:pt>
                <c:pt idx="3">
                  <c:v>70.6</c:v>
                </c:pt>
                <c:pt idx="4">
                  <c:v>66.9</c:v>
                </c:pt>
                <c:pt idx="5">
                  <c:v>65.3</c:v>
                </c:pt>
                <c:pt idx="6">
                  <c:v>63.1</c:v>
                </c:pt>
                <c:pt idx="7">
                  <c:v>62.1</c:v>
                </c:pt>
                <c:pt idx="8">
                  <c:v>62.1</c:v>
                </c:pt>
                <c:pt idx="9">
                  <c:v>62.2</c:v>
                </c:pt>
                <c:pt idx="10">
                  <c:v>62.1</c:v>
                </c:pt>
                <c:pt idx="11">
                  <c:v>62.1</c:v>
                </c:pt>
                <c:pt idx="12">
                  <c:v>62.9</c:v>
                </c:pt>
                <c:pt idx="13">
                  <c:v>62.8</c:v>
                </c:pt>
                <c:pt idx="14">
                  <c:v>63.8</c:v>
                </c:pt>
                <c:pt idx="15">
                  <c:v>63.4</c:v>
                </c:pt>
                <c:pt idx="16">
                  <c:v>63.8</c:v>
                </c:pt>
                <c:pt idx="17">
                  <c:v>64</c:v>
                </c:pt>
                <c:pt idx="18">
                  <c:v>62.8</c:v>
                </c:pt>
                <c:pt idx="19">
                  <c:v>62.7</c:v>
                </c:pt>
                <c:pt idx="20">
                  <c:v>62.2</c:v>
                </c:pt>
                <c:pt idx="21">
                  <c:v>63</c:v>
                </c:pt>
                <c:pt idx="22">
                  <c:v>64.7</c:v>
                </c:pt>
                <c:pt idx="23">
                  <c:v>67.4</c:v>
                </c:pt>
                <c:pt idx="24">
                  <c:v>67.3</c:v>
                </c:pt>
                <c:pt idx="25">
                  <c:v>69.3</c:v>
                </c:pt>
                <c:pt idx="26">
                  <c:v>69.5</c:v>
                </c:pt>
                <c:pt idx="27">
                  <c:v>69.2</c:v>
                </c:pt>
                <c:pt idx="28">
                  <c:v>71.9</c:v>
                </c:pt>
                <c:pt idx="29">
                  <c:v>73.8</c:v>
                </c:pt>
                <c:pt idx="30">
                  <c:v>77.5</c:v>
                </c:pt>
                <c:pt idx="31">
                  <c:v>93.1</c:v>
                </c:pt>
                <c:pt idx="32">
                  <c:v>104.5</c:v>
                </c:pt>
                <c:pt idx="33">
                  <c:v>115.4</c:v>
                </c:pt>
                <c:pt idx="34">
                  <c:v>121.8</c:v>
                </c:pt>
                <c:pt idx="35">
                  <c:v>140.2</c:v>
                </c:pt>
                <c:pt idx="36">
                  <c:v>149.9</c:v>
                </c:pt>
                <c:pt idx="37">
                  <c:v>160.1</c:v>
                </c:pt>
                <c:pt idx="38">
                  <c:v>171.3</c:v>
                </c:pt>
                <c:pt idx="39">
                  <c:v>180.5</c:v>
                </c:pt>
                <c:pt idx="40">
                  <c:v>180.1</c:v>
                </c:pt>
                <c:pt idx="41">
                  <c:v>179.3</c:v>
                </c:pt>
                <c:pt idx="42">
                  <c:v>177.4</c:v>
                </c:pt>
                <c:pt idx="43">
                  <c:v>173.7</c:v>
                </c:pt>
                <c:pt idx="44">
                  <c:v>178.4</c:v>
                </c:pt>
                <c:pt idx="45">
                  <c:v>174.6</c:v>
                </c:pt>
                <c:pt idx="46">
                  <c:v>176.7</c:v>
                </c:pt>
                <c:pt idx="47">
                  <c:v>171.8</c:v>
                </c:pt>
                <c:pt idx="48">
                  <c:v>169</c:v>
                </c:pt>
                <c:pt idx="49">
                  <c:v>161</c:v>
                </c:pt>
                <c:pt idx="50">
                  <c:v>158.4</c:v>
                </c:pt>
                <c:pt idx="51">
                  <c:v>155.6</c:v>
                </c:pt>
                <c:pt idx="52">
                  <c:v>154.8</c:v>
                </c:pt>
                <c:pt idx="53">
                  <c:v>155.6</c:v>
                </c:pt>
                <c:pt idx="54">
                  <c:v>159.9</c:v>
                </c:pt>
                <c:pt idx="55">
                  <c:v>165.8</c:v>
                </c:pt>
                <c:pt idx="56">
                  <c:v>170.9</c:v>
                </c:pt>
                <c:pt idx="57">
                  <c:v>168.1</c:v>
                </c:pt>
                <c:pt idx="58">
                  <c:v>165.4</c:v>
                </c:pt>
                <c:pt idx="59">
                  <c:v>168.8</c:v>
                </c:pt>
                <c:pt idx="60">
                  <c:v>173.2</c:v>
                </c:pt>
                <c:pt idx="61">
                  <c:v>163.2</c:v>
                </c:pt>
                <c:pt idx="62">
                  <c:v>153.4</c:v>
                </c:pt>
                <c:pt idx="63">
                  <c:v>136.6</c:v>
                </c:pt>
                <c:pt idx="64">
                  <c:v>172.4</c:v>
                </c:pt>
                <c:pt idx="65">
                  <c:v>163.4</c:v>
                </c:pt>
                <c:pt idx="66">
                  <c:v>168.1</c:v>
                </c:pt>
                <c:pt idx="67">
                  <c:v>153</c:v>
                </c:pt>
                <c:pt idx="68">
                  <c:v>140.5</c:v>
                </c:pt>
                <c:pt idx="69">
                  <c:v>126.7</c:v>
                </c:pt>
                <c:pt idx="70">
                  <c:v>117.5</c:v>
                </c:pt>
                <c:pt idx="71">
                  <c:v>108.5</c:v>
                </c:pt>
                <c:pt idx="72">
                  <c:v>110.3</c:v>
                </c:pt>
                <c:pt idx="73">
                  <c:v>106.7</c:v>
                </c:pt>
                <c:pt idx="74">
                  <c:v>106.8</c:v>
                </c:pt>
                <c:pt idx="75">
                  <c:v>107</c:v>
                </c:pt>
                <c:pt idx="76">
                  <c:v>108</c:v>
                </c:pt>
                <c:pt idx="77">
                  <c:v>114.7</c:v>
                </c:pt>
                <c:pt idx="78">
                  <c:v>136.2</c:v>
                </c:pt>
                <c:pt idx="79">
                  <c:v>136</c:v>
                </c:pt>
                <c:pt idx="80">
                  <c:v>117.9</c:v>
                </c:pt>
                <c:pt idx="81">
                  <c:v>112.9</c:v>
                </c:pt>
                <c:pt idx="82">
                  <c:v>107.4</c:v>
                </c:pt>
                <c:pt idx="83">
                  <c:v>101.9</c:v>
                </c:pt>
                <c:pt idx="84">
                  <c:v>100.3</c:v>
                </c:pt>
                <c:pt idx="85">
                  <c:v>97.5</c:v>
                </c:pt>
                <c:pt idx="86">
                  <c:v>96.4</c:v>
                </c:pt>
                <c:pt idx="87">
                  <c:v>92.8</c:v>
                </c:pt>
                <c:pt idx="88">
                  <c:v>89.1</c:v>
                </c:pt>
                <c:pt idx="89">
                  <c:v>85.4</c:v>
                </c:pt>
                <c:pt idx="90">
                  <c:v>83.1</c:v>
                </c:pt>
                <c:pt idx="91">
                  <c:v>79.9</c:v>
                </c:pt>
                <c:pt idx="92">
                  <c:v>80.2</c:v>
                </c:pt>
                <c:pt idx="93">
                  <c:v>76.6</c:v>
                </c:pt>
                <c:pt idx="94">
                  <c:v>75</c:v>
                </c:pt>
                <c:pt idx="95">
                  <c:v>74.1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GridWeave</c:v>
                </c:pt>
              </c:strCache>
            </c:strRef>
          </c:tx>
          <c:spPr>
            <a:solidFill>
              <a:srgbClr val="1BAF7A"/>
            </a:solidFill>
            <a:ln w="25400" cap="flat">
              <a:solidFill>
                <a:srgbClr val="1BAF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43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BAF7A"/>
              </a:solidFill>
              <a:ln w="9525" cap="flat">
                <a:solidFill>
                  <a:srgbClr val="1BAF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Sheet1!$A$2:$A$97</c:f>
              <c:multiLvlStrCache>
                <c:ptCount val="96"/>
                <c:lvl>
                  <c:pt idx="0">
                    <c:v>00:15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>02:15</c:v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>04:15</c:v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06:15</c:v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>08:15</c:v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>10:15</c:v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>12:15</c:v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>14:15</c:v>
                  </c:pt>
                  <c:pt idx="57">
                    <c:v/>
                  </c:pt>
                  <c:pt idx="58">
                    <c:v/>
                  </c:pt>
                  <c:pt idx="59">
                    <c:v/>
                  </c:pt>
                  <c:pt idx="60">
                    <c:v/>
                  </c:pt>
                  <c:pt idx="61">
                    <c:v/>
                  </c:pt>
                  <c:pt idx="62">
                    <c:v/>
                  </c:pt>
                  <c:pt idx="63">
                    <c:v/>
                  </c:pt>
                  <c:pt idx="64">
                    <c:v>16:15</c:v>
                  </c:pt>
                  <c:pt idx="65">
                    <c:v/>
                  </c:pt>
                  <c:pt idx="66">
                    <c:v/>
                  </c:pt>
                  <c:pt idx="67">
                    <c:v/>
                  </c:pt>
                  <c:pt idx="68">
                    <c:v/>
                  </c:pt>
                  <c:pt idx="69">
                    <c:v/>
                  </c:pt>
                  <c:pt idx="70">
                    <c:v/>
                  </c:pt>
                  <c:pt idx="71">
                    <c:v/>
                  </c:pt>
                  <c:pt idx="72">
                    <c:v>18:15</c:v>
                  </c:pt>
                  <c:pt idx="73">
                    <c:v/>
                  </c:pt>
                  <c:pt idx="74">
                    <c:v/>
                  </c:pt>
                  <c:pt idx="75">
                    <c:v/>
                  </c:pt>
                  <c:pt idx="76">
                    <c:v/>
                  </c:pt>
                  <c:pt idx="77">
                    <c:v/>
                  </c:pt>
                  <c:pt idx="78">
                    <c:v/>
                  </c:pt>
                  <c:pt idx="79">
                    <c:v/>
                  </c:pt>
                  <c:pt idx="80">
                    <c:v>20:15</c:v>
                  </c:pt>
                  <c:pt idx="81">
                    <c:v/>
                  </c:pt>
                  <c:pt idx="82">
                    <c:v/>
                  </c:pt>
                  <c:pt idx="83">
                    <c:v/>
                  </c:pt>
                  <c:pt idx="84">
                    <c:v/>
                  </c:pt>
                  <c:pt idx="85">
                    <c:v/>
                  </c:pt>
                  <c:pt idx="86">
                    <c:v/>
                  </c:pt>
                  <c:pt idx="87">
                    <c:v/>
                  </c:pt>
                  <c:pt idx="88">
                    <c:v>22:15</c:v>
                  </c:pt>
                  <c:pt idx="89">
                    <c:v/>
                  </c:pt>
                  <c:pt idx="90">
                    <c:v/>
                  </c:pt>
                  <c:pt idx="91">
                    <c:v/>
                  </c:pt>
                  <c:pt idx="92">
                    <c:v/>
                  </c:pt>
                  <c:pt idx="93">
                    <c:v/>
                  </c:pt>
                  <c:pt idx="94">
                    <c:v/>
                  </c:pt>
                  <c:pt idx="95">
                    <c:v/>
                  </c:pt>
                </c:lvl>
              </c:multiLvlStrCache>
            </c:multiLvlStrRef>
          </c:cat>
          <c:val>
            <c:numRef>
              <c:f>Sheet1!$E$2:$E$97</c:f>
              <c:numCache>
                <c:formatCode>General</c:formatCode>
                <c:ptCount val="96"/>
                <c:pt idx="0">
                  <c:v>70.8</c:v>
                </c:pt>
                <c:pt idx="1">
                  <c:v>71.3</c:v>
                </c:pt>
                <c:pt idx="2">
                  <c:v>71.9</c:v>
                </c:pt>
                <c:pt idx="3">
                  <c:v>70.6</c:v>
                </c:pt>
                <c:pt idx="4">
                  <c:v>66.9</c:v>
                </c:pt>
                <c:pt idx="5">
                  <c:v>65.3</c:v>
                </c:pt>
                <c:pt idx="6">
                  <c:v>63.1</c:v>
                </c:pt>
                <c:pt idx="7">
                  <c:v>62.1</c:v>
                </c:pt>
                <c:pt idx="8">
                  <c:v>62.1</c:v>
                </c:pt>
                <c:pt idx="9">
                  <c:v>62.2</c:v>
                </c:pt>
                <c:pt idx="10">
                  <c:v>62.1</c:v>
                </c:pt>
                <c:pt idx="11">
                  <c:v>62.1</c:v>
                </c:pt>
                <c:pt idx="12">
                  <c:v>62.9</c:v>
                </c:pt>
                <c:pt idx="13">
                  <c:v>62.8</c:v>
                </c:pt>
                <c:pt idx="14">
                  <c:v>63.8</c:v>
                </c:pt>
                <c:pt idx="15">
                  <c:v>63.4</c:v>
                </c:pt>
                <c:pt idx="16">
                  <c:v>63.8</c:v>
                </c:pt>
                <c:pt idx="17">
                  <c:v>64</c:v>
                </c:pt>
                <c:pt idx="18">
                  <c:v>62.8</c:v>
                </c:pt>
                <c:pt idx="19">
                  <c:v>62.7</c:v>
                </c:pt>
                <c:pt idx="20">
                  <c:v>62.2</c:v>
                </c:pt>
                <c:pt idx="21">
                  <c:v>63</c:v>
                </c:pt>
                <c:pt idx="22">
                  <c:v>64.7</c:v>
                </c:pt>
                <c:pt idx="23">
                  <c:v>67.4</c:v>
                </c:pt>
                <c:pt idx="24">
                  <c:v>67.3</c:v>
                </c:pt>
                <c:pt idx="25">
                  <c:v>69.3</c:v>
                </c:pt>
                <c:pt idx="26">
                  <c:v>69.5</c:v>
                </c:pt>
                <c:pt idx="27">
                  <c:v>69.2</c:v>
                </c:pt>
                <c:pt idx="28">
                  <c:v>71.9</c:v>
                </c:pt>
                <c:pt idx="29">
                  <c:v>73.8</c:v>
                </c:pt>
                <c:pt idx="30">
                  <c:v>77.5</c:v>
                </c:pt>
                <c:pt idx="31">
                  <c:v>93.1</c:v>
                </c:pt>
                <c:pt idx="32">
                  <c:v>104.5</c:v>
                </c:pt>
                <c:pt idx="33">
                  <c:v>115.4</c:v>
                </c:pt>
                <c:pt idx="34">
                  <c:v>121.8</c:v>
                </c:pt>
                <c:pt idx="35">
                  <c:v>140.2</c:v>
                </c:pt>
                <c:pt idx="36">
                  <c:v>149.9</c:v>
                </c:pt>
                <c:pt idx="37">
                  <c:v>160.1</c:v>
                </c:pt>
                <c:pt idx="38">
                  <c:v>171.3</c:v>
                </c:pt>
                <c:pt idx="39">
                  <c:v>180.5</c:v>
                </c:pt>
                <c:pt idx="40">
                  <c:v>180.1</c:v>
                </c:pt>
                <c:pt idx="41">
                  <c:v>179.3</c:v>
                </c:pt>
                <c:pt idx="42">
                  <c:v>177.4</c:v>
                </c:pt>
                <c:pt idx="43">
                  <c:v>173.7</c:v>
                </c:pt>
                <c:pt idx="44">
                  <c:v>178.4</c:v>
                </c:pt>
                <c:pt idx="45">
                  <c:v>174.6</c:v>
                </c:pt>
                <c:pt idx="46">
                  <c:v>176.7</c:v>
                </c:pt>
                <c:pt idx="47">
                  <c:v>171.8</c:v>
                </c:pt>
                <c:pt idx="48">
                  <c:v>169</c:v>
                </c:pt>
                <c:pt idx="49">
                  <c:v>160.9</c:v>
                </c:pt>
                <c:pt idx="50">
                  <c:v>158.4</c:v>
                </c:pt>
                <c:pt idx="51">
                  <c:v>156.3</c:v>
                </c:pt>
                <c:pt idx="52">
                  <c:v>154.8</c:v>
                </c:pt>
                <c:pt idx="53">
                  <c:v>152.2</c:v>
                </c:pt>
                <c:pt idx="54">
                  <c:v>163.7</c:v>
                </c:pt>
                <c:pt idx="55">
                  <c:v>167</c:v>
                </c:pt>
                <c:pt idx="56">
                  <c:v>170.9</c:v>
                </c:pt>
                <c:pt idx="57">
                  <c:v>167</c:v>
                </c:pt>
                <c:pt idx="58">
                  <c:v>165.4</c:v>
                </c:pt>
                <c:pt idx="59">
                  <c:v>168.8</c:v>
                </c:pt>
                <c:pt idx="60">
                  <c:v>173.2</c:v>
                </c:pt>
                <c:pt idx="61">
                  <c:v>163.2</c:v>
                </c:pt>
                <c:pt idx="62">
                  <c:v>153.4</c:v>
                </c:pt>
                <c:pt idx="63">
                  <c:v>136.6</c:v>
                </c:pt>
                <c:pt idx="64">
                  <c:v>172.4</c:v>
                </c:pt>
                <c:pt idx="65">
                  <c:v>163.4</c:v>
                </c:pt>
                <c:pt idx="66">
                  <c:v>164.4</c:v>
                </c:pt>
                <c:pt idx="67">
                  <c:v>159.9</c:v>
                </c:pt>
                <c:pt idx="68">
                  <c:v>138.3</c:v>
                </c:pt>
                <c:pt idx="69">
                  <c:v>127.5</c:v>
                </c:pt>
                <c:pt idx="70">
                  <c:v>115.8</c:v>
                </c:pt>
                <c:pt idx="71">
                  <c:v>108.5</c:v>
                </c:pt>
                <c:pt idx="72">
                  <c:v>110.3</c:v>
                </c:pt>
                <c:pt idx="73">
                  <c:v>108.6</c:v>
                </c:pt>
                <c:pt idx="74">
                  <c:v>104.4</c:v>
                </c:pt>
                <c:pt idx="75">
                  <c:v>110</c:v>
                </c:pt>
                <c:pt idx="76">
                  <c:v>111.7</c:v>
                </c:pt>
                <c:pt idx="77">
                  <c:v>114.3</c:v>
                </c:pt>
                <c:pt idx="78">
                  <c:v>136.2</c:v>
                </c:pt>
                <c:pt idx="79">
                  <c:v>136</c:v>
                </c:pt>
                <c:pt idx="80">
                  <c:v>117.9</c:v>
                </c:pt>
                <c:pt idx="81">
                  <c:v>112.9</c:v>
                </c:pt>
                <c:pt idx="82">
                  <c:v>107.4</c:v>
                </c:pt>
                <c:pt idx="83">
                  <c:v>101.9</c:v>
                </c:pt>
                <c:pt idx="84">
                  <c:v>100.3</c:v>
                </c:pt>
                <c:pt idx="85">
                  <c:v>97.5</c:v>
                </c:pt>
                <c:pt idx="86">
                  <c:v>96.4</c:v>
                </c:pt>
                <c:pt idx="87">
                  <c:v>92.8</c:v>
                </c:pt>
                <c:pt idx="88">
                  <c:v>89.1</c:v>
                </c:pt>
                <c:pt idx="89">
                  <c:v>85.4</c:v>
                </c:pt>
                <c:pt idx="90">
                  <c:v>83.1</c:v>
                </c:pt>
                <c:pt idx="91">
                  <c:v>79.9</c:v>
                </c:pt>
                <c:pt idx="92">
                  <c:v>80.2</c:v>
                </c:pt>
                <c:pt idx="93">
                  <c:v>76.6</c:v>
                </c:pt>
                <c:pt idx="94">
                  <c:v>75</c:v>
                </c:pt>
                <c:pt idx="95">
                  <c:v>74.1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B243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67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9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67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1B2430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2263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2263A"/>
                </a:solidFill>
                <a:latin typeface="Calibri"/>
              </a:rPr>
              <a:t>581 tests by workstream (all passing)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Tests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4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P1 buildings + contracts</c:v>
                  </c:pt>
                  <c:pt idx="1">
                    <c:v>P4 coordination</c:v>
                  </c:pt>
                  <c:pt idx="2">
                    <c:v>P3 supply</c:v>
                  </c:pt>
                  <c:pt idx="3">
                    <c:v>P2 market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317</c:v>
                </c:pt>
                <c:pt idx="1">
                  <c:v>164</c:v>
                </c:pt>
                <c:pt idx="2">
                  <c:v>70</c:v>
                </c:pt>
                <c:pt idx="3">
                  <c:v>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B24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67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6350" cap="flat">
              <a:solidFill>
                <a:srgbClr val="E6E9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67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2263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2263A"/>
                </a:solidFill>
                <a:latin typeface="Calibri"/>
              </a:rPr>
              <a:t>Critical load NOT served (kWh) — lower is better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Equal share (baseline)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4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Daytime grid outage</c:v>
                  </c:pt>
                  <c:pt idx="1">
                    <c:v>Cloud + outage + price spike</c:v>
                  </c:pt>
                  <c:pt idx="2">
                    <c:v>Supply ≈ half of demand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112.5</c:v>
                </c:pt>
                <c:pt idx="1">
                  <c:v>160.9</c:v>
                </c:pt>
                <c:pt idx="2">
                  <c:v>386.9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Critical first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4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Daytime grid outage</c:v>
                  </c:pt>
                  <c:pt idx="1">
                    <c:v>Cloud + outage + price spike</c:v>
                  </c:pt>
                  <c:pt idx="2">
                    <c:v>Supply ≈ half of demand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31.7</c:v>
                </c:pt>
                <c:pt idx="1">
                  <c:v>54.7</c:v>
                </c:pt>
                <c:pt idx="2">
                  <c:v>53.7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GridWeave (full)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4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Daytime grid outage</c:v>
                  </c:pt>
                  <c:pt idx="1">
                    <c:v>Cloud + outage + price spike</c:v>
                  </c:pt>
                  <c:pt idx="2">
                    <c:v>Supply ≈ half of demand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29.9</c:v>
                </c:pt>
                <c:pt idx="1">
                  <c:v>51.5</c:v>
                </c:pt>
                <c:pt idx="2">
                  <c:v>46.8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1B24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67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9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67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1B2430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2263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2263A"/>
                </a:solidFill>
                <a:latin typeface="Calibri"/>
              </a:rPr>
              <a:t>As the grid shrinks (kWh/day unserved, 3 seeds)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Equal share (baseline)</c:v>
                </c:pt>
              </c:strCache>
            </c:strRef>
          </c:tx>
          <c:spPr>
            <a:solidFill>
              <a:srgbClr val="2A78D6"/>
            </a:solidFill>
            <a:ln w="3175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43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250 kW</c:v>
                  </c:pt>
                  <c:pt idx="1">
                    <c:v>200 kW</c:v>
                  </c:pt>
                  <c:pt idx="2">
                    <c:v>150 kW</c:v>
                  </c:pt>
                  <c:pt idx="3">
                    <c:v>100 kW</c:v>
                  </c:pt>
                  <c:pt idx="4">
                    <c:v>50 kW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1.2</c:v>
                </c:pt>
                <c:pt idx="1">
                  <c:v>15.2</c:v>
                </c:pt>
                <c:pt idx="2">
                  <c:v>80.6</c:v>
                </c:pt>
                <c:pt idx="3">
                  <c:v>223.9</c:v>
                </c:pt>
                <c:pt idx="4">
                  <c:v>624.9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Critical first</c:v>
                </c:pt>
              </c:strCache>
            </c:strRef>
          </c:tx>
          <c:spPr>
            <a:solidFill>
              <a:srgbClr val="EB6834"/>
            </a:solidFill>
            <a:ln w="31750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43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250 kW</c:v>
                  </c:pt>
                  <c:pt idx="1">
                    <c:v>200 kW</c:v>
                  </c:pt>
                  <c:pt idx="2">
                    <c:v>150 kW</c:v>
                  </c:pt>
                  <c:pt idx="3">
                    <c:v>100 kW</c:v>
                  </c:pt>
                  <c:pt idx="4">
                    <c:v>50 kW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4.5</c:v>
                </c:pt>
                <c:pt idx="1">
                  <c:v>9.1</c:v>
                </c:pt>
                <c:pt idx="2">
                  <c:v>18.6</c:v>
                </c:pt>
                <c:pt idx="3">
                  <c:v>73.2</c:v>
                </c:pt>
                <c:pt idx="4">
                  <c:v>492.1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GridWeave (full)</c:v>
                </c:pt>
              </c:strCache>
            </c:strRef>
          </c:tx>
          <c:spPr>
            <a:solidFill>
              <a:srgbClr val="1BAF7A"/>
            </a:solidFill>
            <a:ln w="31750" cap="flat">
              <a:solidFill>
                <a:srgbClr val="1BAF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43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BAF7A"/>
              </a:solidFill>
              <a:ln w="9525" cap="flat">
                <a:solidFill>
                  <a:srgbClr val="1BAF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250 kW</c:v>
                  </c:pt>
                  <c:pt idx="1">
                    <c:v>200 kW</c:v>
                  </c:pt>
                  <c:pt idx="2">
                    <c:v>150 kW</c:v>
                  </c:pt>
                  <c:pt idx="3">
                    <c:v>100 kW</c:v>
                  </c:pt>
                  <c:pt idx="4">
                    <c:v>50 kW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2.6</c:v>
                </c:pt>
                <c:pt idx="1">
                  <c:v>6.6</c:v>
                </c:pt>
                <c:pt idx="2">
                  <c:v>16.3</c:v>
                </c:pt>
                <c:pt idx="3">
                  <c:v>71</c:v>
                </c:pt>
                <c:pt idx="4">
                  <c:v>483.5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B243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67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9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67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1B2430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2263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2263A"/>
                </a:solidFill>
                <a:latin typeface="Calibri"/>
              </a:rPr>
              <a:t>Full system (all four workstreams): ms per simulated slot vs buildings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ms per 15-min slot</c:v>
                </c:pt>
              </c:strCache>
            </c:strRef>
          </c:tx>
          <c:spPr>
            <a:solidFill>
              <a:srgbClr val="2A78D6"/>
            </a:solidFill>
            <a:ln w="38100" cap="flat">
              <a:solidFill>
                <a:srgbClr val="2A78D6"/>
              </a:solidFill>
              <a:prstDash val="solid"/>
              <a:round/>
            </a:ln>
            <a:effectLst/>
          </c:spPr>
          <c:marker>
            <c:symbol val="circle"/>
            <c:size val="9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5</c:v>
                </c:pt>
                <c:pt idx="1">
                  <c:v>10</c:v>
                </c:pt>
                <c:pt idx="2">
                  <c:v>25</c:v>
                </c:pt>
                <c:pt idx="3">
                  <c:v>50</c:v>
                </c:pt>
                <c:pt idx="4">
                  <c:v>100</c:v>
                </c:pt>
              </c:numCache>
            </c:numRef>
          </c:xVal>
          <c:yVal>
            <c:numRef>
              <c:f>Sheet1!$B$2:$B$6</c:f>
              <c:numCache>
                <c:formatCode>General</c:formatCode>
                <c:ptCount val="5"/>
                <c:pt idx="0">
                  <c:v>1.8</c:v>
                </c:pt>
                <c:pt idx="1">
                  <c:v>3.3</c:v>
                </c:pt>
                <c:pt idx="2">
                  <c:v>12.6</c:v>
                </c:pt>
                <c:pt idx="3">
                  <c:v>25.2</c:v>
                </c:pt>
                <c:pt idx="4">
                  <c:v>52</c:v>
                </c:pt>
              </c:numCache>
            </c:numRef>
          </c:yVal>
          <c:smooth val="0"/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1B2430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00"/>
          <c:min val="0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675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5B6675"/>
                    </a:solidFill>
                    <a:latin typeface="Arial"/>
                  </a:rPr>
                  <a:t>building agents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67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9EE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675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5B6675"/>
                    </a:solidFill>
                    <a:latin typeface="Arial"/>
                  </a:rPr>
                  <a:t>ms per slot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67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2 covers how we built it, how the agents run together, how we tested it, and how it scales.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Deliberately small toolset. The learned forecaster is a small regression implemented directly, so no ML framework is needed and no LLM is used anywhere; every number comes from deterministic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install commands. Emphasise reproducibility: the same seed always gives the same result, and model choices were validated on held-out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the actual message types in the code. The coordinator validates every clearing (one allocation per bid, total within supply) and every dispatch before applying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Protocols make the multi-agent system modular. Robustness: a failure in one agent never leaves another stuck, and it is always reported.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real simulation output. The black line is the campus's critical need; each coloured line is how much each mode actually served.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Run: python scripts/run_campus_simulation.py --scenario grid_outage --web and open localhost:8050. Follow the five steps on the right.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scenario's event is checked by a test to have a measurable effect compared with the same days without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 tests check every component; integration tests check the whole loop; claim tests prove each statement in the design document.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three stress scenarios. Right: a supply sweep, averaged over three seeds. The gap between the baseline and GridWeave widens as supply becomes scarcer.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dependency direction is one-way: every workstream depends on the shared models and protocols, never on each 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half a millisecond per building per slot. A full day for 100 buildings simulates in about 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Move to the live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5544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GridWeave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69748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Implementation, Execution &amp; Evaluation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5661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&amp; Setup  ·  Multi-Agent Execution  ·  Demo &amp; Testing  ·  Code Structure &amp; Scalability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7607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FC3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Shantharam P   ·   Gauri Nandana S Pai   ·   Akshitha   ·   akolla646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0332720" y="1097280"/>
            <a:ext cx="1097280" cy="109728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96067" y="1360627"/>
            <a:ext cx="570586" cy="57058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 &amp; Package Selection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372600" y="411480"/>
            <a:ext cx="2286000" cy="457200"/>
          </a:xfrm>
          <a:prstGeom prst="roundRect">
            <a:avLst>
              <a:gd name="adj" fmla="val 50000"/>
            </a:avLst>
          </a:prstGeom>
          <a:solidFill>
            <a:srgbClr val="FDF1DC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72600" y="4114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&amp; Setup · 3M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for reproducibility, zero setup friction, and verifiability</a:t>
            </a:r>
            <a:endParaRPr lang="en-US" sz="1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109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063240"/>
                <a:gridCol w="530352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Used for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this choice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3.10+ (standard library)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agents, market, supply, coordinator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 runtime dependencies; deterministic and seeded; runs anywhere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dataclasses + typing.Protocol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Messages and agent contracts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Immutable, self-validating messages; any agent swappable behind a protocol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Pure-Python ridge regression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Learned demand forecaster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features — no heavy ML framework needed; fully inspectable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pytest · pytest-cov · ruff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581 tests, coverage, linting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Industry-standard; one command to verify everything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Actions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 on every push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Tests + lint on Python 3.10, 3.11, 3.12 and 3.13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http.server + Chart.js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Interactive web dashboard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web framework or build step; opens in any browser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matplotlib (optional)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 figures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for evidence plots; core stays dependency-free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 &amp; Reproducibility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372600" y="411480"/>
            <a:ext cx="2286000" cy="457200"/>
          </a:xfrm>
          <a:prstGeom prst="roundRect">
            <a:avLst>
              <a:gd name="adj" fmla="val 50000"/>
            </a:avLst>
          </a:prstGeom>
          <a:solidFill>
            <a:srgbClr val="FDF1DC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72600" y="4114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&amp; Setup · 3M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clone to running dashboard in four commands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6400800" cy="2834640"/>
          </a:xfrm>
          <a:prstGeom prst="roundRect">
            <a:avLst>
              <a:gd name="adj" fmla="val 3871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45920"/>
            <a:ext cx="60350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https://github.com/Shan713/GridWeave.git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GridWeave &amp;&amp; python -m venv .venv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.venv/bin/pip install -e ".[dev,viz]"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.venv/bin/python scripts/run_campus_simulation.py \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--scenario grid_outage --web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315200" y="15087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7315200" y="222199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dependencies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9509760" y="150876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800" dirty="0"/>
          </a:p>
        </p:txBody>
      </p:sp>
      <p:sp>
        <p:nvSpPr>
          <p:cNvPr id="11" name="Text 9"/>
          <p:cNvSpPr txBox="1"/>
          <p:nvPr/>
        </p:nvSpPr>
        <p:spPr>
          <a:xfrm>
            <a:off x="9509760" y="2221992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versions tested in CI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315200" y="292608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581</a:t>
            </a:r>
            <a:endParaRPr lang="en-US" sz="38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0" y="363931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9509760" y="292608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509760" y="3639312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seeded runs — same seed, same result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572000"/>
            <a:ext cx="3611880" cy="1645920"/>
          </a:xfrm>
          <a:prstGeom prst="roundRect">
            <a:avLst>
              <a:gd name="adj" fmla="val 6667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9808" y="4773168"/>
            <a:ext cx="530352" cy="53035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092" y="4900452"/>
            <a:ext cx="275783" cy="275783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417320" y="477316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Seeded everything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77240" y="54406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Demand, noise and events come from fixed seeds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4297680" y="4572000"/>
            <a:ext cx="3611880" cy="1645920"/>
          </a:xfrm>
          <a:prstGeom prst="roundRect">
            <a:avLst>
              <a:gd name="adj" fmla="val 6667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498848" y="4773168"/>
            <a:ext cx="530352" cy="53035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6132" y="4900452"/>
            <a:ext cx="275783" cy="275783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5166360" y="477316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evaluation</a:t>
            </a:r>
            <a:endParaRPr lang="en-US" sz="1400" dirty="0"/>
          </a:p>
        </p:txBody>
      </p:sp>
      <p:sp>
        <p:nvSpPr>
          <p:cNvPr id="25" name="Text 21"/>
          <p:cNvSpPr txBox="1"/>
          <p:nvPr/>
        </p:nvSpPr>
        <p:spPr>
          <a:xfrm>
            <a:off x="4526280" y="54406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chosen on one set of seeds, reported on unseen seeds</a:t>
            </a:r>
            <a:endParaRPr lang="en-US" sz="1250" dirty="0"/>
          </a:p>
        </p:txBody>
      </p:sp>
      <p:sp>
        <p:nvSpPr>
          <p:cNvPr id="26" name="Shape 22"/>
          <p:cNvSpPr/>
          <p:nvPr/>
        </p:nvSpPr>
        <p:spPr>
          <a:xfrm>
            <a:off x="8046720" y="4572000"/>
            <a:ext cx="3611880" cy="1645920"/>
          </a:xfrm>
          <a:prstGeom prst="roundRect">
            <a:avLst>
              <a:gd name="adj" fmla="val 6667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8247888" y="4773168"/>
            <a:ext cx="530352" cy="53035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5172" y="4900452"/>
            <a:ext cx="275783" cy="275783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8915400" y="477316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One-command evidence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8275320" y="54406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make_figures.py regenerates every chart from fresh runs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Multi-Agent Execution — The Closed Loop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372600" y="411480"/>
            <a:ext cx="2286000" cy="457200"/>
          </a:xfrm>
          <a:prstGeom prst="roundRect">
            <a:avLst>
              <a:gd name="adj" fmla="val 50000"/>
            </a:avLst>
          </a:prstGeom>
          <a:solidFill>
            <a:srgbClr val="FDF1DC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72600" y="4114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Execution · 3M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15 minutes, 96 times a day, typed messages flow between agents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3593592" cy="1505712"/>
          </a:xfrm>
          <a:prstGeom prst="roundRect">
            <a:avLst>
              <a:gd name="adj" fmla="val 7287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481328"/>
            <a:ext cx="384048" cy="384048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133856" y="1481328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1938528"/>
            <a:ext cx="3337560" cy="847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→ Building: real demand of the last slot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06824" y="1371600"/>
            <a:ext cx="3593592" cy="1505712"/>
          </a:xfrm>
          <a:prstGeom prst="roundRect">
            <a:avLst>
              <a:gd name="adj" fmla="val 7287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16552" y="1481328"/>
            <a:ext cx="384048" cy="384048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16552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481328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SupplyOffer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434840" y="1938528"/>
            <a:ext cx="3337560" cy="847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/ Solar / Battery → Market: kW available + price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065008" y="1371600"/>
            <a:ext cx="3593592" cy="1505712"/>
          </a:xfrm>
          <a:prstGeom prst="roundRect">
            <a:avLst>
              <a:gd name="adj" fmla="val 7287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74736" y="1481328"/>
            <a:ext cx="384048" cy="384048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174736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650224" y="1481328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193024" y="1938528"/>
            <a:ext cx="3337560" cy="847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→ Market: requested, minimum, critical kW, priority, price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48640" y="3041904"/>
            <a:ext cx="3593592" cy="1505712"/>
          </a:xfrm>
          <a:prstGeom prst="roundRect">
            <a:avLst>
              <a:gd name="adj" fmla="val 7287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368" y="3151632"/>
            <a:ext cx="384048" cy="384048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58368" y="3151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133856" y="315163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Revised Bid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76656" y="3608832"/>
            <a:ext cx="3337560" cy="847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Coordinator announces scarcity → Buildings trim flexible load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306824" y="3041904"/>
            <a:ext cx="3593592" cy="1505712"/>
          </a:xfrm>
          <a:prstGeom prst="roundRect">
            <a:avLst>
              <a:gd name="adj" fmla="val 7287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416552" y="3151632"/>
            <a:ext cx="384048" cy="384048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416552" y="3151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4892040" y="315163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ClearingResult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34840" y="3608832"/>
            <a:ext cx="3337560" cy="847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→ all: allocations + dispatch requests, validated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8065008" y="3041904"/>
            <a:ext cx="3593592" cy="1505712"/>
          </a:xfrm>
          <a:prstGeom prst="roundRect">
            <a:avLst>
              <a:gd name="adj" fmla="val 7287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174736" y="3151632"/>
            <a:ext cx="384048" cy="384048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174736" y="3151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8650224" y="315163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DispatchResult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8193024" y="3608832"/>
            <a:ext cx="3337560" cy="847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→ Coordinator: delivered kW, new battery charge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548640" y="4712208"/>
            <a:ext cx="3593592" cy="1505712"/>
          </a:xfrm>
          <a:prstGeom prst="roundRect">
            <a:avLst>
              <a:gd name="adj" fmla="val 7287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58368" y="4821936"/>
            <a:ext cx="384048" cy="384048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58368" y="48219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1133856" y="4821936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Realised demand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676656" y="5279136"/>
            <a:ext cx="3337560" cy="847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reveals what each building actually needed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4306824" y="4712208"/>
            <a:ext cx="3593592" cy="1505712"/>
          </a:xfrm>
          <a:prstGeom prst="roundRect">
            <a:avLst>
              <a:gd name="adj" fmla="val 7287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416552" y="4821936"/>
            <a:ext cx="384048" cy="384048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416552" y="48219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4892040" y="4821936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434840" y="5279136"/>
            <a:ext cx="3337560" cy="847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Building: served / critical short / deferred / curtailed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8065008" y="4712208"/>
            <a:ext cx="3593592" cy="1505712"/>
          </a:xfrm>
          <a:prstGeom prst="roundRect">
            <a:avLst>
              <a:gd name="adj" fmla="val 7287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174736" y="4821936"/>
            <a:ext cx="384048" cy="384048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174736" y="48219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8650224" y="4821936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8193024" y="5279136"/>
            <a:ext cx="3337560" cy="847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 → Environment; backlog and charge carry forward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Interaction Contracts &amp; Robustness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372600" y="411480"/>
            <a:ext cx="2286000" cy="457200"/>
          </a:xfrm>
          <a:prstGeom prst="roundRect">
            <a:avLst>
              <a:gd name="adj" fmla="val 50000"/>
            </a:avLst>
          </a:prstGeom>
          <a:solidFill>
            <a:srgbClr val="FDF1DC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72600" y="4114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Execution · 3M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never call each other's internals — only shared protocols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6675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03120"/>
                <a:gridCol w="27432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Implemented by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DemandAgent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Building agent (P1)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observe · generate_bid · settle · abort_bid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Auctioneer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 engine (P2)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clear(slot, bids, offers) → allocations + dispatch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SupplyProvider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Grid + Solar + Battery (P3)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offers(slot) · dispatch(requests)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EnvironmentStream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Coordinator's campus (P4)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step() → real demand · apply_settlement()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498080" y="1463040"/>
            <a:ext cx="4160520" cy="2743200"/>
          </a:xfrm>
          <a:prstGeom prst="roundRect">
            <a:avLst>
              <a:gd name="adj" fmla="val 4000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26680" y="16002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Checked every slot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726680" y="2057400"/>
            <a:ext cx="3794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allocation per bid; none above its request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allocated ≤ total supply offered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 equals allocation, within each offer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conserved for every building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48640" y="4526280"/>
            <a:ext cx="3611880" cy="1691640"/>
          </a:xfrm>
          <a:prstGeom prst="roundRect">
            <a:avLst>
              <a:gd name="adj" fmla="val 6486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49808" y="4727448"/>
            <a:ext cx="530352" cy="53035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092" y="4854732"/>
            <a:ext cx="275783" cy="27578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417320" y="472744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failure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53949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building settles at zero — nobody is left waiting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4297680" y="4526280"/>
            <a:ext cx="3611880" cy="1691640"/>
          </a:xfrm>
          <a:prstGeom prst="roundRect">
            <a:avLst>
              <a:gd name="adj" fmla="val 6486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498848" y="4727448"/>
            <a:ext cx="530352" cy="53035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6132" y="4854732"/>
            <a:ext cx="275783" cy="27578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166360" y="472744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under-delivers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4526280" y="53949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Allocations scaled down to what was delivered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8046720" y="4526280"/>
            <a:ext cx="3611880" cy="1691640"/>
          </a:xfrm>
          <a:prstGeom prst="roundRect">
            <a:avLst>
              <a:gd name="adj" fmla="val 6486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8247888" y="4727448"/>
            <a:ext cx="530352" cy="53035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5172" y="4854732"/>
            <a:ext cx="275783" cy="275783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915400" y="472744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meter reading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8275320" y="53949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and recovered; other buildings still settle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Execution in Action — Daytime Grid Outage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372600" y="411480"/>
            <a:ext cx="2286000" cy="457200"/>
          </a:xfrm>
          <a:prstGeom prst="roundRect">
            <a:avLst>
              <a:gd name="adj" fmla="val 50000"/>
            </a:avLst>
          </a:prstGeom>
          <a:solidFill>
            <a:srgbClr val="FDF1DC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72600" y="4114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Execution · 3M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load kept on, per mode, while the grid is down 11:00–16:00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417320"/>
          <a:ext cx="777240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8595360" y="1600200"/>
            <a:ext cx="306324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11:00 all modes serve every critical kW</a:t>
            </a:r>
            <a:endParaRPr lang="en-US" sz="13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the outage only solar + battery remain</a:t>
            </a:r>
            <a:endParaRPr lang="en-US" sz="13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share lets critical load fall away; critical-first and GridWeave track the need</a:t>
            </a:r>
            <a:endParaRPr lang="en-US" sz="13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Buildings re-bid in 40 slots of the run, trimming flexible load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 — Interactive Dashboard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372600" y="411480"/>
            <a:ext cx="2286000" cy="457200"/>
          </a:xfrm>
          <a:prstGeom prst="roundRect">
            <a:avLst>
              <a:gd name="adj" fmla="val 50000"/>
            </a:avLst>
          </a:prstGeom>
          <a:solidFill>
            <a:srgbClr val="FDF1DC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72600" y="4114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Quality · 3M</a:t>
            </a:r>
            <a:endParaRPr lang="en-US" sz="1150" dirty="0"/>
          </a:p>
        </p:txBody>
      </p:sp>
      <p:pic>
        <p:nvPicPr>
          <p:cNvPr id="5" name="Image 0" descr="/private/tmp/claude-501/-Users-shantharam-FYP-GridWeave/004e270e-c584-429e-87f5-b3d1f5729ac2/scratchpad/ppt/dash_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7223760" cy="337108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470916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outage at 11:15: grid offers 0 kW, solar + battery are rationed, buildings re-bid.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8046720" y="1234440"/>
            <a:ext cx="3611880" cy="4983480"/>
          </a:xfrm>
          <a:prstGeom prst="roundRect">
            <a:avLst>
              <a:gd name="adj" fmla="val 3038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75320" y="13716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5-minute demo script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275320" y="1874520"/>
            <a:ext cx="365760" cy="36576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7532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759952" y="1847088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day: fully served; battery refills overnight, discharges at the evening peak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8275320" y="2724912"/>
            <a:ext cx="365760" cy="36576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75320" y="27249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8759952" y="2697480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outage: replay slot 44 — grid 0 kW, buildings re-bid, critical load kept on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275320" y="3575304"/>
            <a:ext cx="365760" cy="36576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75320" y="3575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759952" y="3547872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all modes: 113 → 32 → 30 kWh of critical load unserved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8275320" y="4425696"/>
            <a:ext cx="365760" cy="36576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275320" y="44256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8759952" y="4398264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Scarcity: 387 → 54 → 47 kWh; note the fairness trade-off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8275320" y="5276088"/>
            <a:ext cx="365760" cy="36576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275320" y="5276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8759952" y="5248656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test suite live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5257800"/>
            <a:ext cx="7223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Features: scenario &amp; mode picker · Compare all modes · slot-by-slot replay with play/pause · battery and price charts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Testing Scenarios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372600" y="411480"/>
            <a:ext cx="2286000" cy="457200"/>
          </a:xfrm>
          <a:prstGeom prst="roundRect">
            <a:avLst>
              <a:gd name="adj" fmla="val 50000"/>
            </a:avLst>
          </a:prstGeom>
          <a:solidFill>
            <a:srgbClr val="FDF1DC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72600" y="4114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Scenarios · 3M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scenarios, each targeting a different stress on the system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10996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640080"/>
                <a:gridCol w="4434840"/>
                <a:gridCol w="1097280"/>
                <a:gridCol w="1554480"/>
                <a:gridCol w="173736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tests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Critical served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Critical short (kWh)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 — solar + battery make a 250 kW grid enough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99.9%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solar_drop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 of renewable supply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98.4%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99.9%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battery_outage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Storage unavailable; costs rise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99.9%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99.9%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battery_derate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Battery power capped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99.9%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tariff_spike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shock — changes cost &amp; battery timing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99.9%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grid_outage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Rationing solar + battery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93.9%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99.5%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scarcity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Supply ≈ half of demand all day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62.1%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98.3%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mixed_stress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+ outage + price spike together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Automated Testing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372600" y="411480"/>
            <a:ext cx="2286000" cy="457200"/>
          </a:xfrm>
          <a:prstGeom prst="roundRect">
            <a:avLst>
              <a:gd name="adj" fmla="val 50000"/>
            </a:avLst>
          </a:prstGeom>
          <a:solidFill>
            <a:srgbClr val="FDF1DC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72600" y="4114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· 3M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we make is a named, passing test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417320"/>
          <a:ext cx="493776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452628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581</a:t>
            </a:r>
            <a:endParaRPr lang="en-US" sz="38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23951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passing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2377440" y="452628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800" dirty="0"/>
          </a:p>
        </p:txBody>
      </p:sp>
      <p:sp>
        <p:nvSpPr>
          <p:cNvPr id="10" name="Text 7"/>
          <p:cNvSpPr txBox="1"/>
          <p:nvPr/>
        </p:nvSpPr>
        <p:spPr>
          <a:xfrm>
            <a:off x="2377440" y="523951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versions in CI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4069080" y="452628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800" dirty="0"/>
          </a:p>
        </p:txBody>
      </p:sp>
      <p:sp>
        <p:nvSpPr>
          <p:cNvPr id="12" name="Text 9"/>
          <p:cNvSpPr txBox="1"/>
          <p:nvPr/>
        </p:nvSpPr>
        <p:spPr>
          <a:xfrm>
            <a:off x="4069080" y="523951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failing tests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1417320"/>
          <a:ext cx="5897880" cy="914400"/>
        </p:xfrm>
        <a:graphic>
          <a:graphicData uri="http://schemas.openxmlformats.org/drawingml/2006/table">
            <a:tbl>
              <a:tblPr/>
              <a:tblGrid>
                <a:gridCol w="3794760"/>
                <a:gridCol w="210312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Claim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Proved by test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conserved for every building, every mode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modes_and_dashboard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Critical-first halves critical shortfall in an outage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modes_and_dashboard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supply event has a measurable effect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claims (6 scenarios)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Scarcer supply never reduces shortfall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claims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Forecast errors reach real outcomes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building_workflow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Learned forecaster beats baselines on held-out data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linear_ar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Forecasting never sees future data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linear_ar, forecasting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Battery refills every night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battery_grid_charging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agent stranded by a failure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coordinator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Runs are reproducible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building_workflow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— Before → After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372600" y="411480"/>
            <a:ext cx="2286000" cy="457200"/>
          </a:xfrm>
          <a:prstGeom prst="roundRect">
            <a:avLst>
              <a:gd name="adj" fmla="val 50000"/>
            </a:avLst>
          </a:prstGeom>
          <a:solidFill>
            <a:srgbClr val="FDF1DC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72600" y="4114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&amp; Testing · 3M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campus and events; only the decision-making changes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417320"/>
          <a:ext cx="562356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355080" y="1417320"/>
          <a:ext cx="530352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 Structure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372600" y="411480"/>
            <a:ext cx="2286000" cy="457200"/>
          </a:xfrm>
          <a:prstGeom prst="roundRect">
            <a:avLst>
              <a:gd name="adj" fmla="val 50000"/>
            </a:avLst>
          </a:prstGeom>
          <a:solidFill>
            <a:srgbClr val="FDF1DC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72600" y="4114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Structure · 1M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package, four owned sub-packages, one set of shared contracts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852160" cy="804672"/>
          </a:xfrm>
          <a:prstGeom prst="roundRect">
            <a:avLst>
              <a:gd name="adj" fmla="val 11364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536192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models · interfaces · contracts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1892808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Shared, frozen message types &amp; protocols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395728"/>
            <a:ext cx="5852160" cy="804672"/>
          </a:xfrm>
          <a:prstGeom prst="roundRect">
            <a:avLst>
              <a:gd name="adj" fmla="val 11364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46888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 · forecasting · bidding · simulation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825496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building intelligence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328416"/>
            <a:ext cx="5852160" cy="804672"/>
          </a:xfrm>
          <a:prstGeom prst="roundRect">
            <a:avLst>
              <a:gd name="adj" fmla="val 11364"/>
            </a:avLst>
          </a:prstGeom>
          <a:solidFill>
            <a:srgbClr val="1C3553"/>
          </a:solidFill>
          <a:ln w="12700">
            <a:solidFill>
              <a:srgbClr val="1C355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3401568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auction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3758184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market mechanism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4261104"/>
            <a:ext cx="5852160" cy="804672"/>
          </a:xfrm>
          <a:prstGeom prst="roundRect">
            <a:avLst>
              <a:gd name="adj" fmla="val 11364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334256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supply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69087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 grid, solar, battery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5193792"/>
            <a:ext cx="5852160" cy="804672"/>
          </a:xfrm>
          <a:prstGeom prst="roundRect">
            <a:avLst>
              <a:gd name="adj" fmla="val 11364"/>
            </a:avLst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5266944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coordinator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562356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 loop, scenarios, modes, dashboard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675120" y="1463040"/>
            <a:ext cx="4983480" cy="4572000"/>
          </a:xfrm>
          <a:prstGeom prst="roundRect">
            <a:avLst>
              <a:gd name="adj" fmla="val 2400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903720" y="16002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principles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903720" y="2103120"/>
            <a:ext cx="45720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BuildingAgent class for every building — configured, not subclassed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Immutable, self-validating messages: invalid states cannot be built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talk only through protocols; each part is replaceable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Config-driven: new buildings, scenarios or sources need no code change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sub-package imports another's internals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Scalability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372600" y="411480"/>
            <a:ext cx="2286000" cy="457200"/>
          </a:xfrm>
          <a:prstGeom prst="roundRect">
            <a:avLst>
              <a:gd name="adj" fmla="val 50000"/>
            </a:avLst>
          </a:prstGeom>
          <a:solidFill>
            <a:srgbClr val="FDF1DC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72600" y="4114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 · 1M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grows linearly with the number of building agents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417320"/>
          <a:ext cx="69494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7863840" y="160020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 ms</a:t>
            </a:r>
            <a:endParaRPr lang="en-US" sz="3800" dirty="0"/>
          </a:p>
        </p:txBody>
      </p:sp>
      <p:sp>
        <p:nvSpPr>
          <p:cNvPr id="8" name="Text 5"/>
          <p:cNvSpPr txBox="1"/>
          <p:nvPr/>
        </p:nvSpPr>
        <p:spPr>
          <a:xfrm>
            <a:off x="7863840" y="2313432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15-minute slot with 100 buildings (full system)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863840" y="301752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500</a:t>
            </a:r>
            <a:endParaRPr lang="en-US" sz="3800" dirty="0"/>
          </a:p>
        </p:txBody>
      </p:sp>
      <p:sp>
        <p:nvSpPr>
          <p:cNvPr id="10" name="Text 7"/>
          <p:cNvSpPr txBox="1"/>
          <p:nvPr/>
        </p:nvSpPr>
        <p:spPr>
          <a:xfrm>
            <a:off x="7863840" y="3730752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agents run in the building-layer benchmark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863840" y="4480560"/>
            <a:ext cx="3749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buildings is configuration only. The loop is sequential and single-process today; agents are independent within a slot, so they could run in parallel.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2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630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4231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&amp; questions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47472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Zero-dependency Python core · 581 passing tests · CI on 4 Python versions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workstreams interacting through validated protocols in a closed 15-minute loop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dashboard with scenario picker, mode comparison and slot replay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GridWeave — Review 2</dc:title>
  <dc:subject>PptxGenJS Presentation</dc:subject>
  <dc:creator>PptxGenJS</dc:creator>
  <cp:lastModifiedBy>PptxGenJS</cp:lastModifiedBy>
  <cp:revision>1</cp:revision>
  <dcterms:created xsi:type="dcterms:W3CDTF">2026-09-30T15:50:56Z</dcterms:created>
  <dcterms:modified xsi:type="dcterms:W3CDTF">2026-09-30T15:50:56Z</dcterms:modified>
</cp:coreProperties>
</file>