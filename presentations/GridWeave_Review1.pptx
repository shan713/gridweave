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63A"/>
                </a:solidFill>
                <a:latin typeface="Calibri"/>
              </a:defRPr>
            </a:pPr>
            <a:r>
              <a:rPr sz="1300" b="0" i="0" u="none" strike="noStrike">
                <a:solidFill>
                  <a:srgbClr val="12263A"/>
                </a:solidFill>
                <a:latin typeface="Calibri"/>
              </a:rPr>
              <a:t>Next-slot forecast error on held-out data (kW, lower is better)</a:t>
            </a:r>
          </a:p>
        </c:rich>
      </c:tx>
      <c:layout/>
      <c:overlay val="0"/>
    </c:title>
    <c:autoTitleDeleted val="0"/>
    <c:plotArea>
      <c:layout/>
      <c:barChart>
        <c:barDir val="bar"/>
        <c:grouping val="clustered"/>
        <c:varyColors val="0"/>
        <c:ser>
          <c:idx val="0"/>
          <c:order val="0"/>
          <c:tx>
            <c:strRef>
              <c:f>Sheet1!$B$1</c:f>
              <c:strCache>
                <c:ptCount val="1"/>
                <c:pt idx="0">
                  <c:v>MAE (kW)</c:v>
                </c:pt>
              </c:strCache>
            </c:strRef>
          </c:tx>
          <c:spPr>
            <a:solidFill>
              <a:srgbClr val="1BAF7A"/>
            </a:solidFill>
            <a:effectLst/>
          </c:spPr>
          <c:invertIfNegative val="0"/>
          <c:dLbls>
            <c:numFmt formatCode="0.00" sourceLinked="0"/>
            <c:txPr>
              <a:bodyPr/>
              <a:lstStyle/>
              <a:p>
                <a:pPr>
                  <a:defRPr b="0" i="0" strike="noStrike" sz="1000" u="none">
                    <a:solidFill>
                      <a:srgbClr val="1B2430"/>
                    </a:solidFill>
                    <a:latin typeface="Arial"/>
                  </a:defRPr>
                </a:pPr>
              </a:p>
            </c:txPr>
            <c:showLegendKey val="0"/>
            <c:showVal val="1"/>
            <c:showCatName val="0"/>
            <c:showSerName val="0"/>
            <c:showPercent val="0"/>
            <c:showBubbleSize val="0"/>
            <c:showLeaderLines val="0"/>
          </c:dLbls>
          <c:dPt>
            <c:idx val="0"/>
            <c:invertIfNegative val="0"/>
            <c:bubble3D val="0"/>
            <c:spPr>
              <a:solidFill>
                <a:srgbClr val="1BAF7A"/>
              </a:solidFill>
              <a:effectLst/>
            </c:spPr>
          </c:dPt>
          <c:dPt>
            <c:idx val="1"/>
            <c:invertIfNegative val="0"/>
            <c:bubble3D val="0"/>
            <c:spPr>
              <a:solidFill>
                <a:srgbClr val="2A78D6"/>
              </a:solidFill>
              <a:effectLst/>
            </c:spPr>
          </c:dPt>
          <c:dPt>
            <c:idx val="2"/>
            <c:invertIfNegative val="0"/>
            <c:bubble3D val="0"/>
            <c:spPr>
              <a:solidFill>
                <a:srgbClr val="2A78D6"/>
              </a:solidFill>
              <a:effectLst/>
            </c:spPr>
          </c:dPt>
          <c:dPt>
            <c:idx val="3"/>
            <c:invertIfNegative val="0"/>
            <c:bubble3D val="0"/>
            <c:spPr>
              <a:solidFill>
                <a:srgbClr val="2A78D6"/>
              </a:solidFill>
              <a:effectLst/>
            </c:spPr>
          </c:dPt>
          <c:dPt>
            <c:idx val="4"/>
            <c:invertIfNegative val="0"/>
            <c:bubble3D val="0"/>
            <c:spPr>
              <a:solidFill>
                <a:srgbClr val="2A78D6"/>
              </a:solidFill>
              <a:effectLst/>
            </c:spPr>
          </c:dPt>
          <c:dPt>
            <c:idx val="5"/>
            <c:invertIfNegative val="0"/>
            <c:bubble3D val="0"/>
            <c:spPr>
              <a:solidFill>
                <a:srgbClr val="2A78D6"/>
              </a:solidFill>
              <a:effectLst/>
            </c:spPr>
          </c:dPt>
          <c:dPt>
            <c:idx val="6"/>
            <c:invertIfNegative val="0"/>
            <c:bubble3D val="0"/>
            <c:spPr>
              <a:solidFill>
                <a:srgbClr val="2A78D6"/>
              </a:solidFill>
              <a:effectLst/>
            </c:spPr>
          </c:dPt>
          <c:cat>
            <c:multiLvlStrRef>
              <c:f>Sheet1!$A$2:$A$8</c:f>
              <c:multiLvlStrCache>
                <c:ptCount val="7"/>
                <c:lvl>
                  <c:pt idx="0">
                    <c:v>LinearAR — learned</c:v>
                  </c:pt>
                  <c:pt idx="1">
                    <c:v>EWMA(a=0.6)</c:v>
                  </c:pt>
                  <c:pt idx="2">
                    <c:v>Seasonal EWMA</c:v>
                  </c:pt>
                  <c:pt idx="3">
                    <c:v>MA(4)</c:v>
                  </c:pt>
                  <c:pt idx="4">
                    <c:v>EWMA(a=0.3)</c:v>
                  </c:pt>
                  <c:pt idx="5">
                    <c:v>Seasonal naive</c:v>
                  </c:pt>
                  <c:pt idx="6">
                    <c:v>MA(8)</c:v>
                  </c:pt>
                </c:lvl>
              </c:multiLvlStrCache>
            </c:multiLvlStrRef>
          </c:cat>
          <c:val>
            <c:numRef>
              <c:f>Sheet1!$B$2:$B$8</c:f>
              <c:numCache>
                <c:formatCode>General</c:formatCode>
                <c:ptCount val="7"/>
                <c:pt idx="0">
                  <c:v>3.514</c:v>
                </c:pt>
                <c:pt idx="1">
                  <c:v>4.743</c:v>
                </c:pt>
                <c:pt idx="2">
                  <c:v>5.039</c:v>
                </c:pt>
                <c:pt idx="3">
                  <c:v>6.504</c:v>
                </c:pt>
                <c:pt idx="4">
                  <c:v>7.337</c:v>
                </c:pt>
                <c:pt idx="5">
                  <c:v>8.16</c:v>
                </c:pt>
                <c:pt idx="6">
                  <c:v>9.792</c:v>
                </c:pt>
              </c:numCache>
            </c:numRef>
          </c:val>
        </c:ser>
        <c:dLbls>
          <c:numFmt formatCode="0.00" sourceLinked="0"/>
          <c:txPr>
            <a:bodyPr/>
            <a:lstStyle/>
            <a:p>
              <a:pPr>
                <a:defRPr b="0" i="0" strike="noStrike" sz="1000" u="none">
                  <a:solidFill>
                    <a:srgbClr val="1B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B6675"/>
                </a:solidFill>
                <a:latin typeface="Arial"/>
              </a:defRPr>
            </a:pPr>
            <a:endParaRPr lang="en-US"/>
          </a:p>
        </c:txPr>
        <c:crossAx val="2094734552"/>
        <c:crosses val="autoZero"/>
        <c:auto val="1"/>
        <c:lblAlgn val="ctr"/>
        <c:noMultiLvlLbl val="1"/>
      </c:catAx>
      <c:valAx>
        <c:axId val="2094734552"/>
        <c:scaling>
          <c:orientation val="minMax"/>
          <c:min val="0"/>
        </c:scaling>
        <c:delete val="0"/>
        <c:axPos val="b"/>
        <c:majorGridlines>
          <c:spPr>
            <a:ln w="6350" cap="flat">
              <a:solidFill>
                <a:srgbClr val="E6E9EE"/>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B667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63A"/>
                </a:solidFill>
                <a:latin typeface="Calibri"/>
              </a:defRPr>
            </a:pPr>
            <a:r>
              <a:rPr sz="1300" b="0" i="0" u="none" strike="noStrike">
                <a:solidFill>
                  <a:srgbClr val="12263A"/>
                </a:solidFill>
                <a:latin typeface="Calibri"/>
              </a:rPr>
              <a:t>Normal scenario, 3 days (hourly)</a:t>
            </a:r>
          </a:p>
        </c:rich>
      </c:tx>
      <c:layout/>
      <c:overlay val="0"/>
    </c:title>
    <c:autoTitleDeleted val="0"/>
    <c:plotArea>
      <c:layout/>
      <c:lineChart>
        <c:varyColors val="0"/>
        <c:ser>
          <c:idx val="0"/>
          <c:order val="0"/>
          <c:tx>
            <c:strRef>
              <c:f>Sheet1!$B$1</c:f>
              <c:strCache>
                <c:ptCount val="1"/>
                <c:pt idx="0">
                  <c:v>Grid price (per kWh)</c:v>
                </c:pt>
              </c:strCache>
            </c:strRef>
          </c:tx>
          <c:spPr>
            <a:solidFill>
              <a:srgbClr val="8A8985"/>
            </a:solidFill>
            <a:ln w="31750" cap="flat">
              <a:solidFill>
                <a:srgbClr val="8A8985"/>
              </a:solidFill>
              <a:prstDash val="solid"/>
              <a:round/>
            </a:ln>
            <a:effectLst/>
          </c:spPr>
          <c:invertIfNegative val="0"/>
          <c:dLbls>
            <c:numFmt formatCode="#,##0" sourceLinked="0"/>
            <c:txPr>
              <a:bodyPr/>
              <a:lstStyle/>
              <a:p>
                <a:pPr>
                  <a:defRPr b="0" i="0" strike="noStrike" sz="1000" u="none">
                    <a:solidFill>
                      <a:srgbClr val="1B2430"/>
                    </a:solidFill>
                    <a:latin typeface="Arial"/>
                  </a:defRPr>
                </a:pPr>
              </a:p>
            </c:txPr>
            <c:showLegendKey val="0"/>
            <c:showVal val="0"/>
            <c:showCatName val="0"/>
            <c:showSerName val="0"/>
            <c:showPercent val="0"/>
            <c:showBubbleSize val="0"/>
            <c:showLeaderLines val="0"/>
          </c:dLbls>
          <c:marker>
            <c:symbol val="none"/>
            <c:size val="6"/>
            <c:spPr>
              <a:solidFill>
                <a:srgbClr val="8A8985"/>
              </a:solidFill>
              <a:ln w="9525" cap="flat">
                <a:solidFill>
                  <a:srgbClr val="8A8985"/>
                </a:solidFill>
                <a:prstDash val="solid"/>
                <a:round/>
              </a:ln>
              <a:effectLst/>
            </c:spPr>
          </c:marker>
          <c:cat>
            <c:multiLvlStrRef>
              <c:f>Sheet1!$A$2:$A$73</c:f>
              <c:multiLvlStrCache>
                <c:ptCount val="72"/>
                <c:lvl>
                  <c:pt idx="0">
                    <c:v>Mon 00:15</c:v>
                  </c:pt>
                  <c:pt idx="1">
                    <c:v/>
                  </c:pt>
                  <c:pt idx="2">
                    <c:v/>
                  </c:pt>
                  <c:pt idx="3">
                    <c:v/>
                  </c:pt>
                  <c:pt idx="4">
                    <c:v/>
                  </c:pt>
                  <c:pt idx="5">
                    <c:v/>
                  </c:pt>
                  <c:pt idx="6">
                    <c:v>Mon 06:15</c:v>
                  </c:pt>
                  <c:pt idx="7">
                    <c:v/>
                  </c:pt>
                  <c:pt idx="8">
                    <c:v/>
                  </c:pt>
                  <c:pt idx="9">
                    <c:v/>
                  </c:pt>
                  <c:pt idx="10">
                    <c:v/>
                  </c:pt>
                  <c:pt idx="11">
                    <c:v/>
                  </c:pt>
                  <c:pt idx="12">
                    <c:v>Mon 12:15</c:v>
                  </c:pt>
                  <c:pt idx="13">
                    <c:v/>
                  </c:pt>
                  <c:pt idx="14">
                    <c:v/>
                  </c:pt>
                  <c:pt idx="15">
                    <c:v/>
                  </c:pt>
                  <c:pt idx="16">
                    <c:v/>
                  </c:pt>
                  <c:pt idx="17">
                    <c:v/>
                  </c:pt>
                  <c:pt idx="18">
                    <c:v>Mon 18:15</c:v>
                  </c:pt>
                  <c:pt idx="19">
                    <c:v/>
                  </c:pt>
                  <c:pt idx="20">
                    <c:v/>
                  </c:pt>
                  <c:pt idx="21">
                    <c:v/>
                  </c:pt>
                  <c:pt idx="22">
                    <c:v/>
                  </c:pt>
                  <c:pt idx="23">
                    <c:v/>
                  </c:pt>
                  <c:pt idx="24">
                    <c:v>Tue 00:15</c:v>
                  </c:pt>
                  <c:pt idx="25">
                    <c:v/>
                  </c:pt>
                  <c:pt idx="26">
                    <c:v/>
                  </c:pt>
                  <c:pt idx="27">
                    <c:v/>
                  </c:pt>
                  <c:pt idx="28">
                    <c:v/>
                  </c:pt>
                  <c:pt idx="29">
                    <c:v/>
                  </c:pt>
                  <c:pt idx="30">
                    <c:v>Tue 06:15</c:v>
                  </c:pt>
                  <c:pt idx="31">
                    <c:v/>
                  </c:pt>
                  <c:pt idx="32">
                    <c:v/>
                  </c:pt>
                  <c:pt idx="33">
                    <c:v/>
                  </c:pt>
                  <c:pt idx="34">
                    <c:v/>
                  </c:pt>
                  <c:pt idx="35">
                    <c:v/>
                  </c:pt>
                  <c:pt idx="36">
                    <c:v>Tue 12:15</c:v>
                  </c:pt>
                  <c:pt idx="37">
                    <c:v/>
                  </c:pt>
                  <c:pt idx="38">
                    <c:v/>
                  </c:pt>
                  <c:pt idx="39">
                    <c:v/>
                  </c:pt>
                  <c:pt idx="40">
                    <c:v/>
                  </c:pt>
                  <c:pt idx="41">
                    <c:v/>
                  </c:pt>
                  <c:pt idx="42">
                    <c:v>Tue 18:15</c:v>
                  </c:pt>
                  <c:pt idx="43">
                    <c:v/>
                  </c:pt>
                  <c:pt idx="44">
                    <c:v/>
                  </c:pt>
                  <c:pt idx="45">
                    <c:v/>
                  </c:pt>
                  <c:pt idx="46">
                    <c:v/>
                  </c:pt>
                  <c:pt idx="47">
                    <c:v/>
                  </c:pt>
                  <c:pt idx="48">
                    <c:v>Wed 00:15</c:v>
                  </c:pt>
                  <c:pt idx="49">
                    <c:v/>
                  </c:pt>
                  <c:pt idx="50">
                    <c:v/>
                  </c:pt>
                  <c:pt idx="51">
                    <c:v/>
                  </c:pt>
                  <c:pt idx="52">
                    <c:v/>
                  </c:pt>
                  <c:pt idx="53">
                    <c:v/>
                  </c:pt>
                  <c:pt idx="54">
                    <c:v>Wed 06:15</c:v>
                  </c:pt>
                  <c:pt idx="55">
                    <c:v/>
                  </c:pt>
                  <c:pt idx="56">
                    <c:v/>
                  </c:pt>
                  <c:pt idx="57">
                    <c:v/>
                  </c:pt>
                  <c:pt idx="58">
                    <c:v/>
                  </c:pt>
                  <c:pt idx="59">
                    <c:v/>
                  </c:pt>
                  <c:pt idx="60">
                    <c:v>Wed 12:15</c:v>
                  </c:pt>
                  <c:pt idx="61">
                    <c:v/>
                  </c:pt>
                  <c:pt idx="62">
                    <c:v/>
                  </c:pt>
                  <c:pt idx="63">
                    <c:v/>
                  </c:pt>
                  <c:pt idx="64">
                    <c:v/>
                  </c:pt>
                  <c:pt idx="65">
                    <c:v/>
                  </c:pt>
                  <c:pt idx="66">
                    <c:v>Wed 18:15</c:v>
                  </c:pt>
                  <c:pt idx="67">
                    <c:v/>
                  </c:pt>
                  <c:pt idx="68">
                    <c:v/>
                  </c:pt>
                  <c:pt idx="69">
                    <c:v/>
                  </c:pt>
                  <c:pt idx="70">
                    <c:v/>
                  </c:pt>
                  <c:pt idx="71">
                    <c:v/>
                  </c:pt>
                </c:lvl>
              </c:multiLvlStrCache>
            </c:multiLvlStrRef>
          </c:cat>
          <c:val>
            <c:numRef>
              <c:f>Sheet1!$B$2:$B$73</c:f>
              <c:numCache>
                <c:formatCode>General</c:formatCode>
                <c:ptCount val="72"/>
                <c:pt idx="0">
                  <c:v>5</c:v>
                </c:pt>
                <c:pt idx="1">
                  <c:v>5</c:v>
                </c:pt>
                <c:pt idx="2">
                  <c:v>5</c:v>
                </c:pt>
                <c:pt idx="3">
                  <c:v>5</c:v>
                </c:pt>
                <c:pt idx="4">
                  <c:v>5</c:v>
                </c:pt>
                <c:pt idx="5">
                  <c:v>5</c:v>
                </c:pt>
                <c:pt idx="6">
                  <c:v>10</c:v>
                </c:pt>
                <c:pt idx="7">
                  <c:v>10</c:v>
                </c:pt>
                <c:pt idx="8">
                  <c:v>10</c:v>
                </c:pt>
                <c:pt idx="9">
                  <c:v>10</c:v>
                </c:pt>
                <c:pt idx="10">
                  <c:v>10</c:v>
                </c:pt>
                <c:pt idx="11">
                  <c:v>10</c:v>
                </c:pt>
                <c:pt idx="12">
                  <c:v>10</c:v>
                </c:pt>
                <c:pt idx="13">
                  <c:v>10</c:v>
                </c:pt>
                <c:pt idx="14">
                  <c:v>10</c:v>
                </c:pt>
                <c:pt idx="15">
                  <c:v>10</c:v>
                </c:pt>
                <c:pt idx="16">
                  <c:v>10</c:v>
                </c:pt>
                <c:pt idx="17">
                  <c:v>18</c:v>
                </c:pt>
                <c:pt idx="18">
                  <c:v>18</c:v>
                </c:pt>
                <c:pt idx="19">
                  <c:v>18</c:v>
                </c:pt>
                <c:pt idx="20">
                  <c:v>18</c:v>
                </c:pt>
                <c:pt idx="21">
                  <c:v>18</c:v>
                </c:pt>
                <c:pt idx="22">
                  <c:v>10</c:v>
                </c:pt>
                <c:pt idx="23">
                  <c:v>10</c:v>
                </c:pt>
                <c:pt idx="24">
                  <c:v>5</c:v>
                </c:pt>
                <c:pt idx="25">
                  <c:v>5</c:v>
                </c:pt>
                <c:pt idx="26">
                  <c:v>5</c:v>
                </c:pt>
                <c:pt idx="27">
                  <c:v>5</c:v>
                </c:pt>
                <c:pt idx="28">
                  <c:v>5</c:v>
                </c:pt>
                <c:pt idx="29">
                  <c:v>5</c:v>
                </c:pt>
                <c:pt idx="30">
                  <c:v>10</c:v>
                </c:pt>
                <c:pt idx="31">
                  <c:v>10</c:v>
                </c:pt>
                <c:pt idx="32">
                  <c:v>10</c:v>
                </c:pt>
                <c:pt idx="33">
                  <c:v>10</c:v>
                </c:pt>
                <c:pt idx="34">
                  <c:v>10</c:v>
                </c:pt>
                <c:pt idx="35">
                  <c:v>10</c:v>
                </c:pt>
                <c:pt idx="36">
                  <c:v>10</c:v>
                </c:pt>
                <c:pt idx="37">
                  <c:v>10</c:v>
                </c:pt>
                <c:pt idx="38">
                  <c:v>10</c:v>
                </c:pt>
                <c:pt idx="39">
                  <c:v>10</c:v>
                </c:pt>
                <c:pt idx="40">
                  <c:v>10</c:v>
                </c:pt>
                <c:pt idx="41">
                  <c:v>18</c:v>
                </c:pt>
                <c:pt idx="42">
                  <c:v>18</c:v>
                </c:pt>
                <c:pt idx="43">
                  <c:v>18</c:v>
                </c:pt>
                <c:pt idx="44">
                  <c:v>18</c:v>
                </c:pt>
                <c:pt idx="45">
                  <c:v>18</c:v>
                </c:pt>
                <c:pt idx="46">
                  <c:v>10</c:v>
                </c:pt>
                <c:pt idx="47">
                  <c:v>10</c:v>
                </c:pt>
                <c:pt idx="48">
                  <c:v>5</c:v>
                </c:pt>
                <c:pt idx="49">
                  <c:v>5</c:v>
                </c:pt>
                <c:pt idx="50">
                  <c:v>5</c:v>
                </c:pt>
                <c:pt idx="51">
                  <c:v>5</c:v>
                </c:pt>
                <c:pt idx="52">
                  <c:v>5</c:v>
                </c:pt>
                <c:pt idx="53">
                  <c:v>5</c:v>
                </c:pt>
                <c:pt idx="54">
                  <c:v>10</c:v>
                </c:pt>
                <c:pt idx="55">
                  <c:v>10</c:v>
                </c:pt>
                <c:pt idx="56">
                  <c:v>10</c:v>
                </c:pt>
                <c:pt idx="57">
                  <c:v>10</c:v>
                </c:pt>
                <c:pt idx="58">
                  <c:v>10</c:v>
                </c:pt>
                <c:pt idx="59">
                  <c:v>10</c:v>
                </c:pt>
                <c:pt idx="60">
                  <c:v>10</c:v>
                </c:pt>
                <c:pt idx="61">
                  <c:v>10</c:v>
                </c:pt>
                <c:pt idx="62">
                  <c:v>10</c:v>
                </c:pt>
                <c:pt idx="63">
                  <c:v>10</c:v>
                </c:pt>
                <c:pt idx="64">
                  <c:v>10</c:v>
                </c:pt>
                <c:pt idx="65">
                  <c:v>18</c:v>
                </c:pt>
                <c:pt idx="66">
                  <c:v>18</c:v>
                </c:pt>
                <c:pt idx="67">
                  <c:v>18</c:v>
                </c:pt>
                <c:pt idx="68">
                  <c:v>18</c:v>
                </c:pt>
                <c:pt idx="69">
                  <c:v>18</c:v>
                </c:pt>
                <c:pt idx="70">
                  <c:v>10</c:v>
                </c:pt>
                <c:pt idx="71">
                  <c:v>10</c:v>
                </c:pt>
              </c:numCache>
            </c:numRef>
          </c:val>
          <c:smooth val="0"/>
        </c:ser>
        <c:ser>
          <c:idx val="1"/>
          <c:order val="1"/>
          <c:tx>
            <c:strRef>
              <c:f>Sheet1!$C$1</c:f>
              <c:strCache>
                <c:ptCount val="1"/>
                <c:pt idx="0">
                  <c:v>Battery offer price (per kWh)</c:v>
                </c:pt>
              </c:strCache>
            </c:strRef>
          </c:tx>
          <c:spPr>
            <a:solidFill>
              <a:srgbClr val="1BAF7A"/>
            </a:solidFill>
            <a:ln w="31750" cap="flat">
              <a:solidFill>
                <a:srgbClr val="1BAF7A"/>
              </a:solidFill>
              <a:prstDash val="solid"/>
              <a:round/>
            </a:ln>
            <a:effectLst/>
          </c:spPr>
          <c:invertIfNegative val="0"/>
          <c:dLbls>
            <c:numFmt formatCode="#,##0" sourceLinked="0"/>
            <c:txPr>
              <a:bodyPr/>
              <a:lstStyle/>
              <a:p>
                <a:pPr>
                  <a:defRPr b="0" i="0" strike="noStrike" sz="1000" u="none">
                    <a:solidFill>
                      <a:srgbClr val="1B2430"/>
                    </a:solidFill>
                    <a:latin typeface="Arial"/>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Sheet1!$A$2:$A$73</c:f>
              <c:multiLvlStrCache>
                <c:ptCount val="72"/>
                <c:lvl>
                  <c:pt idx="0">
                    <c:v>Mon 00:15</c:v>
                  </c:pt>
                  <c:pt idx="1">
                    <c:v/>
                  </c:pt>
                  <c:pt idx="2">
                    <c:v/>
                  </c:pt>
                  <c:pt idx="3">
                    <c:v/>
                  </c:pt>
                  <c:pt idx="4">
                    <c:v/>
                  </c:pt>
                  <c:pt idx="5">
                    <c:v/>
                  </c:pt>
                  <c:pt idx="6">
                    <c:v>Mon 06:15</c:v>
                  </c:pt>
                  <c:pt idx="7">
                    <c:v/>
                  </c:pt>
                  <c:pt idx="8">
                    <c:v/>
                  </c:pt>
                  <c:pt idx="9">
                    <c:v/>
                  </c:pt>
                  <c:pt idx="10">
                    <c:v/>
                  </c:pt>
                  <c:pt idx="11">
                    <c:v/>
                  </c:pt>
                  <c:pt idx="12">
                    <c:v>Mon 12:15</c:v>
                  </c:pt>
                  <c:pt idx="13">
                    <c:v/>
                  </c:pt>
                  <c:pt idx="14">
                    <c:v/>
                  </c:pt>
                  <c:pt idx="15">
                    <c:v/>
                  </c:pt>
                  <c:pt idx="16">
                    <c:v/>
                  </c:pt>
                  <c:pt idx="17">
                    <c:v/>
                  </c:pt>
                  <c:pt idx="18">
                    <c:v>Mon 18:15</c:v>
                  </c:pt>
                  <c:pt idx="19">
                    <c:v/>
                  </c:pt>
                  <c:pt idx="20">
                    <c:v/>
                  </c:pt>
                  <c:pt idx="21">
                    <c:v/>
                  </c:pt>
                  <c:pt idx="22">
                    <c:v/>
                  </c:pt>
                  <c:pt idx="23">
                    <c:v/>
                  </c:pt>
                  <c:pt idx="24">
                    <c:v>Tue 00:15</c:v>
                  </c:pt>
                  <c:pt idx="25">
                    <c:v/>
                  </c:pt>
                  <c:pt idx="26">
                    <c:v/>
                  </c:pt>
                  <c:pt idx="27">
                    <c:v/>
                  </c:pt>
                  <c:pt idx="28">
                    <c:v/>
                  </c:pt>
                  <c:pt idx="29">
                    <c:v/>
                  </c:pt>
                  <c:pt idx="30">
                    <c:v>Tue 06:15</c:v>
                  </c:pt>
                  <c:pt idx="31">
                    <c:v/>
                  </c:pt>
                  <c:pt idx="32">
                    <c:v/>
                  </c:pt>
                  <c:pt idx="33">
                    <c:v/>
                  </c:pt>
                  <c:pt idx="34">
                    <c:v/>
                  </c:pt>
                  <c:pt idx="35">
                    <c:v/>
                  </c:pt>
                  <c:pt idx="36">
                    <c:v>Tue 12:15</c:v>
                  </c:pt>
                  <c:pt idx="37">
                    <c:v/>
                  </c:pt>
                  <c:pt idx="38">
                    <c:v/>
                  </c:pt>
                  <c:pt idx="39">
                    <c:v/>
                  </c:pt>
                  <c:pt idx="40">
                    <c:v/>
                  </c:pt>
                  <c:pt idx="41">
                    <c:v/>
                  </c:pt>
                  <c:pt idx="42">
                    <c:v>Tue 18:15</c:v>
                  </c:pt>
                  <c:pt idx="43">
                    <c:v/>
                  </c:pt>
                  <c:pt idx="44">
                    <c:v/>
                  </c:pt>
                  <c:pt idx="45">
                    <c:v/>
                  </c:pt>
                  <c:pt idx="46">
                    <c:v/>
                  </c:pt>
                  <c:pt idx="47">
                    <c:v/>
                  </c:pt>
                  <c:pt idx="48">
                    <c:v>Wed 00:15</c:v>
                  </c:pt>
                  <c:pt idx="49">
                    <c:v/>
                  </c:pt>
                  <c:pt idx="50">
                    <c:v/>
                  </c:pt>
                  <c:pt idx="51">
                    <c:v/>
                  </c:pt>
                  <c:pt idx="52">
                    <c:v/>
                  </c:pt>
                  <c:pt idx="53">
                    <c:v/>
                  </c:pt>
                  <c:pt idx="54">
                    <c:v>Wed 06:15</c:v>
                  </c:pt>
                  <c:pt idx="55">
                    <c:v/>
                  </c:pt>
                  <c:pt idx="56">
                    <c:v/>
                  </c:pt>
                  <c:pt idx="57">
                    <c:v/>
                  </c:pt>
                  <c:pt idx="58">
                    <c:v/>
                  </c:pt>
                  <c:pt idx="59">
                    <c:v/>
                  </c:pt>
                  <c:pt idx="60">
                    <c:v>Wed 12:15</c:v>
                  </c:pt>
                  <c:pt idx="61">
                    <c:v/>
                  </c:pt>
                  <c:pt idx="62">
                    <c:v/>
                  </c:pt>
                  <c:pt idx="63">
                    <c:v/>
                  </c:pt>
                  <c:pt idx="64">
                    <c:v/>
                  </c:pt>
                  <c:pt idx="65">
                    <c:v/>
                  </c:pt>
                  <c:pt idx="66">
                    <c:v>Wed 18:15</c:v>
                  </c:pt>
                  <c:pt idx="67">
                    <c:v/>
                  </c:pt>
                  <c:pt idx="68">
                    <c:v/>
                  </c:pt>
                  <c:pt idx="69">
                    <c:v/>
                  </c:pt>
                  <c:pt idx="70">
                    <c:v/>
                  </c:pt>
                  <c:pt idx="71">
                    <c:v/>
                  </c:pt>
                </c:lvl>
              </c:multiLvlStrCache>
            </c:multiLvlStrRef>
          </c:cat>
          <c:val>
            <c:numRef>
              <c:f>Sheet1!$C$2:$C$73</c:f>
              <c:numCache>
                <c:formatCode>General</c:formatCode>
                <c:ptCount val="72"/>
                <c:pt idx="0">
                  <c:v>7</c:v>
                </c:pt>
                <c:pt idx="1">
                  <c:v>8.63</c:v>
                </c:pt>
                <c:pt idx="2">
                  <c:v>8.63</c:v>
                </c:pt>
                <c:pt idx="3">
                  <c:v>8.63</c:v>
                </c:pt>
                <c:pt idx="4">
                  <c:v>8.63</c:v>
                </c:pt>
                <c:pt idx="5">
                  <c:v>8.63</c:v>
                </c:pt>
                <c:pt idx="6">
                  <c:v>8.63</c:v>
                </c:pt>
                <c:pt idx="7">
                  <c:v>8.63</c:v>
                </c:pt>
                <c:pt idx="8">
                  <c:v>8.63</c:v>
                </c:pt>
                <c:pt idx="9">
                  <c:v>8.63</c:v>
                </c:pt>
                <c:pt idx="10">
                  <c:v>8.63</c:v>
                </c:pt>
                <c:pt idx="11">
                  <c:v>8.63</c:v>
                </c:pt>
                <c:pt idx="12">
                  <c:v>8.63</c:v>
                </c:pt>
                <c:pt idx="13">
                  <c:v>8.63</c:v>
                </c:pt>
                <c:pt idx="14">
                  <c:v>8.63</c:v>
                </c:pt>
                <c:pt idx="15">
                  <c:v>8.63</c:v>
                </c:pt>
                <c:pt idx="16">
                  <c:v>8.63</c:v>
                </c:pt>
                <c:pt idx="17">
                  <c:v>8.63</c:v>
                </c:pt>
                <c:pt idx="18">
                  <c:v>8.63</c:v>
                </c:pt>
                <c:pt idx="19">
                  <c:v>8.63</c:v>
                </c:pt>
                <c:pt idx="20">
                  <c:v>8.63</c:v>
                </c:pt>
                <c:pt idx="21">
                  <c:v>8.63</c:v>
                </c:pt>
                <c:pt idx="22">
                  <c:v>8.63</c:v>
                </c:pt>
                <c:pt idx="23">
                  <c:v>8.63</c:v>
                </c:pt>
                <c:pt idx="24">
                  <c:v>10.36</c:v>
                </c:pt>
                <c:pt idx="25">
                  <c:v>11.75</c:v>
                </c:pt>
                <c:pt idx="26">
                  <c:v>12.05</c:v>
                </c:pt>
                <c:pt idx="27">
                  <c:v>12.08</c:v>
                </c:pt>
                <c:pt idx="28">
                  <c:v>12.08</c:v>
                </c:pt>
                <c:pt idx="29">
                  <c:v>12.08</c:v>
                </c:pt>
                <c:pt idx="30">
                  <c:v>12.08</c:v>
                </c:pt>
                <c:pt idx="31">
                  <c:v>12.08</c:v>
                </c:pt>
                <c:pt idx="32">
                  <c:v>12.08</c:v>
                </c:pt>
                <c:pt idx="33">
                  <c:v>12.08</c:v>
                </c:pt>
                <c:pt idx="34">
                  <c:v>12.08</c:v>
                </c:pt>
                <c:pt idx="35">
                  <c:v>12.08</c:v>
                </c:pt>
                <c:pt idx="36">
                  <c:v>12.08</c:v>
                </c:pt>
                <c:pt idx="37">
                  <c:v>12.08</c:v>
                </c:pt>
                <c:pt idx="38">
                  <c:v>12.08</c:v>
                </c:pt>
                <c:pt idx="39">
                  <c:v>12.08</c:v>
                </c:pt>
                <c:pt idx="40">
                  <c:v>12.08</c:v>
                </c:pt>
                <c:pt idx="41">
                  <c:v>12.08</c:v>
                </c:pt>
                <c:pt idx="42">
                  <c:v>12.08</c:v>
                </c:pt>
                <c:pt idx="43">
                  <c:v>12.08</c:v>
                </c:pt>
                <c:pt idx="44">
                  <c:v>12.08</c:v>
                </c:pt>
                <c:pt idx="45">
                  <c:v>12.08</c:v>
                </c:pt>
                <c:pt idx="46">
                  <c:v>12.08</c:v>
                </c:pt>
                <c:pt idx="47">
                  <c:v>12.08</c:v>
                </c:pt>
                <c:pt idx="48">
                  <c:v>12.28</c:v>
                </c:pt>
                <c:pt idx="49">
                  <c:v>12.45</c:v>
                </c:pt>
                <c:pt idx="50">
                  <c:v>12.48</c:v>
                </c:pt>
                <c:pt idx="51">
                  <c:v>12.49</c:v>
                </c:pt>
                <c:pt idx="52">
                  <c:v>12.49</c:v>
                </c:pt>
                <c:pt idx="53">
                  <c:v>12.49</c:v>
                </c:pt>
                <c:pt idx="54">
                  <c:v>12.49</c:v>
                </c:pt>
                <c:pt idx="55">
                  <c:v>12.49</c:v>
                </c:pt>
                <c:pt idx="56">
                  <c:v>12.49</c:v>
                </c:pt>
                <c:pt idx="57">
                  <c:v>12.49</c:v>
                </c:pt>
                <c:pt idx="58">
                  <c:v>12.49</c:v>
                </c:pt>
                <c:pt idx="59">
                  <c:v>12.49</c:v>
                </c:pt>
                <c:pt idx="60">
                  <c:v>12.49</c:v>
                </c:pt>
                <c:pt idx="61">
                  <c:v>12.49</c:v>
                </c:pt>
                <c:pt idx="62">
                  <c:v>12.49</c:v>
                </c:pt>
                <c:pt idx="63">
                  <c:v>12.49</c:v>
                </c:pt>
                <c:pt idx="64">
                  <c:v>12.49</c:v>
                </c:pt>
                <c:pt idx="65">
                  <c:v>12.49</c:v>
                </c:pt>
                <c:pt idx="66">
                  <c:v>12.49</c:v>
                </c:pt>
                <c:pt idx="67">
                  <c:v>12.49</c:v>
                </c:pt>
                <c:pt idx="68">
                  <c:v>12.49</c:v>
                </c:pt>
                <c:pt idx="69">
                  <c:v>12.49</c:v>
                </c:pt>
                <c:pt idx="70">
                  <c:v>12.49</c:v>
                </c:pt>
                <c:pt idx="71">
                  <c:v>12.49</c:v>
                </c:pt>
              </c:numCache>
            </c:numRef>
          </c:val>
          <c:smooth val="0"/>
        </c:ser>
        <c:dLbls>
          <c:numFmt formatCode="#,##0" sourceLinked="0"/>
          <c:txPr>
            <a:bodyPr/>
            <a:lstStyle/>
            <a:p>
              <a:pPr>
                <a:defRPr b="0" i="0" strike="noStrike" sz="1000" u="none">
                  <a:solidFill>
                    <a:srgbClr val="1B243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675"/>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6E9E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B667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B2430"/>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63A"/>
                </a:solidFill>
                <a:latin typeface="Calibri"/>
              </a:defRPr>
            </a:pPr>
            <a:r>
              <a:rPr sz="1300" b="0" i="0" u="none" strike="noStrike">
                <a:solidFill>
                  <a:srgbClr val="12263A"/>
                </a:solidFill>
                <a:latin typeface="Calibri"/>
              </a:rPr>
              <a:t>Critical load NOT served (kWh) — lower is better</a:t>
            </a:r>
          </a:p>
        </c:rich>
      </c:tx>
      <c:layout/>
      <c:overlay val="0"/>
    </c:title>
    <c:autoTitleDeleted val="0"/>
    <c:plotArea>
      <c:layout/>
      <c:barChart>
        <c:barDir val="col"/>
        <c:grouping val="clustered"/>
        <c:varyColors val="0"/>
        <c:ser>
          <c:idx val="0"/>
          <c:order val="0"/>
          <c:tx>
            <c:strRef>
              <c:f>Sheet1!$B$1</c:f>
              <c:strCache>
                <c:ptCount val="1"/>
                <c:pt idx="0">
                  <c:v>Equal share (baseline)</c:v>
                </c:pt>
              </c:strCache>
            </c:strRef>
          </c:tx>
          <c:spPr>
            <a:solidFill>
              <a:srgbClr val="2A78D6"/>
            </a:solidFill>
            <a:effectLst/>
          </c:spPr>
          <c:invertIfNegative val="0"/>
          <c:dLbls>
            <c:numFmt formatCode="0" sourceLinked="0"/>
            <c:txPr>
              <a:bodyPr/>
              <a:lstStyle/>
              <a:p>
                <a:pPr>
                  <a:defRPr b="0" i="0" strike="noStrike" sz="1000" u="none">
                    <a:solidFill>
                      <a:srgbClr val="1B2430"/>
                    </a:solidFill>
                    <a:latin typeface="Arial"/>
                  </a:defRPr>
                </a:pPr>
              </a:p>
            </c:txPr>
            <c:showLegendKey val="0"/>
            <c:showVal val="1"/>
            <c:showCatName val="0"/>
            <c:showSerName val="0"/>
            <c:showPercent val="0"/>
            <c:showBubbleSize val="0"/>
            <c:showLeaderLines val="0"/>
          </c:dLbls>
          <c:cat>
            <c:multiLvlStrRef>
              <c:f>Sheet1!$A$2:$A$4</c:f>
              <c:multiLvlStrCache>
                <c:ptCount val="3"/>
                <c:lvl>
                  <c:pt idx="0">
                    <c:v>Daytime grid outage</c:v>
                  </c:pt>
                  <c:pt idx="1">
                    <c:v>Cloud + outage + price spike</c:v>
                  </c:pt>
                  <c:pt idx="2">
                    <c:v>Supply ≈ half of demand</c:v>
                  </c:pt>
                </c:lvl>
              </c:multiLvlStrCache>
            </c:multiLvlStrRef>
          </c:cat>
          <c:val>
            <c:numRef>
              <c:f>Sheet1!$B$2:$B$4</c:f>
              <c:numCache>
                <c:formatCode>General</c:formatCode>
                <c:ptCount val="3"/>
                <c:pt idx="0">
                  <c:v>112.5</c:v>
                </c:pt>
                <c:pt idx="1">
                  <c:v>160.9</c:v>
                </c:pt>
                <c:pt idx="2">
                  <c:v>386.9</c:v>
                </c:pt>
              </c:numCache>
            </c:numRef>
          </c:val>
        </c:ser>
        <c:ser>
          <c:idx val="1"/>
          <c:order val="1"/>
          <c:tx>
            <c:strRef>
              <c:f>Sheet1!$C$1</c:f>
              <c:strCache>
                <c:ptCount val="1"/>
                <c:pt idx="0">
                  <c:v>Critical first</c:v>
                </c:pt>
              </c:strCache>
            </c:strRef>
          </c:tx>
          <c:spPr>
            <a:solidFill>
              <a:srgbClr val="EB6834"/>
            </a:solidFill>
            <a:effectLst/>
          </c:spPr>
          <c:invertIfNegative val="0"/>
          <c:dLbls>
            <c:numFmt formatCode="0" sourceLinked="0"/>
            <c:txPr>
              <a:bodyPr/>
              <a:lstStyle/>
              <a:p>
                <a:pPr>
                  <a:defRPr b="0" i="0" strike="noStrike" sz="1000" u="none">
                    <a:solidFill>
                      <a:srgbClr val="1B2430"/>
                    </a:solidFill>
                    <a:latin typeface="Arial"/>
                  </a:defRPr>
                </a:pPr>
              </a:p>
            </c:txPr>
            <c:showLegendKey val="0"/>
            <c:showVal val="1"/>
            <c:showCatName val="0"/>
            <c:showSerName val="0"/>
            <c:showPercent val="0"/>
            <c:showBubbleSize val="0"/>
            <c:showLeaderLines val="0"/>
          </c:dLbls>
          <c:cat>
            <c:multiLvlStrRef>
              <c:f>Sheet1!$A$2:$A$4</c:f>
              <c:multiLvlStrCache>
                <c:ptCount val="3"/>
                <c:lvl>
                  <c:pt idx="0">
                    <c:v>Daytime grid outage</c:v>
                  </c:pt>
                  <c:pt idx="1">
                    <c:v>Cloud + outage + price spike</c:v>
                  </c:pt>
                  <c:pt idx="2">
                    <c:v>Supply ≈ half of demand</c:v>
                  </c:pt>
                </c:lvl>
              </c:multiLvlStrCache>
            </c:multiLvlStrRef>
          </c:cat>
          <c:val>
            <c:numRef>
              <c:f>Sheet1!$C$2:$C$4</c:f>
              <c:numCache>
                <c:formatCode>General</c:formatCode>
                <c:ptCount val="3"/>
                <c:pt idx="0">
                  <c:v>31.7</c:v>
                </c:pt>
                <c:pt idx="1">
                  <c:v>54.7</c:v>
                </c:pt>
                <c:pt idx="2">
                  <c:v>53.7</c:v>
                </c:pt>
              </c:numCache>
            </c:numRef>
          </c:val>
        </c:ser>
        <c:ser>
          <c:idx val="2"/>
          <c:order val="2"/>
          <c:tx>
            <c:strRef>
              <c:f>Sheet1!$D$1</c:f>
              <c:strCache>
                <c:ptCount val="1"/>
                <c:pt idx="0">
                  <c:v>GridWeave (full)</c:v>
                </c:pt>
              </c:strCache>
            </c:strRef>
          </c:tx>
          <c:spPr>
            <a:solidFill>
              <a:srgbClr val="1BAF7A"/>
            </a:solidFill>
            <a:effectLst/>
          </c:spPr>
          <c:invertIfNegative val="0"/>
          <c:dLbls>
            <c:numFmt formatCode="0" sourceLinked="0"/>
            <c:txPr>
              <a:bodyPr/>
              <a:lstStyle/>
              <a:p>
                <a:pPr>
                  <a:defRPr b="0" i="0" strike="noStrike" sz="1000" u="none">
                    <a:solidFill>
                      <a:srgbClr val="1B2430"/>
                    </a:solidFill>
                    <a:latin typeface="Arial"/>
                  </a:defRPr>
                </a:pPr>
              </a:p>
            </c:txPr>
            <c:showLegendKey val="0"/>
            <c:showVal val="1"/>
            <c:showCatName val="0"/>
            <c:showSerName val="0"/>
            <c:showPercent val="0"/>
            <c:showBubbleSize val="0"/>
            <c:showLeaderLines val="0"/>
          </c:dLbls>
          <c:cat>
            <c:multiLvlStrRef>
              <c:f>Sheet1!$A$2:$A$4</c:f>
              <c:multiLvlStrCache>
                <c:ptCount val="3"/>
                <c:lvl>
                  <c:pt idx="0">
                    <c:v>Daytime grid outage</c:v>
                  </c:pt>
                  <c:pt idx="1">
                    <c:v>Cloud + outage + price spike</c:v>
                  </c:pt>
                  <c:pt idx="2">
                    <c:v>Supply ≈ half of demand</c:v>
                  </c:pt>
                </c:lvl>
              </c:multiLvlStrCache>
            </c:multiLvlStrRef>
          </c:cat>
          <c:val>
            <c:numRef>
              <c:f>Sheet1!$D$2:$D$4</c:f>
              <c:numCache>
                <c:formatCode>General</c:formatCode>
                <c:ptCount val="3"/>
                <c:pt idx="0">
                  <c:v>29.9</c:v>
                </c:pt>
                <c:pt idx="1">
                  <c:v>51.5</c:v>
                </c:pt>
                <c:pt idx="2">
                  <c:v>46.8</c:v>
                </c:pt>
              </c:numCache>
            </c:numRef>
          </c:val>
        </c:ser>
        <c:dLbls>
          <c:numFmt formatCode="0" sourceLinked="0"/>
          <c:txPr>
            <a:bodyPr/>
            <a:lstStyle/>
            <a:p>
              <a:pPr>
                <a:defRPr b="0" i="0" strike="noStrike" sz="1000" u="none">
                  <a:solidFill>
                    <a:srgbClr val="1B243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67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9E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B667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B243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GridWeave: a multi-agent simulation of a campus that has less electricity than it sometimes needs. Buildings are agents that forecast and bid; a market decides who gets power; supply agents offer grid, solar and battery power; a coordinator runs the campus in 15-minute slots.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come from our synthetic 5-building campus. The grid alone cannot carry the daytime peak, so the campus depends on solar and a battery, and when any of them fails the market must 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workstream is one type of agent. They only communicate through shared, validated message types (bids, offers, allocations, dispatch, settlements), so each part can be developed and tested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is measured against the demand that actually happened, not against the bid. That is what makes forecasting errors matter. Critical-load shortfall is the most important safety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agent has a clear PEAS. The market is the only agent that maximises a utility function; the battery is the most sophisticated supply agent because it tracks both its charge and the cost of the energy it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observability is why the building needs a forecasting model: it must predict its own next 15 minutes to bid. The environment is sequential because postponed energy and battery charge link one slot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building agent is model-based: it holds internal state and uses a learned model of its demand. The market is the utility-based part. Explain why a simple reflex agent is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loop the coordinator runs 96 times a day. Every message between agents is a typed, validated object, and the coordinator checks each clearing and dispatch before anything is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learned model is a small supervised regression, trained per building. On held-out data its mean absolute error for the next slot is 3.51 kW, versus 4.74 kW for the best baseline, and the noise floor of the data is about 3.0 kW.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bid carries an explanation of how its priority and price were computed, so each decision can be traced. Demand response only ever gives up flexible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search and optimisation happens: a constrained welfare maximisation. Because the utilities are concave and piecewise linear, sorting the utility segments and filling greedily gives the optimal solution in O(N log N). Dispatch is a merit-order search over supply offers.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battery agent chooses when to be used through its price. Because its offer reflects the true cost of its stored energy, the market's merit-order dispatch only picks it when the grid is more expensive, which is the evening peak, or when the grid is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gain comes from protecting critical load first. The full GridWeave mode, the welfare-maximising market plus demand response, improves on that by another 6 to 13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assumptions before being asked. The full list of viva one-liners is in docs/DESIGN.md section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three contributions.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A"/>
        </a:solidFill>
      </p:bgPr>
    </p:bg>
    <p:spTree>
      <p:nvGrpSpPr>
        <p:cNvPr id="1" name=""/>
        <p:cNvGrpSpPr/>
        <p:nvPr/>
      </p:nvGrpSpPr>
      <p:grpSpPr>
        <a:xfrm>
          <a:off x="0" y="0"/>
          <a:ext cx="0" cy="0"/>
          <a:chOff x="0" y="0"/>
          <a:chExt cx="0" cy="0"/>
        </a:xfrm>
      </p:grpSpPr>
      <p:sp>
        <p:nvSpPr>
          <p:cNvPr id="2" name="Text 0"/>
          <p:cNvSpPr txBox="1"/>
          <p:nvPr/>
        </p:nvSpPr>
        <p:spPr>
          <a:xfrm>
            <a:off x="731520" y="1097280"/>
            <a:ext cx="5486400" cy="365760"/>
          </a:xfrm>
          <a:prstGeom prst="rect">
            <a:avLst/>
          </a:prstGeom>
          <a:noFill/>
          <a:ln/>
        </p:spPr>
        <p:txBody>
          <a:bodyPr wrap="square" lIns="0" tIns="0" rIns="0" bIns="0" rtlCol="0" anchor="t"/>
          <a:lstStyle/>
          <a:p>
            <a:pPr indent="0" marL="0">
              <a:buNone/>
            </a:pPr>
            <a:r>
              <a:rPr lang="en-US" sz="1600" b="1" spc="400" kern="0" dirty="0">
                <a:solidFill>
                  <a:srgbClr val="F2A541"/>
                </a:solidFill>
                <a:latin typeface="Calibri" pitchFamily="34" charset="0"/>
                <a:ea typeface="Calibri" pitchFamily="34" charset="-122"/>
                <a:cs typeface="Calibri" pitchFamily="34" charset="-120"/>
              </a:rPr>
              <a:t>REVIEW 1</a:t>
            </a:r>
            <a:endParaRPr lang="en-US" sz="1600" dirty="0"/>
          </a:p>
        </p:txBody>
      </p:sp>
      <p:sp>
        <p:nvSpPr>
          <p:cNvPr id="3" name="Text 1"/>
          <p:cNvSpPr txBox="1"/>
          <p:nvPr/>
        </p:nvSpPr>
        <p:spPr>
          <a:xfrm>
            <a:off x="731520" y="1554480"/>
            <a:ext cx="10058400" cy="109728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GridWeave</a:t>
            </a:r>
            <a:endParaRPr lang="en-US" sz="6000" dirty="0"/>
          </a:p>
        </p:txBody>
      </p:sp>
      <p:sp>
        <p:nvSpPr>
          <p:cNvPr id="4" name="Text 2"/>
          <p:cNvSpPr txBox="1"/>
          <p:nvPr/>
        </p:nvSpPr>
        <p:spPr>
          <a:xfrm>
            <a:off x="731520" y="2697480"/>
            <a:ext cx="10241280" cy="822960"/>
          </a:xfrm>
          <a:prstGeom prst="rect">
            <a:avLst/>
          </a:prstGeom>
          <a:noFill/>
          <a:ln/>
        </p:spPr>
        <p:txBody>
          <a:bodyPr wrap="square" lIns="0" tIns="0" rIns="0" bIns="0" rtlCol="0" anchor="t"/>
          <a:lstStyle/>
          <a:p>
            <a:pPr indent="0" marL="0">
              <a:buNone/>
            </a:pPr>
            <a:r>
              <a:rPr lang="en-US" sz="2400" dirty="0">
                <a:solidFill>
                  <a:srgbClr val="CADCFC"/>
                </a:solidFill>
                <a:latin typeface="Calibri" pitchFamily="34" charset="0"/>
                <a:ea typeface="Calibri" pitchFamily="34" charset="-122"/>
                <a:cs typeface="Calibri" pitchFamily="34" charset="-120"/>
              </a:rPr>
              <a:t>Multi-Agent Auction-Based Campus Energy Management &amp; Demand Response</a:t>
            </a:r>
            <a:endParaRPr lang="en-US" sz="2400" dirty="0"/>
          </a:p>
        </p:txBody>
      </p:sp>
      <p:sp>
        <p:nvSpPr>
          <p:cNvPr id="5" name="Text 3"/>
          <p:cNvSpPr txBox="1"/>
          <p:nvPr/>
        </p:nvSpPr>
        <p:spPr>
          <a:xfrm>
            <a:off x="731520" y="3749040"/>
            <a:ext cx="10515600" cy="457200"/>
          </a:xfrm>
          <a:prstGeom prst="rect">
            <a:avLst/>
          </a:prstGeom>
          <a:noFill/>
          <a:ln/>
        </p:spPr>
        <p:txBody>
          <a:bodyPr wrap="square" lIns="0" tIns="0" rIns="0" bIns="0" rtlCol="0" anchor="t"/>
          <a:lstStyle/>
          <a:p>
            <a:pPr indent="0" marL="0">
              <a:buNone/>
            </a:pPr>
            <a:r>
              <a:rPr lang="en-US" sz="1500" dirty="0">
                <a:solidFill>
                  <a:srgbClr val="F2A541"/>
                </a:solidFill>
                <a:latin typeface="Calibri" pitchFamily="34" charset="0"/>
                <a:ea typeface="Calibri" pitchFamily="34" charset="-122"/>
                <a:cs typeface="Calibri" pitchFamily="34" charset="-120"/>
              </a:rPr>
              <a:t>PEAS Formulation  ·  Environment &amp; Agent Analysis  ·  Algorithmic Modeling &amp; Search Strategy</a:t>
            </a:r>
            <a:endParaRPr lang="en-US" sz="1500" dirty="0"/>
          </a:p>
        </p:txBody>
      </p:sp>
      <p:sp>
        <p:nvSpPr>
          <p:cNvPr id="6" name="Text 4"/>
          <p:cNvSpPr txBox="1"/>
          <p:nvPr/>
        </p:nvSpPr>
        <p:spPr>
          <a:xfrm>
            <a:off x="731520" y="5760720"/>
            <a:ext cx="10515600" cy="365760"/>
          </a:xfrm>
          <a:prstGeom prst="rect">
            <a:avLst/>
          </a:prstGeom>
          <a:noFill/>
          <a:ln/>
        </p:spPr>
        <p:txBody>
          <a:bodyPr wrap="square" lIns="0" tIns="0" rIns="0" bIns="0" rtlCol="0" anchor="t"/>
          <a:lstStyle/>
          <a:p>
            <a:pPr indent="0" marL="0">
              <a:buNone/>
            </a:pPr>
            <a:r>
              <a:rPr lang="en-US" sz="1300" dirty="0">
                <a:solidFill>
                  <a:srgbClr val="AFC3DA"/>
                </a:solidFill>
                <a:latin typeface="Calibri" pitchFamily="34" charset="0"/>
                <a:ea typeface="Calibri" pitchFamily="34" charset="-122"/>
                <a:cs typeface="Calibri" pitchFamily="34" charset="-120"/>
              </a:rPr>
              <a:t>Shantharam P   ·   Gauri Nandana S Pai   ·   Akshitha   ·   akolla646</a:t>
            </a:r>
            <a:endParaRPr lang="en-US" sz="1300" dirty="0"/>
          </a:p>
        </p:txBody>
      </p:sp>
      <p:sp>
        <p:nvSpPr>
          <p:cNvPr id="7" name="Shape 5"/>
          <p:cNvSpPr/>
          <p:nvPr/>
        </p:nvSpPr>
        <p:spPr>
          <a:xfrm>
            <a:off x="10332720" y="1097280"/>
            <a:ext cx="1097280" cy="1097280"/>
          </a:xfrm>
          <a:prstGeom prst="ellipse">
            <a:avLst/>
          </a:prstGeom>
          <a:solidFill>
            <a:srgbClr val="F2A541"/>
          </a:solidFill>
          <a:ln w="12700">
            <a:solidFill>
              <a:srgbClr val="F2A541"/>
            </a:solidFill>
            <a:prstDash val="solid"/>
          </a:ln>
        </p:spPr>
      </p:sp>
      <p:pic>
        <p:nvPicPr>
          <p:cNvPr id="8" name="Image 0" descr="preencoded.png">    </p:cNvPr>
          <p:cNvPicPr>
            <a:picLocks noChangeAspect="1"/>
          </p:cNvPicPr>
          <p:nvPr/>
        </p:nvPicPr>
        <p:blipFill>
          <a:blip r:embed="rId1"/>
          <a:stretch>
            <a:fillRect/>
          </a:stretch>
        </p:blipFill>
        <p:spPr>
          <a:xfrm>
            <a:off x="10596067" y="1360627"/>
            <a:ext cx="570586" cy="5705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595360" cy="685800"/>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The Problem &amp; Our Approach</a:t>
            </a:r>
            <a:endParaRPr lang="en-US" sz="30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i="1" dirty="0">
                <a:solidFill>
                  <a:srgbClr val="5B6675"/>
                </a:solidFill>
                <a:latin typeface="Calibri" pitchFamily="34" charset="0"/>
                <a:ea typeface="Calibri" pitchFamily="34" charset="-122"/>
                <a:cs typeface="Calibri" pitchFamily="34" charset="-120"/>
              </a:rPr>
              <a:t>A campus whose supply cannot always meet demand — who gets power, and how is it decided?</a:t>
            </a:r>
            <a:endParaRPr lang="en-US" sz="1400" dirty="0"/>
          </a:p>
        </p:txBody>
      </p:sp>
      <p:sp>
        <p:nvSpPr>
          <p:cNvPr id="4" name="Text 2"/>
          <p:cNvSpPr txBox="1"/>
          <p:nvPr/>
        </p:nvSpPr>
        <p:spPr>
          <a:xfrm>
            <a:off x="548640" y="1600200"/>
            <a:ext cx="2377440" cy="685800"/>
          </a:xfrm>
          <a:prstGeom prst="rect">
            <a:avLst/>
          </a:prstGeom>
          <a:noFill/>
          <a:ln/>
        </p:spPr>
        <p:txBody>
          <a:bodyPr wrap="square" lIns="0" tIns="0" rIns="0" bIns="0" rtlCol="0" anchor="t"/>
          <a:lstStyle/>
          <a:p>
            <a:pPr indent="0" marL="0">
              <a:buNone/>
            </a:pPr>
            <a:r>
              <a:rPr lang="en-US" sz="3800" b="1" dirty="0">
                <a:solidFill>
                  <a:srgbClr val="12263A"/>
                </a:solidFill>
                <a:latin typeface="Cambria" pitchFamily="34" charset="0"/>
                <a:ea typeface="Cambria" pitchFamily="34" charset="-122"/>
                <a:cs typeface="Cambria" pitchFamily="34" charset="-120"/>
              </a:rPr>
              <a:t>420 kW</a:t>
            </a:r>
            <a:endParaRPr lang="en-US" sz="3800" dirty="0"/>
          </a:p>
        </p:txBody>
      </p:sp>
      <p:sp>
        <p:nvSpPr>
          <p:cNvPr id="5" name="Text 3"/>
          <p:cNvSpPr txBox="1"/>
          <p:nvPr/>
        </p:nvSpPr>
        <p:spPr>
          <a:xfrm>
            <a:off x="548640" y="2313432"/>
            <a:ext cx="2377440" cy="548640"/>
          </a:xfrm>
          <a:prstGeom prst="rect">
            <a:avLst/>
          </a:prstGeom>
          <a:noFill/>
          <a:ln/>
        </p:spPr>
        <p:txBody>
          <a:bodyPr wrap="square" lIns="0" tIns="0" rIns="0" bIns="0" rtlCol="0" anchor="t"/>
          <a:lstStyle/>
          <a:p>
            <a:pPr indent="0" marL="0">
              <a:buNone/>
            </a:pPr>
            <a:r>
              <a:rPr lang="en-US" sz="1250" dirty="0">
                <a:solidFill>
                  <a:srgbClr val="5B6675"/>
                </a:solidFill>
                <a:latin typeface="Calibri" pitchFamily="34" charset="0"/>
                <a:ea typeface="Calibri" pitchFamily="34" charset="-122"/>
                <a:cs typeface="Calibri" pitchFamily="34" charset="-120"/>
              </a:rPr>
              <a:t>peak campus demand (09:00–17:00)</a:t>
            </a:r>
            <a:endParaRPr lang="en-US" sz="1250" dirty="0"/>
          </a:p>
        </p:txBody>
      </p:sp>
      <p:sp>
        <p:nvSpPr>
          <p:cNvPr id="6" name="Text 4"/>
          <p:cNvSpPr txBox="1"/>
          <p:nvPr/>
        </p:nvSpPr>
        <p:spPr>
          <a:xfrm>
            <a:off x="3063240" y="1600200"/>
            <a:ext cx="2651760" cy="685800"/>
          </a:xfrm>
          <a:prstGeom prst="rect">
            <a:avLst/>
          </a:prstGeom>
          <a:noFill/>
          <a:ln/>
        </p:spPr>
        <p:txBody>
          <a:bodyPr wrap="square" lIns="0" tIns="0" rIns="0" bIns="0" rtlCol="0" anchor="t"/>
          <a:lstStyle/>
          <a:p>
            <a:pPr indent="0" marL="0">
              <a:buNone/>
            </a:pPr>
            <a:r>
              <a:rPr lang="en-US" sz="3800" b="1" dirty="0">
                <a:solidFill>
                  <a:srgbClr val="1F7A8C"/>
                </a:solidFill>
                <a:latin typeface="Cambria" pitchFamily="34" charset="0"/>
                <a:ea typeface="Cambria" pitchFamily="34" charset="-122"/>
                <a:cs typeface="Cambria" pitchFamily="34" charset="-120"/>
              </a:rPr>
              <a:t>250 kW</a:t>
            </a:r>
            <a:endParaRPr lang="en-US" sz="3800" dirty="0"/>
          </a:p>
        </p:txBody>
      </p:sp>
      <p:sp>
        <p:nvSpPr>
          <p:cNvPr id="7" name="Text 5"/>
          <p:cNvSpPr txBox="1"/>
          <p:nvPr/>
        </p:nvSpPr>
        <p:spPr>
          <a:xfrm>
            <a:off x="3063240" y="2313432"/>
            <a:ext cx="2651760" cy="548640"/>
          </a:xfrm>
          <a:prstGeom prst="rect">
            <a:avLst/>
          </a:prstGeom>
          <a:noFill/>
          <a:ln/>
        </p:spPr>
        <p:txBody>
          <a:bodyPr wrap="square" lIns="0" tIns="0" rIns="0" bIns="0" rtlCol="0" anchor="t"/>
          <a:lstStyle/>
          <a:p>
            <a:pPr indent="0" marL="0">
              <a:buNone/>
            </a:pPr>
            <a:r>
              <a:rPr lang="en-US" sz="1250" dirty="0">
                <a:solidFill>
                  <a:srgbClr val="5B6675"/>
                </a:solidFill>
                <a:latin typeface="Calibri" pitchFamily="34" charset="0"/>
                <a:ea typeface="Calibri" pitchFamily="34" charset="-122"/>
                <a:cs typeface="Calibri" pitchFamily="34" charset="-120"/>
              </a:rPr>
              <a:t>grid connection — the rest must come from solar + battery</a:t>
            </a:r>
            <a:endParaRPr lang="en-US" sz="1250" dirty="0"/>
          </a:p>
        </p:txBody>
      </p:sp>
      <p:sp>
        <p:nvSpPr>
          <p:cNvPr id="8" name="Text 6"/>
          <p:cNvSpPr txBox="1"/>
          <p:nvPr/>
        </p:nvSpPr>
        <p:spPr>
          <a:xfrm>
            <a:off x="5806440" y="1600200"/>
            <a:ext cx="2560320" cy="685800"/>
          </a:xfrm>
          <a:prstGeom prst="rect">
            <a:avLst/>
          </a:prstGeom>
          <a:noFill/>
          <a:ln/>
        </p:spPr>
        <p:txBody>
          <a:bodyPr wrap="square" lIns="0" tIns="0" rIns="0" bIns="0" rtlCol="0" anchor="t"/>
          <a:lstStyle/>
          <a:p>
            <a:pPr indent="0" marL="0">
              <a:buNone/>
            </a:pPr>
            <a:r>
              <a:rPr lang="en-US" sz="3800" b="1" dirty="0">
                <a:solidFill>
                  <a:srgbClr val="D64545"/>
                </a:solidFill>
                <a:latin typeface="Cambria" pitchFamily="34" charset="0"/>
                <a:ea typeface="Cambria" pitchFamily="34" charset="-122"/>
                <a:cs typeface="Cambria" pitchFamily="34" charset="-120"/>
              </a:rPr>
              <a:t>185 kW</a:t>
            </a:r>
            <a:endParaRPr lang="en-US" sz="3800" dirty="0"/>
          </a:p>
        </p:txBody>
      </p:sp>
      <p:sp>
        <p:nvSpPr>
          <p:cNvPr id="9" name="Text 7"/>
          <p:cNvSpPr txBox="1"/>
          <p:nvPr/>
        </p:nvSpPr>
        <p:spPr>
          <a:xfrm>
            <a:off x="5806440" y="2313432"/>
            <a:ext cx="2560320" cy="548640"/>
          </a:xfrm>
          <a:prstGeom prst="rect">
            <a:avLst/>
          </a:prstGeom>
          <a:noFill/>
          <a:ln/>
        </p:spPr>
        <p:txBody>
          <a:bodyPr wrap="square" lIns="0" tIns="0" rIns="0" bIns="0" rtlCol="0" anchor="t"/>
          <a:lstStyle/>
          <a:p>
            <a:pPr indent="0" marL="0">
              <a:buNone/>
            </a:pPr>
            <a:r>
              <a:rPr lang="en-US" sz="1250" dirty="0">
                <a:solidFill>
                  <a:srgbClr val="5B6675"/>
                </a:solidFill>
                <a:latin typeface="Calibri" pitchFamily="34" charset="0"/>
                <a:ea typeface="Calibri" pitchFamily="34" charset="-122"/>
                <a:cs typeface="Calibri" pitchFamily="34" charset="-120"/>
              </a:rPr>
              <a:t>critical load (labs, safety) that must stay on</a:t>
            </a:r>
            <a:endParaRPr lang="en-US" sz="1250" dirty="0"/>
          </a:p>
        </p:txBody>
      </p:sp>
      <p:sp>
        <p:nvSpPr>
          <p:cNvPr id="10" name="Shape 8"/>
          <p:cNvSpPr/>
          <p:nvPr/>
        </p:nvSpPr>
        <p:spPr>
          <a:xfrm>
            <a:off x="548640" y="3063240"/>
            <a:ext cx="7863840" cy="3246120"/>
          </a:xfrm>
          <a:prstGeom prst="roundRect">
            <a:avLst>
              <a:gd name="adj" fmla="val 3380"/>
            </a:avLst>
          </a:prstGeom>
          <a:solidFill>
            <a:srgbClr val="F3F6F9"/>
          </a:solidFill>
          <a:ln w="12700">
            <a:solidFill>
              <a:srgbClr val="F3F6F9"/>
            </a:solidFill>
            <a:prstDash val="solid"/>
          </a:ln>
        </p:spPr>
      </p:sp>
      <p:sp>
        <p:nvSpPr>
          <p:cNvPr id="11" name="Text 9"/>
          <p:cNvSpPr txBox="1"/>
          <p:nvPr/>
        </p:nvSpPr>
        <p:spPr>
          <a:xfrm>
            <a:off x="777240" y="3200400"/>
            <a:ext cx="7498080" cy="36576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Our approach: a market of autonomous agents</a:t>
            </a:r>
            <a:endParaRPr lang="en-US" sz="1600" dirty="0"/>
          </a:p>
        </p:txBody>
      </p:sp>
      <p:sp>
        <p:nvSpPr>
          <p:cNvPr id="12" name="Text 10"/>
          <p:cNvSpPr txBox="1"/>
          <p:nvPr/>
        </p:nvSpPr>
        <p:spPr>
          <a:xfrm>
            <a:off x="777240" y="3703320"/>
            <a:ext cx="7452360" cy="2560320"/>
          </a:xfrm>
          <a:prstGeom prst="rect">
            <a:avLst/>
          </a:prstGeom>
          <a:noFill/>
          <a:ln/>
        </p:spPr>
        <p:txBody>
          <a:bodyPr wrap="square" lIns="0" tIns="0" rIns="0" bIns="0" rtlCol="0" anchor="t"/>
          <a:lstStyle/>
          <a:p>
            <a:pPr marL="203200" indent="-203200">
              <a:spcAft>
                <a:spcPts val="600"/>
              </a:spcAft>
              <a:buSzPct val="100000"/>
              <a:buChar char="•"/>
            </a:pPr>
            <a:r>
              <a:rPr lang="en-US" sz="1550" dirty="0">
                <a:solidFill>
                  <a:srgbClr val="1B2430"/>
                </a:solidFill>
                <a:latin typeface="Calibri" pitchFamily="34" charset="0"/>
                <a:ea typeface="Calibri" pitchFamily="34" charset="-122"/>
                <a:cs typeface="Calibri" pitchFamily="34" charset="-120"/>
              </a:rPr>
              <a:t>Each building forecasts its own demand and bids for power, separating critical from flexible load</a:t>
            </a:r>
            <a:endParaRPr lang="en-US" sz="1550" dirty="0"/>
          </a:p>
          <a:p>
            <a:pPr marL="203200" indent="-203200">
              <a:spcAft>
                <a:spcPts val="600"/>
              </a:spcAft>
              <a:buSzPct val="100000"/>
              <a:buChar char="•"/>
            </a:pPr>
            <a:r>
              <a:rPr lang="en-US" sz="1550" dirty="0">
                <a:solidFill>
                  <a:srgbClr val="1B2430"/>
                </a:solidFill>
                <a:latin typeface="Calibri" pitchFamily="34" charset="0"/>
                <a:ea typeface="Calibri" pitchFamily="34" charset="-122"/>
                <a:cs typeface="Calibri" pitchFamily="34" charset="-120"/>
              </a:rPr>
              <a:t>Grid, solar and battery agents offer power with limits and prices</a:t>
            </a:r>
            <a:endParaRPr lang="en-US" sz="1550" dirty="0"/>
          </a:p>
          <a:p>
            <a:pPr marL="203200" indent="-203200">
              <a:spcAft>
                <a:spcPts val="600"/>
              </a:spcAft>
              <a:buSzPct val="100000"/>
              <a:buChar char="•"/>
            </a:pPr>
            <a:r>
              <a:rPr lang="en-US" sz="1550" dirty="0">
                <a:solidFill>
                  <a:srgbClr val="1B2430"/>
                </a:solidFill>
                <a:latin typeface="Calibri" pitchFamily="34" charset="0"/>
                <a:ea typeface="Calibri" pitchFamily="34" charset="-122"/>
                <a:cs typeface="Calibri" pitchFamily="34" charset="-120"/>
              </a:rPr>
              <a:t>A market allocates supply: critical load first, cheapest sources first</a:t>
            </a:r>
            <a:endParaRPr lang="en-US" sz="1550" dirty="0"/>
          </a:p>
          <a:p>
            <a:pPr marL="203200" indent="-203200">
              <a:spcAft>
                <a:spcPts val="600"/>
              </a:spcAft>
              <a:buSzPct val="100000"/>
              <a:buChar char="•"/>
            </a:pPr>
            <a:r>
              <a:rPr lang="en-US" sz="1550" dirty="0">
                <a:solidFill>
                  <a:srgbClr val="1B2430"/>
                </a:solidFill>
                <a:latin typeface="Calibri" pitchFamily="34" charset="0"/>
                <a:ea typeface="Calibri" pitchFamily="34" charset="-122"/>
                <a:cs typeface="Calibri" pitchFamily="34" charset="-120"/>
              </a:rPr>
              <a:t>When supply is short, buildings re-bid and give up flexible load (demand response)</a:t>
            </a:r>
            <a:endParaRPr lang="en-US" sz="1550" dirty="0"/>
          </a:p>
          <a:p>
            <a:pPr marL="203200" indent="-203200">
              <a:spcAft>
                <a:spcPts val="600"/>
              </a:spcAft>
              <a:buSzPct val="100000"/>
              <a:buChar char="•"/>
            </a:pPr>
            <a:r>
              <a:rPr lang="en-US" sz="1550" dirty="0">
                <a:solidFill>
                  <a:srgbClr val="1B2430"/>
                </a:solidFill>
                <a:latin typeface="Calibri" pitchFamily="34" charset="0"/>
                <a:ea typeface="Calibri" pitchFamily="34" charset="-122"/>
                <a:cs typeface="Calibri" pitchFamily="34" charset="-120"/>
              </a:rPr>
              <a:t>After each 15-minute slot, buildings settle against what they really needed</a:t>
            </a:r>
            <a:endParaRPr lang="en-US" sz="1550" dirty="0"/>
          </a:p>
        </p:txBody>
      </p:sp>
      <p:sp>
        <p:nvSpPr>
          <p:cNvPr id="13" name="Shape 11"/>
          <p:cNvSpPr/>
          <p:nvPr/>
        </p:nvSpPr>
        <p:spPr>
          <a:xfrm>
            <a:off x="8732520" y="1600200"/>
            <a:ext cx="2926080" cy="868680"/>
          </a:xfrm>
          <a:prstGeom prst="roundRect">
            <a:avLst>
              <a:gd name="adj" fmla="val 12632"/>
            </a:avLst>
          </a:prstGeom>
          <a:solidFill>
            <a:srgbClr val="2A78D6"/>
          </a:solidFill>
          <a:ln w="12700">
            <a:solidFill>
              <a:srgbClr val="2A78D6"/>
            </a:solidFill>
            <a:prstDash val="solid"/>
          </a:ln>
        </p:spPr>
      </p:sp>
      <p:pic>
        <p:nvPicPr>
          <p:cNvPr id="14" name="Image 0" descr="preencoded.png">    </p:cNvPr>
          <p:cNvPicPr>
            <a:picLocks noChangeAspect="1"/>
          </p:cNvPicPr>
          <p:nvPr/>
        </p:nvPicPr>
        <p:blipFill>
          <a:blip r:embed="rId1"/>
          <a:stretch>
            <a:fillRect/>
          </a:stretch>
        </p:blipFill>
        <p:spPr>
          <a:xfrm>
            <a:off x="8915400" y="1819656"/>
            <a:ext cx="420624" cy="420624"/>
          </a:xfrm>
          <a:prstGeom prst="rect">
            <a:avLst/>
          </a:prstGeom>
        </p:spPr>
      </p:pic>
      <p:sp>
        <p:nvSpPr>
          <p:cNvPr id="15" name="Text 12"/>
          <p:cNvSpPr txBox="1"/>
          <p:nvPr/>
        </p:nvSpPr>
        <p:spPr>
          <a:xfrm>
            <a:off x="9464040" y="1600200"/>
            <a:ext cx="2103120" cy="8686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Building agents ×5</a:t>
            </a:r>
            <a:endParaRPr lang="en-US" sz="1400" dirty="0"/>
          </a:p>
        </p:txBody>
      </p:sp>
      <p:sp>
        <p:nvSpPr>
          <p:cNvPr id="16" name="Text 13"/>
          <p:cNvSpPr txBox="1"/>
          <p:nvPr/>
        </p:nvSpPr>
        <p:spPr>
          <a:xfrm>
            <a:off x="8732520" y="2468880"/>
            <a:ext cx="2926080" cy="320040"/>
          </a:xfrm>
          <a:prstGeom prst="rect">
            <a:avLst/>
          </a:prstGeom>
          <a:noFill/>
          <a:ln/>
        </p:spPr>
        <p:txBody>
          <a:bodyPr wrap="square" lIns="0" tIns="0" rIns="0" bIns="0" rtlCol="0" anchor="ctr"/>
          <a:lstStyle/>
          <a:p>
            <a:pPr algn="ctr" indent="0" marL="0">
              <a:buNone/>
            </a:pPr>
            <a:r>
              <a:rPr lang="en-US" sz="1050" dirty="0">
                <a:solidFill>
                  <a:srgbClr val="5B6675"/>
                </a:solidFill>
                <a:latin typeface="Calibri" pitchFamily="34" charset="0"/>
                <a:ea typeface="Calibri" pitchFamily="34" charset="-122"/>
                <a:cs typeface="Calibri" pitchFamily="34" charset="-120"/>
              </a:rPr>
              <a:t>bids ↓</a:t>
            </a:r>
            <a:endParaRPr lang="en-US" sz="1050" dirty="0"/>
          </a:p>
        </p:txBody>
      </p:sp>
      <p:sp>
        <p:nvSpPr>
          <p:cNvPr id="17" name="Shape 14"/>
          <p:cNvSpPr/>
          <p:nvPr/>
        </p:nvSpPr>
        <p:spPr>
          <a:xfrm>
            <a:off x="8732520" y="2788920"/>
            <a:ext cx="2926080" cy="868680"/>
          </a:xfrm>
          <a:prstGeom prst="roundRect">
            <a:avLst>
              <a:gd name="adj" fmla="val 12632"/>
            </a:avLst>
          </a:prstGeom>
          <a:solidFill>
            <a:srgbClr val="12263A"/>
          </a:solidFill>
          <a:ln w="12700">
            <a:solidFill>
              <a:srgbClr val="12263A"/>
            </a:solidFill>
            <a:prstDash val="solid"/>
          </a:ln>
        </p:spPr>
      </p:sp>
      <p:pic>
        <p:nvPicPr>
          <p:cNvPr id="18" name="Image 1" descr="preencoded.png">    </p:cNvPr>
          <p:cNvPicPr>
            <a:picLocks noChangeAspect="1"/>
          </p:cNvPicPr>
          <p:nvPr/>
        </p:nvPicPr>
        <p:blipFill>
          <a:blip r:embed="rId2"/>
          <a:stretch>
            <a:fillRect/>
          </a:stretch>
        </p:blipFill>
        <p:spPr>
          <a:xfrm>
            <a:off x="8915400" y="3008376"/>
            <a:ext cx="420624" cy="420624"/>
          </a:xfrm>
          <a:prstGeom prst="rect">
            <a:avLst/>
          </a:prstGeom>
        </p:spPr>
      </p:pic>
      <p:sp>
        <p:nvSpPr>
          <p:cNvPr id="19" name="Text 15"/>
          <p:cNvSpPr txBox="1"/>
          <p:nvPr/>
        </p:nvSpPr>
        <p:spPr>
          <a:xfrm>
            <a:off x="9464040" y="2788920"/>
            <a:ext cx="2103120" cy="8686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Market (auction)</a:t>
            </a:r>
            <a:endParaRPr lang="en-US" sz="1400" dirty="0"/>
          </a:p>
        </p:txBody>
      </p:sp>
      <p:sp>
        <p:nvSpPr>
          <p:cNvPr id="20" name="Text 16"/>
          <p:cNvSpPr txBox="1"/>
          <p:nvPr/>
        </p:nvSpPr>
        <p:spPr>
          <a:xfrm>
            <a:off x="8732520" y="3657600"/>
            <a:ext cx="2926080" cy="320040"/>
          </a:xfrm>
          <a:prstGeom prst="rect">
            <a:avLst/>
          </a:prstGeom>
          <a:noFill/>
          <a:ln/>
        </p:spPr>
        <p:txBody>
          <a:bodyPr wrap="square" lIns="0" tIns="0" rIns="0" bIns="0" rtlCol="0" anchor="ctr"/>
          <a:lstStyle/>
          <a:p>
            <a:pPr algn="ctr" indent="0" marL="0">
              <a:buNone/>
            </a:pPr>
            <a:r>
              <a:rPr lang="en-US" sz="1050" dirty="0">
                <a:solidFill>
                  <a:srgbClr val="5B6675"/>
                </a:solidFill>
                <a:latin typeface="Calibri" pitchFamily="34" charset="0"/>
                <a:ea typeface="Calibri" pitchFamily="34" charset="-122"/>
                <a:cs typeface="Calibri" pitchFamily="34" charset="-120"/>
              </a:rPr>
              <a:t>allocations &amp; dispatch ↓</a:t>
            </a:r>
            <a:endParaRPr lang="en-US" sz="1050" dirty="0"/>
          </a:p>
        </p:txBody>
      </p:sp>
      <p:sp>
        <p:nvSpPr>
          <p:cNvPr id="21" name="Shape 17"/>
          <p:cNvSpPr/>
          <p:nvPr/>
        </p:nvSpPr>
        <p:spPr>
          <a:xfrm>
            <a:off x="8732520" y="3977640"/>
            <a:ext cx="2926080" cy="868680"/>
          </a:xfrm>
          <a:prstGeom prst="roundRect">
            <a:avLst>
              <a:gd name="adj" fmla="val 12632"/>
            </a:avLst>
          </a:prstGeom>
          <a:solidFill>
            <a:srgbClr val="1F7A8C"/>
          </a:solidFill>
          <a:ln w="12700">
            <a:solidFill>
              <a:srgbClr val="1F7A8C"/>
            </a:solidFill>
            <a:prstDash val="solid"/>
          </a:ln>
        </p:spPr>
      </p:sp>
      <p:pic>
        <p:nvPicPr>
          <p:cNvPr id="22" name="Image 2" descr="preencoded.png">    </p:cNvPr>
          <p:cNvPicPr>
            <a:picLocks noChangeAspect="1"/>
          </p:cNvPicPr>
          <p:nvPr/>
        </p:nvPicPr>
        <p:blipFill>
          <a:blip r:embed="rId3"/>
          <a:stretch>
            <a:fillRect/>
          </a:stretch>
        </p:blipFill>
        <p:spPr>
          <a:xfrm>
            <a:off x="8915400" y="4197096"/>
            <a:ext cx="420624" cy="420624"/>
          </a:xfrm>
          <a:prstGeom prst="rect">
            <a:avLst/>
          </a:prstGeom>
        </p:spPr>
      </p:pic>
      <p:sp>
        <p:nvSpPr>
          <p:cNvPr id="23" name="Text 18"/>
          <p:cNvSpPr txBox="1"/>
          <p:nvPr/>
        </p:nvSpPr>
        <p:spPr>
          <a:xfrm>
            <a:off x="9464040" y="3977640"/>
            <a:ext cx="2103120" cy="8686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Grid · Solar · Battery</a:t>
            </a:r>
            <a:endParaRPr lang="en-US" sz="1400" dirty="0"/>
          </a:p>
        </p:txBody>
      </p:sp>
      <p:sp>
        <p:nvSpPr>
          <p:cNvPr id="24" name="Text 19"/>
          <p:cNvSpPr txBox="1"/>
          <p:nvPr/>
        </p:nvSpPr>
        <p:spPr>
          <a:xfrm>
            <a:off x="8732520" y="4846320"/>
            <a:ext cx="2926080" cy="320040"/>
          </a:xfrm>
          <a:prstGeom prst="rect">
            <a:avLst/>
          </a:prstGeom>
          <a:noFill/>
          <a:ln/>
        </p:spPr>
        <p:txBody>
          <a:bodyPr wrap="square" lIns="0" tIns="0" rIns="0" bIns="0" rtlCol="0" anchor="ctr"/>
          <a:lstStyle/>
          <a:p>
            <a:pPr algn="ctr" indent="0" marL="0">
              <a:buNone/>
            </a:pPr>
            <a:r>
              <a:rPr lang="en-US" sz="1050" dirty="0">
                <a:solidFill>
                  <a:srgbClr val="5B6675"/>
                </a:solidFill>
                <a:latin typeface="Calibri" pitchFamily="34" charset="0"/>
                <a:ea typeface="Calibri" pitchFamily="34" charset="-122"/>
                <a:cs typeface="Calibri" pitchFamily="34" charset="-120"/>
              </a:rPr>
              <a:t>settlement &amp; events ↓</a:t>
            </a:r>
            <a:endParaRPr lang="en-US" sz="1050" dirty="0"/>
          </a:p>
        </p:txBody>
      </p:sp>
      <p:sp>
        <p:nvSpPr>
          <p:cNvPr id="25" name="Shape 20"/>
          <p:cNvSpPr/>
          <p:nvPr/>
        </p:nvSpPr>
        <p:spPr>
          <a:xfrm>
            <a:off x="8732520" y="5166360"/>
            <a:ext cx="2926080" cy="868680"/>
          </a:xfrm>
          <a:prstGeom prst="roundRect">
            <a:avLst>
              <a:gd name="adj" fmla="val 12632"/>
            </a:avLst>
          </a:prstGeom>
          <a:solidFill>
            <a:srgbClr val="EB6834"/>
          </a:solidFill>
          <a:ln w="12700">
            <a:solidFill>
              <a:srgbClr val="EB6834"/>
            </a:solidFill>
            <a:prstDash val="solid"/>
          </a:ln>
        </p:spPr>
      </p:sp>
      <p:pic>
        <p:nvPicPr>
          <p:cNvPr id="26" name="Image 3" descr="preencoded.png">    </p:cNvPr>
          <p:cNvPicPr>
            <a:picLocks noChangeAspect="1"/>
          </p:cNvPicPr>
          <p:nvPr/>
        </p:nvPicPr>
        <p:blipFill>
          <a:blip r:embed="rId4"/>
          <a:stretch>
            <a:fillRect/>
          </a:stretch>
        </p:blipFill>
        <p:spPr>
          <a:xfrm>
            <a:off x="8915400" y="5385816"/>
            <a:ext cx="420624" cy="420624"/>
          </a:xfrm>
          <a:prstGeom prst="rect">
            <a:avLst/>
          </a:prstGeom>
        </p:spPr>
      </p:pic>
      <p:sp>
        <p:nvSpPr>
          <p:cNvPr id="27" name="Text 21"/>
          <p:cNvSpPr txBox="1"/>
          <p:nvPr/>
        </p:nvSpPr>
        <p:spPr>
          <a:xfrm>
            <a:off x="9464040" y="5166360"/>
            <a:ext cx="2103120" cy="8686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Coordinator (15-min loop)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595360" cy="685800"/>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Team &amp; Workstreams</a:t>
            </a:r>
            <a:endParaRPr lang="en-US" sz="30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i="1" dirty="0">
                <a:solidFill>
                  <a:srgbClr val="5B6675"/>
                </a:solidFill>
                <a:latin typeface="Calibri" pitchFamily="34" charset="0"/>
                <a:ea typeface="Calibri" pitchFamily="34" charset="-122"/>
                <a:cs typeface="Calibri" pitchFamily="34" charset="-120"/>
              </a:rPr>
              <a:t>Four workstreams, one system: each is an agent type behind a shared contract</a:t>
            </a:r>
            <a:endParaRPr lang="en-US" sz="1400" dirty="0"/>
          </a:p>
        </p:txBody>
      </p:sp>
      <p:sp>
        <p:nvSpPr>
          <p:cNvPr id="4" name="Shape 2"/>
          <p:cNvSpPr/>
          <p:nvPr/>
        </p:nvSpPr>
        <p:spPr>
          <a:xfrm>
            <a:off x="548640" y="1554480"/>
            <a:ext cx="2670048" cy="4754880"/>
          </a:xfrm>
          <a:prstGeom prst="roundRect">
            <a:avLst>
              <a:gd name="adj" fmla="val 4110"/>
            </a:avLst>
          </a:prstGeom>
          <a:solidFill>
            <a:srgbClr val="F3F6F9"/>
          </a:solidFill>
          <a:ln w="12700">
            <a:solidFill>
              <a:srgbClr val="F3F6F9"/>
            </a:solidFill>
            <a:prstDash val="solid"/>
          </a:ln>
        </p:spPr>
      </p:sp>
      <p:sp>
        <p:nvSpPr>
          <p:cNvPr id="5" name="Shape 3"/>
          <p:cNvSpPr/>
          <p:nvPr/>
        </p:nvSpPr>
        <p:spPr>
          <a:xfrm>
            <a:off x="731520" y="1755648"/>
            <a:ext cx="603504" cy="603504"/>
          </a:xfrm>
          <a:prstGeom prst="ellipse">
            <a:avLst/>
          </a:prstGeom>
          <a:solidFill>
            <a:srgbClr val="F2A541"/>
          </a:solidFill>
          <a:ln w="12700">
            <a:solidFill>
              <a:srgbClr val="F2A541"/>
            </a:solidFill>
            <a:prstDash val="solid"/>
          </a:ln>
        </p:spPr>
      </p:sp>
      <p:pic>
        <p:nvPicPr>
          <p:cNvPr id="6" name="Image 0" descr="preencoded.png">    </p:cNvPr>
          <p:cNvPicPr>
            <a:picLocks noChangeAspect="1"/>
          </p:cNvPicPr>
          <p:nvPr/>
        </p:nvPicPr>
        <p:blipFill>
          <a:blip r:embed="rId1"/>
          <a:stretch>
            <a:fillRect/>
          </a:stretch>
        </p:blipFill>
        <p:spPr>
          <a:xfrm>
            <a:off x="876361" y="1900489"/>
            <a:ext cx="313822" cy="313822"/>
          </a:xfrm>
          <a:prstGeom prst="rect">
            <a:avLst/>
          </a:prstGeom>
        </p:spPr>
      </p:pic>
      <p:sp>
        <p:nvSpPr>
          <p:cNvPr id="7" name="Text 4"/>
          <p:cNvSpPr txBox="1"/>
          <p:nvPr/>
        </p:nvSpPr>
        <p:spPr>
          <a:xfrm>
            <a:off x="1463040" y="1755648"/>
            <a:ext cx="1664208" cy="329184"/>
          </a:xfrm>
          <a:prstGeom prst="rect">
            <a:avLst/>
          </a:prstGeom>
          <a:noFill/>
          <a:ln/>
        </p:spPr>
        <p:txBody>
          <a:bodyPr wrap="square" lIns="0" tIns="0" rIns="0" bIns="0" rtlCol="0" anchor="t"/>
          <a:lstStyle/>
          <a:p>
            <a:pPr indent="0" marL="0">
              <a:buNone/>
            </a:pPr>
            <a:r>
              <a:rPr lang="en-US" sz="1250" b="1" dirty="0">
                <a:solidFill>
                  <a:srgbClr val="1F7A8C"/>
                </a:solidFill>
                <a:latin typeface="Calibri" pitchFamily="34" charset="0"/>
                <a:ea typeface="Calibri" pitchFamily="34" charset="-122"/>
                <a:cs typeface="Calibri" pitchFamily="34" charset="-120"/>
              </a:rPr>
              <a:t>P1 · Building Intelligence</a:t>
            </a:r>
            <a:endParaRPr lang="en-US" sz="1250" dirty="0"/>
          </a:p>
        </p:txBody>
      </p:sp>
      <p:sp>
        <p:nvSpPr>
          <p:cNvPr id="8" name="Text 5"/>
          <p:cNvSpPr txBox="1"/>
          <p:nvPr/>
        </p:nvSpPr>
        <p:spPr>
          <a:xfrm>
            <a:off x="1463040" y="2057400"/>
            <a:ext cx="1664208" cy="365760"/>
          </a:xfrm>
          <a:prstGeom prst="rect">
            <a:avLst/>
          </a:prstGeom>
          <a:noFill/>
          <a:ln/>
        </p:spPr>
        <p:txBody>
          <a:bodyPr wrap="square" lIns="0" tIns="0" rIns="0" bIns="0" rtlCol="0" anchor="t"/>
          <a:lstStyle/>
          <a:p>
            <a:pPr indent="0" marL="0">
              <a:buNone/>
            </a:pPr>
            <a:r>
              <a:rPr lang="en-US" sz="1500" b="1" dirty="0">
                <a:solidFill>
                  <a:srgbClr val="12263A"/>
                </a:solidFill>
                <a:latin typeface="Cambria" pitchFamily="34" charset="0"/>
                <a:ea typeface="Cambria" pitchFamily="34" charset="-122"/>
                <a:cs typeface="Cambria" pitchFamily="34" charset="-120"/>
              </a:rPr>
              <a:t>Shantharam P</a:t>
            </a:r>
            <a:endParaRPr lang="en-US" sz="1500" dirty="0"/>
          </a:p>
        </p:txBody>
      </p:sp>
      <p:sp>
        <p:nvSpPr>
          <p:cNvPr id="9" name="Text 6"/>
          <p:cNvSpPr txBox="1"/>
          <p:nvPr/>
        </p:nvSpPr>
        <p:spPr>
          <a:xfrm>
            <a:off x="749808" y="2606040"/>
            <a:ext cx="2304288" cy="3566160"/>
          </a:xfrm>
          <a:prstGeom prst="rect">
            <a:avLst/>
          </a:prstGeom>
          <a:noFill/>
          <a:ln/>
        </p:spPr>
        <p:txBody>
          <a:bodyPr wrap="square" lIns="0" tIns="0" rIns="0" bIns="0" rtlCol="0" anchor="t"/>
          <a:lstStyle/>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Synthetic campus demand (5 building types)</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Learned demand forecaster (ridge-regression model)</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Critical / flexible load classification</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Priority, bids &amp; demand response</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Settlement against real demand, deferred-energy queue</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Shared contracts all agents talk through</a:t>
            </a:r>
            <a:endParaRPr lang="en-US" sz="1200" dirty="0"/>
          </a:p>
        </p:txBody>
      </p:sp>
      <p:sp>
        <p:nvSpPr>
          <p:cNvPr id="10" name="Shape 7"/>
          <p:cNvSpPr/>
          <p:nvPr/>
        </p:nvSpPr>
        <p:spPr>
          <a:xfrm>
            <a:off x="3383280" y="1554480"/>
            <a:ext cx="2670048" cy="4754880"/>
          </a:xfrm>
          <a:prstGeom prst="roundRect">
            <a:avLst>
              <a:gd name="adj" fmla="val 4110"/>
            </a:avLst>
          </a:prstGeom>
          <a:solidFill>
            <a:srgbClr val="F3F6F9"/>
          </a:solidFill>
          <a:ln w="12700">
            <a:solidFill>
              <a:srgbClr val="F3F6F9"/>
            </a:solidFill>
            <a:prstDash val="solid"/>
          </a:ln>
        </p:spPr>
      </p:sp>
      <p:sp>
        <p:nvSpPr>
          <p:cNvPr id="11" name="Shape 8"/>
          <p:cNvSpPr/>
          <p:nvPr/>
        </p:nvSpPr>
        <p:spPr>
          <a:xfrm>
            <a:off x="3566160" y="1755648"/>
            <a:ext cx="603504" cy="603504"/>
          </a:xfrm>
          <a:prstGeom prst="ellipse">
            <a:avLst/>
          </a:prstGeom>
          <a:solidFill>
            <a:srgbClr val="F2A541"/>
          </a:solidFill>
          <a:ln w="12700">
            <a:solidFill>
              <a:srgbClr val="F2A541"/>
            </a:solidFill>
            <a:prstDash val="solid"/>
          </a:ln>
        </p:spPr>
      </p:sp>
      <p:pic>
        <p:nvPicPr>
          <p:cNvPr id="12" name="Image 1" descr="preencoded.png">    </p:cNvPr>
          <p:cNvPicPr>
            <a:picLocks noChangeAspect="1"/>
          </p:cNvPicPr>
          <p:nvPr/>
        </p:nvPicPr>
        <p:blipFill>
          <a:blip r:embed="rId2"/>
          <a:stretch>
            <a:fillRect/>
          </a:stretch>
        </p:blipFill>
        <p:spPr>
          <a:xfrm>
            <a:off x="3711001" y="1900489"/>
            <a:ext cx="313822" cy="313822"/>
          </a:xfrm>
          <a:prstGeom prst="rect">
            <a:avLst/>
          </a:prstGeom>
        </p:spPr>
      </p:pic>
      <p:sp>
        <p:nvSpPr>
          <p:cNvPr id="13" name="Text 9"/>
          <p:cNvSpPr txBox="1"/>
          <p:nvPr/>
        </p:nvSpPr>
        <p:spPr>
          <a:xfrm>
            <a:off x="4297680" y="1755648"/>
            <a:ext cx="1664208" cy="329184"/>
          </a:xfrm>
          <a:prstGeom prst="rect">
            <a:avLst/>
          </a:prstGeom>
          <a:noFill/>
          <a:ln/>
        </p:spPr>
        <p:txBody>
          <a:bodyPr wrap="square" lIns="0" tIns="0" rIns="0" bIns="0" rtlCol="0" anchor="t"/>
          <a:lstStyle/>
          <a:p>
            <a:pPr indent="0" marL="0">
              <a:buNone/>
            </a:pPr>
            <a:r>
              <a:rPr lang="en-US" sz="1250" b="1" dirty="0">
                <a:solidFill>
                  <a:srgbClr val="1F7A8C"/>
                </a:solidFill>
                <a:latin typeface="Calibri" pitchFamily="34" charset="0"/>
                <a:ea typeface="Calibri" pitchFamily="34" charset="-122"/>
                <a:cs typeface="Calibri" pitchFamily="34" charset="-120"/>
              </a:rPr>
              <a:t>P2 · Auction &amp; Market</a:t>
            </a:r>
            <a:endParaRPr lang="en-US" sz="1250" dirty="0"/>
          </a:p>
        </p:txBody>
      </p:sp>
      <p:sp>
        <p:nvSpPr>
          <p:cNvPr id="14" name="Text 10"/>
          <p:cNvSpPr txBox="1"/>
          <p:nvPr/>
        </p:nvSpPr>
        <p:spPr>
          <a:xfrm>
            <a:off x="4297680" y="2057400"/>
            <a:ext cx="1664208" cy="365760"/>
          </a:xfrm>
          <a:prstGeom prst="rect">
            <a:avLst/>
          </a:prstGeom>
          <a:noFill/>
          <a:ln/>
        </p:spPr>
        <p:txBody>
          <a:bodyPr wrap="square" lIns="0" tIns="0" rIns="0" bIns="0" rtlCol="0" anchor="t"/>
          <a:lstStyle/>
          <a:p>
            <a:pPr indent="0" marL="0">
              <a:buNone/>
            </a:pPr>
            <a:r>
              <a:rPr lang="en-US" sz="1500" b="1" dirty="0">
                <a:solidFill>
                  <a:srgbClr val="12263A"/>
                </a:solidFill>
                <a:latin typeface="Cambria" pitchFamily="34" charset="0"/>
                <a:ea typeface="Cambria" pitchFamily="34" charset="-122"/>
                <a:cs typeface="Cambria" pitchFamily="34" charset="-120"/>
              </a:rPr>
              <a:t>Gauri Nandana S Pai</a:t>
            </a:r>
            <a:endParaRPr lang="en-US" sz="1500" dirty="0"/>
          </a:p>
        </p:txBody>
      </p:sp>
      <p:sp>
        <p:nvSpPr>
          <p:cNvPr id="15" name="Text 11"/>
          <p:cNvSpPr txBox="1"/>
          <p:nvPr/>
        </p:nvSpPr>
        <p:spPr>
          <a:xfrm>
            <a:off x="3584448" y="2606040"/>
            <a:ext cx="2304288" cy="3566160"/>
          </a:xfrm>
          <a:prstGeom prst="rect">
            <a:avLst/>
          </a:prstGeom>
          <a:noFill/>
          <a:ln/>
        </p:spPr>
        <p:txBody>
          <a:bodyPr wrap="square" lIns="0" tIns="0" rIns="0" bIns="0" rtlCol="0" anchor="t"/>
          <a:lstStyle/>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Bid validation &amp; multi-criteria scoring</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4 allocation strategies incl. welfare-maximising knapsack</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Critical-load tiers &amp; emergency rationing</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Merit-order dispatch &amp; clearing price</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Fairness (Jain's index) &amp; starvation tracking</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Re-auction lifecycle</a:t>
            </a:r>
            <a:endParaRPr lang="en-US" sz="1200" dirty="0"/>
          </a:p>
        </p:txBody>
      </p:sp>
      <p:sp>
        <p:nvSpPr>
          <p:cNvPr id="16" name="Shape 12"/>
          <p:cNvSpPr/>
          <p:nvPr/>
        </p:nvSpPr>
        <p:spPr>
          <a:xfrm>
            <a:off x="6217920" y="1554480"/>
            <a:ext cx="2670048" cy="4754880"/>
          </a:xfrm>
          <a:prstGeom prst="roundRect">
            <a:avLst>
              <a:gd name="adj" fmla="val 4110"/>
            </a:avLst>
          </a:prstGeom>
          <a:solidFill>
            <a:srgbClr val="F3F6F9"/>
          </a:solidFill>
          <a:ln w="12700">
            <a:solidFill>
              <a:srgbClr val="F3F6F9"/>
            </a:solidFill>
            <a:prstDash val="solid"/>
          </a:ln>
        </p:spPr>
      </p:sp>
      <p:sp>
        <p:nvSpPr>
          <p:cNvPr id="17" name="Shape 13"/>
          <p:cNvSpPr/>
          <p:nvPr/>
        </p:nvSpPr>
        <p:spPr>
          <a:xfrm>
            <a:off x="6400800" y="1755648"/>
            <a:ext cx="603504" cy="603504"/>
          </a:xfrm>
          <a:prstGeom prst="ellipse">
            <a:avLst/>
          </a:prstGeom>
          <a:solidFill>
            <a:srgbClr val="F2A541"/>
          </a:solidFill>
          <a:ln w="12700">
            <a:solidFill>
              <a:srgbClr val="F2A541"/>
            </a:solidFill>
            <a:prstDash val="solid"/>
          </a:ln>
        </p:spPr>
      </p:sp>
      <p:pic>
        <p:nvPicPr>
          <p:cNvPr id="18" name="Image 2" descr="preencoded.png">    </p:cNvPr>
          <p:cNvPicPr>
            <a:picLocks noChangeAspect="1"/>
          </p:cNvPicPr>
          <p:nvPr/>
        </p:nvPicPr>
        <p:blipFill>
          <a:blip r:embed="rId3"/>
          <a:stretch>
            <a:fillRect/>
          </a:stretch>
        </p:blipFill>
        <p:spPr>
          <a:xfrm>
            <a:off x="6545641" y="1900489"/>
            <a:ext cx="313822" cy="313822"/>
          </a:xfrm>
          <a:prstGeom prst="rect">
            <a:avLst/>
          </a:prstGeom>
        </p:spPr>
      </p:pic>
      <p:sp>
        <p:nvSpPr>
          <p:cNvPr id="19" name="Text 14"/>
          <p:cNvSpPr txBox="1"/>
          <p:nvPr/>
        </p:nvSpPr>
        <p:spPr>
          <a:xfrm>
            <a:off x="7132320" y="1755648"/>
            <a:ext cx="1664208" cy="329184"/>
          </a:xfrm>
          <a:prstGeom prst="rect">
            <a:avLst/>
          </a:prstGeom>
          <a:noFill/>
          <a:ln/>
        </p:spPr>
        <p:txBody>
          <a:bodyPr wrap="square" lIns="0" tIns="0" rIns="0" bIns="0" rtlCol="0" anchor="t"/>
          <a:lstStyle/>
          <a:p>
            <a:pPr indent="0" marL="0">
              <a:buNone/>
            </a:pPr>
            <a:r>
              <a:rPr lang="en-US" sz="1250" b="1" dirty="0">
                <a:solidFill>
                  <a:srgbClr val="1F7A8C"/>
                </a:solidFill>
                <a:latin typeface="Calibri" pitchFamily="34" charset="0"/>
                <a:ea typeface="Calibri" pitchFamily="34" charset="-122"/>
                <a:cs typeface="Calibri" pitchFamily="34" charset="-120"/>
              </a:rPr>
              <a:t>P3 · Energy Supply</a:t>
            </a:r>
            <a:endParaRPr lang="en-US" sz="1250" dirty="0"/>
          </a:p>
        </p:txBody>
      </p:sp>
      <p:sp>
        <p:nvSpPr>
          <p:cNvPr id="20" name="Text 15"/>
          <p:cNvSpPr txBox="1"/>
          <p:nvPr/>
        </p:nvSpPr>
        <p:spPr>
          <a:xfrm>
            <a:off x="7132320" y="2057400"/>
            <a:ext cx="1664208" cy="365760"/>
          </a:xfrm>
          <a:prstGeom prst="rect">
            <a:avLst/>
          </a:prstGeom>
          <a:noFill/>
          <a:ln/>
        </p:spPr>
        <p:txBody>
          <a:bodyPr wrap="square" lIns="0" tIns="0" rIns="0" bIns="0" rtlCol="0" anchor="t"/>
          <a:lstStyle/>
          <a:p>
            <a:pPr indent="0" marL="0">
              <a:buNone/>
            </a:pPr>
            <a:r>
              <a:rPr lang="en-US" sz="1500" b="1" dirty="0">
                <a:solidFill>
                  <a:srgbClr val="12263A"/>
                </a:solidFill>
                <a:latin typeface="Cambria" pitchFamily="34" charset="0"/>
                <a:ea typeface="Cambria" pitchFamily="34" charset="-122"/>
                <a:cs typeface="Cambria" pitchFamily="34" charset="-120"/>
              </a:rPr>
              <a:t>Akshitha</a:t>
            </a:r>
            <a:endParaRPr lang="en-US" sz="1500" dirty="0"/>
          </a:p>
        </p:txBody>
      </p:sp>
      <p:sp>
        <p:nvSpPr>
          <p:cNvPr id="21" name="Text 16"/>
          <p:cNvSpPr txBox="1"/>
          <p:nvPr/>
        </p:nvSpPr>
        <p:spPr>
          <a:xfrm>
            <a:off x="6419088" y="2606040"/>
            <a:ext cx="2304288" cy="3566160"/>
          </a:xfrm>
          <a:prstGeom prst="rect">
            <a:avLst/>
          </a:prstGeom>
          <a:noFill/>
          <a:ln/>
        </p:spPr>
        <p:txBody>
          <a:bodyPr wrap="square" lIns="0" tIns="0" rIns="0" bIns="0" rtlCol="0" anchor="t"/>
          <a:lstStyle/>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Grid agent: time-of-use tariff, outages</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Solar agent: generation &amp; weather-aware forecasting</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Battery agent: charge level, losses, reserves</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Off-peak recharging &amp; cost-based battery pricing</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Validated dispatch &amp; energy accounting</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Supply events (cloud, outage, price spike)</a:t>
            </a:r>
            <a:endParaRPr lang="en-US" sz="1200" dirty="0"/>
          </a:p>
        </p:txBody>
      </p:sp>
      <p:sp>
        <p:nvSpPr>
          <p:cNvPr id="22" name="Shape 17"/>
          <p:cNvSpPr/>
          <p:nvPr/>
        </p:nvSpPr>
        <p:spPr>
          <a:xfrm>
            <a:off x="9052560" y="1554480"/>
            <a:ext cx="2670048" cy="4754880"/>
          </a:xfrm>
          <a:prstGeom prst="roundRect">
            <a:avLst>
              <a:gd name="adj" fmla="val 4110"/>
            </a:avLst>
          </a:prstGeom>
          <a:solidFill>
            <a:srgbClr val="F3F6F9"/>
          </a:solidFill>
          <a:ln w="12700">
            <a:solidFill>
              <a:srgbClr val="F3F6F9"/>
            </a:solidFill>
            <a:prstDash val="solid"/>
          </a:ln>
        </p:spPr>
      </p:sp>
      <p:sp>
        <p:nvSpPr>
          <p:cNvPr id="23" name="Shape 18"/>
          <p:cNvSpPr/>
          <p:nvPr/>
        </p:nvSpPr>
        <p:spPr>
          <a:xfrm>
            <a:off x="9235440" y="1755648"/>
            <a:ext cx="603504" cy="603504"/>
          </a:xfrm>
          <a:prstGeom prst="ellipse">
            <a:avLst/>
          </a:prstGeom>
          <a:solidFill>
            <a:srgbClr val="F2A541"/>
          </a:solidFill>
          <a:ln w="12700">
            <a:solidFill>
              <a:srgbClr val="F2A541"/>
            </a:solidFill>
            <a:prstDash val="solid"/>
          </a:ln>
        </p:spPr>
      </p:sp>
      <p:pic>
        <p:nvPicPr>
          <p:cNvPr id="24" name="Image 3" descr="preencoded.png">    </p:cNvPr>
          <p:cNvPicPr>
            <a:picLocks noChangeAspect="1"/>
          </p:cNvPicPr>
          <p:nvPr/>
        </p:nvPicPr>
        <p:blipFill>
          <a:blip r:embed="rId4"/>
          <a:stretch>
            <a:fillRect/>
          </a:stretch>
        </p:blipFill>
        <p:spPr>
          <a:xfrm>
            <a:off x="9380281" y="1900489"/>
            <a:ext cx="313822" cy="313822"/>
          </a:xfrm>
          <a:prstGeom prst="rect">
            <a:avLst/>
          </a:prstGeom>
        </p:spPr>
      </p:pic>
      <p:sp>
        <p:nvSpPr>
          <p:cNvPr id="25" name="Text 19"/>
          <p:cNvSpPr txBox="1"/>
          <p:nvPr/>
        </p:nvSpPr>
        <p:spPr>
          <a:xfrm>
            <a:off x="9966960" y="1755648"/>
            <a:ext cx="1664208" cy="329184"/>
          </a:xfrm>
          <a:prstGeom prst="rect">
            <a:avLst/>
          </a:prstGeom>
          <a:noFill/>
          <a:ln/>
        </p:spPr>
        <p:txBody>
          <a:bodyPr wrap="square" lIns="0" tIns="0" rIns="0" bIns="0" rtlCol="0" anchor="t"/>
          <a:lstStyle/>
          <a:p>
            <a:pPr indent="0" marL="0">
              <a:buNone/>
            </a:pPr>
            <a:r>
              <a:rPr lang="en-US" sz="1250" b="1" dirty="0">
                <a:solidFill>
                  <a:srgbClr val="1F7A8C"/>
                </a:solidFill>
                <a:latin typeface="Calibri" pitchFamily="34" charset="0"/>
                <a:ea typeface="Calibri" pitchFamily="34" charset="-122"/>
                <a:cs typeface="Calibri" pitchFamily="34" charset="-120"/>
              </a:rPr>
              <a:t>P4 · Coordination</a:t>
            </a:r>
            <a:endParaRPr lang="en-US" sz="1250" dirty="0"/>
          </a:p>
        </p:txBody>
      </p:sp>
      <p:sp>
        <p:nvSpPr>
          <p:cNvPr id="26" name="Text 20"/>
          <p:cNvSpPr txBox="1"/>
          <p:nvPr/>
        </p:nvSpPr>
        <p:spPr>
          <a:xfrm>
            <a:off x="9966960" y="2057400"/>
            <a:ext cx="1664208" cy="365760"/>
          </a:xfrm>
          <a:prstGeom prst="rect">
            <a:avLst/>
          </a:prstGeom>
          <a:noFill/>
          <a:ln/>
        </p:spPr>
        <p:txBody>
          <a:bodyPr wrap="square" lIns="0" tIns="0" rIns="0" bIns="0" rtlCol="0" anchor="t"/>
          <a:lstStyle/>
          <a:p>
            <a:pPr indent="0" marL="0">
              <a:buNone/>
            </a:pPr>
            <a:r>
              <a:rPr lang="en-US" sz="1500" b="1" dirty="0">
                <a:solidFill>
                  <a:srgbClr val="12263A"/>
                </a:solidFill>
                <a:latin typeface="Cambria" pitchFamily="34" charset="0"/>
                <a:ea typeface="Cambria" pitchFamily="34" charset="-122"/>
                <a:cs typeface="Cambria" pitchFamily="34" charset="-120"/>
              </a:rPr>
              <a:t>akolla646</a:t>
            </a:r>
            <a:endParaRPr lang="en-US" sz="1500" dirty="0"/>
          </a:p>
        </p:txBody>
      </p:sp>
      <p:sp>
        <p:nvSpPr>
          <p:cNvPr id="27" name="Text 21"/>
          <p:cNvSpPr txBox="1"/>
          <p:nvPr/>
        </p:nvSpPr>
        <p:spPr>
          <a:xfrm>
            <a:off x="9253728" y="2606040"/>
            <a:ext cx="2304288" cy="3566160"/>
          </a:xfrm>
          <a:prstGeom prst="rect">
            <a:avLst/>
          </a:prstGeom>
          <a:noFill/>
          <a:ln/>
        </p:spPr>
        <p:txBody>
          <a:bodyPr wrap="square" lIns="0" tIns="0" rIns="0" bIns="0" rtlCol="0" anchor="t"/>
          <a:lstStyle/>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Closed-loop 15-minute coordinator</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8 scenarios with scheduled events</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3 operating modes for before/after comparison</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Campus metrics (service, critical, fairness, cost)</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Interactive web dashboard with slot replay</a:t>
            </a:r>
            <a:endParaRPr lang="en-US" sz="1200" dirty="0"/>
          </a:p>
          <a:p>
            <a:pPr marL="203200" indent="-203200">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Command-line runner &amp; reports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595360" cy="685800"/>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PEAS — Building Agent</a:t>
            </a:r>
            <a:endParaRPr lang="en-US" sz="3000" dirty="0"/>
          </a:p>
        </p:txBody>
      </p:sp>
      <p:sp>
        <p:nvSpPr>
          <p:cNvPr id="3" name="Shape 1"/>
          <p:cNvSpPr/>
          <p:nvPr/>
        </p:nvSpPr>
        <p:spPr>
          <a:xfrm>
            <a:off x="9372600" y="411480"/>
            <a:ext cx="2286000" cy="457200"/>
          </a:xfrm>
          <a:prstGeom prst="roundRect">
            <a:avLst>
              <a:gd name="adj" fmla="val 50000"/>
            </a:avLst>
          </a:prstGeom>
          <a:solidFill>
            <a:srgbClr val="FDF1DC"/>
          </a:solidFill>
          <a:ln w="12700">
            <a:solidFill>
              <a:srgbClr val="F2A541"/>
            </a:solidFill>
            <a:prstDash val="solid"/>
          </a:ln>
        </p:spPr>
      </p:sp>
      <p:sp>
        <p:nvSpPr>
          <p:cNvPr id="4" name="Text 2"/>
          <p:cNvSpPr txBox="1"/>
          <p:nvPr/>
        </p:nvSpPr>
        <p:spPr>
          <a:xfrm>
            <a:off x="9372600" y="411480"/>
            <a:ext cx="2286000" cy="457200"/>
          </a:xfrm>
          <a:prstGeom prst="rect">
            <a:avLst/>
          </a:prstGeom>
          <a:noFill/>
          <a:ln/>
        </p:spPr>
        <p:txBody>
          <a:bodyPr wrap="square" lIns="0" tIns="0" rIns="0" bIns="0" rtlCol="0" anchor="ctr"/>
          <a:lstStyle/>
          <a:p>
            <a:pPr algn="ctr" indent="0" marL="0">
              <a:buNone/>
            </a:pPr>
            <a:r>
              <a:rPr lang="en-US" sz="1150" b="1" dirty="0">
                <a:solidFill>
                  <a:srgbClr val="12263A"/>
                </a:solidFill>
                <a:latin typeface="Calibri" pitchFamily="34" charset="0"/>
                <a:ea typeface="Calibri" pitchFamily="34" charset="-122"/>
                <a:cs typeface="Calibri" pitchFamily="34" charset="-120"/>
              </a:rPr>
              <a:t>PEAS Formulation · 3M</a:t>
            </a:r>
            <a:endParaRPr lang="en-US" sz="1150" dirty="0"/>
          </a:p>
        </p:txBody>
      </p:sp>
      <p:sp>
        <p:nvSpPr>
          <p:cNvPr id="5" name="Text 3"/>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i="1" dirty="0">
                <a:solidFill>
                  <a:srgbClr val="5B6675"/>
                </a:solidFill>
                <a:latin typeface="Calibri" pitchFamily="34" charset="0"/>
                <a:ea typeface="Calibri" pitchFamily="34" charset="-122"/>
                <a:cs typeface="Calibri" pitchFamily="34" charset="-120"/>
              </a:rPr>
              <a:t>The central agent: one per building, all identical code, configured by building type</a:t>
            </a:r>
            <a:endParaRPr lang="en-US" sz="1400" dirty="0"/>
          </a:p>
        </p:txBody>
      </p:sp>
      <p:sp>
        <p:nvSpPr>
          <p:cNvPr id="6" name="Shape 4"/>
          <p:cNvSpPr/>
          <p:nvPr/>
        </p:nvSpPr>
        <p:spPr>
          <a:xfrm>
            <a:off x="548640" y="1508760"/>
            <a:ext cx="11109960" cy="1078992"/>
          </a:xfrm>
          <a:prstGeom prst="roundRect">
            <a:avLst>
              <a:gd name="adj" fmla="val 10169"/>
            </a:avLst>
          </a:prstGeom>
          <a:solidFill>
            <a:srgbClr val="F3F6F9"/>
          </a:solidFill>
          <a:ln w="12700">
            <a:solidFill>
              <a:srgbClr val="F3F6F9"/>
            </a:solidFill>
            <a:prstDash val="solid"/>
          </a:ln>
        </p:spPr>
      </p:sp>
      <p:sp>
        <p:nvSpPr>
          <p:cNvPr id="7" name="Shape 5"/>
          <p:cNvSpPr/>
          <p:nvPr/>
        </p:nvSpPr>
        <p:spPr>
          <a:xfrm>
            <a:off x="749808" y="1755648"/>
            <a:ext cx="585216" cy="585216"/>
          </a:xfrm>
          <a:prstGeom prst="ellipse">
            <a:avLst/>
          </a:prstGeom>
          <a:solidFill>
            <a:srgbClr val="F2A541"/>
          </a:solidFill>
          <a:ln w="12700">
            <a:solidFill>
              <a:srgbClr val="F2A541"/>
            </a:solidFill>
            <a:prstDash val="solid"/>
          </a:ln>
        </p:spPr>
      </p:sp>
      <p:pic>
        <p:nvPicPr>
          <p:cNvPr id="8" name="Image 0" descr="preencoded.png">    </p:cNvPr>
          <p:cNvPicPr>
            <a:picLocks noChangeAspect="1"/>
          </p:cNvPicPr>
          <p:nvPr/>
        </p:nvPicPr>
        <p:blipFill>
          <a:blip r:embed="rId1"/>
          <a:stretch>
            <a:fillRect/>
          </a:stretch>
        </p:blipFill>
        <p:spPr>
          <a:xfrm>
            <a:off x="890260" y="1896100"/>
            <a:ext cx="304312" cy="304312"/>
          </a:xfrm>
          <a:prstGeom prst="rect">
            <a:avLst/>
          </a:prstGeom>
        </p:spPr>
      </p:pic>
      <p:sp>
        <p:nvSpPr>
          <p:cNvPr id="9" name="Text 6"/>
          <p:cNvSpPr txBox="1"/>
          <p:nvPr/>
        </p:nvSpPr>
        <p:spPr>
          <a:xfrm>
            <a:off x="1508760" y="1636776"/>
            <a:ext cx="2194560" cy="822960"/>
          </a:xfrm>
          <a:prstGeom prst="rect">
            <a:avLst/>
          </a:prstGeom>
          <a:noFill/>
          <a:ln/>
        </p:spPr>
        <p:txBody>
          <a:bodyPr wrap="square" lIns="0" tIns="0" rIns="0" bIns="0" rtlCol="0" anchor="ctr"/>
          <a:lstStyle/>
          <a:p>
            <a:pPr indent="0" marL="0">
              <a:buNone/>
            </a:pPr>
            <a:r>
              <a:rPr lang="en-US" sz="1800" b="1" dirty="0">
                <a:solidFill>
                  <a:srgbClr val="12263A"/>
                </a:solidFill>
                <a:latin typeface="Cambria" pitchFamily="34" charset="0"/>
                <a:ea typeface="Cambria" pitchFamily="34" charset="-122"/>
                <a:cs typeface="Cambria" pitchFamily="34" charset="-120"/>
              </a:rPr>
              <a:t>Performance</a:t>
            </a:r>
            <a:endParaRPr lang="en-US" sz="1800" dirty="0"/>
          </a:p>
        </p:txBody>
      </p:sp>
      <p:sp>
        <p:nvSpPr>
          <p:cNvPr id="10" name="Text 7"/>
          <p:cNvSpPr txBox="1"/>
          <p:nvPr/>
        </p:nvSpPr>
        <p:spPr>
          <a:xfrm>
            <a:off x="3657600" y="1636776"/>
            <a:ext cx="7772400" cy="822960"/>
          </a:xfrm>
          <a:prstGeom prst="rect">
            <a:avLst/>
          </a:prstGeom>
          <a:noFill/>
          <a:ln/>
        </p:spPr>
        <p:txBody>
          <a:bodyPr wrap="square" lIns="0" tIns="0" rIns="0" bIns="0" rtlCol="0" anchor="ctr"/>
          <a:lstStyle/>
          <a:p>
            <a:pPr indent="0" marL="0">
              <a:buNone/>
            </a:pPr>
            <a:r>
              <a:rPr lang="en-US" sz="1400" dirty="0">
                <a:solidFill>
                  <a:srgbClr val="1B2430"/>
                </a:solidFill>
                <a:latin typeface="Calibri" pitchFamily="34" charset="0"/>
                <a:ea typeface="Calibri" pitchFamily="34" charset="-122"/>
                <a:cs typeface="Calibri" pitchFamily="34" charset="-120"/>
              </a:rPr>
              <a:t>Share of real demand served · critical load not served (kWh and events) · expired / curtailed energy · forecast error · energy cost</a:t>
            </a:r>
            <a:endParaRPr lang="en-US" sz="1400" dirty="0"/>
          </a:p>
        </p:txBody>
      </p:sp>
      <p:sp>
        <p:nvSpPr>
          <p:cNvPr id="11" name="Shape 8"/>
          <p:cNvSpPr/>
          <p:nvPr/>
        </p:nvSpPr>
        <p:spPr>
          <a:xfrm>
            <a:off x="548640" y="2724912"/>
            <a:ext cx="11109960" cy="1078992"/>
          </a:xfrm>
          <a:prstGeom prst="roundRect">
            <a:avLst>
              <a:gd name="adj" fmla="val 10169"/>
            </a:avLst>
          </a:prstGeom>
          <a:solidFill>
            <a:srgbClr val="F3F6F9"/>
          </a:solidFill>
          <a:ln w="12700">
            <a:solidFill>
              <a:srgbClr val="F3F6F9"/>
            </a:solidFill>
            <a:prstDash val="solid"/>
          </a:ln>
        </p:spPr>
      </p:sp>
      <p:sp>
        <p:nvSpPr>
          <p:cNvPr id="12" name="Shape 9"/>
          <p:cNvSpPr/>
          <p:nvPr/>
        </p:nvSpPr>
        <p:spPr>
          <a:xfrm>
            <a:off x="749808" y="2971800"/>
            <a:ext cx="585216" cy="585216"/>
          </a:xfrm>
          <a:prstGeom prst="ellipse">
            <a:avLst/>
          </a:prstGeom>
          <a:solidFill>
            <a:srgbClr val="F2A541"/>
          </a:solidFill>
          <a:ln w="12700">
            <a:solidFill>
              <a:srgbClr val="F2A541"/>
            </a:solidFill>
            <a:prstDash val="solid"/>
          </a:ln>
        </p:spPr>
      </p:sp>
      <p:pic>
        <p:nvPicPr>
          <p:cNvPr id="13" name="Image 1" descr="preencoded.png">    </p:cNvPr>
          <p:cNvPicPr>
            <a:picLocks noChangeAspect="1"/>
          </p:cNvPicPr>
          <p:nvPr/>
        </p:nvPicPr>
        <p:blipFill>
          <a:blip r:embed="rId2"/>
          <a:stretch>
            <a:fillRect/>
          </a:stretch>
        </p:blipFill>
        <p:spPr>
          <a:xfrm>
            <a:off x="890260" y="3112252"/>
            <a:ext cx="304312" cy="304312"/>
          </a:xfrm>
          <a:prstGeom prst="rect">
            <a:avLst/>
          </a:prstGeom>
        </p:spPr>
      </p:pic>
      <p:sp>
        <p:nvSpPr>
          <p:cNvPr id="14" name="Text 10"/>
          <p:cNvSpPr txBox="1"/>
          <p:nvPr/>
        </p:nvSpPr>
        <p:spPr>
          <a:xfrm>
            <a:off x="1508760" y="2852928"/>
            <a:ext cx="2194560" cy="822960"/>
          </a:xfrm>
          <a:prstGeom prst="rect">
            <a:avLst/>
          </a:prstGeom>
          <a:noFill/>
          <a:ln/>
        </p:spPr>
        <p:txBody>
          <a:bodyPr wrap="square" lIns="0" tIns="0" rIns="0" bIns="0" rtlCol="0" anchor="ctr"/>
          <a:lstStyle/>
          <a:p>
            <a:pPr indent="0" marL="0">
              <a:buNone/>
            </a:pPr>
            <a:r>
              <a:rPr lang="en-US" sz="1800" b="1" dirty="0">
                <a:solidFill>
                  <a:srgbClr val="12263A"/>
                </a:solidFill>
                <a:latin typeface="Cambria" pitchFamily="34" charset="0"/>
                <a:ea typeface="Cambria" pitchFamily="34" charset="-122"/>
                <a:cs typeface="Cambria" pitchFamily="34" charset="-120"/>
              </a:rPr>
              <a:t>Environment</a:t>
            </a:r>
            <a:endParaRPr lang="en-US" sz="1800" dirty="0"/>
          </a:p>
        </p:txBody>
      </p:sp>
      <p:sp>
        <p:nvSpPr>
          <p:cNvPr id="15" name="Text 11"/>
          <p:cNvSpPr txBox="1"/>
          <p:nvPr/>
        </p:nvSpPr>
        <p:spPr>
          <a:xfrm>
            <a:off x="3657600" y="2852928"/>
            <a:ext cx="7772400" cy="822960"/>
          </a:xfrm>
          <a:prstGeom prst="rect">
            <a:avLst/>
          </a:prstGeom>
          <a:noFill/>
          <a:ln/>
        </p:spPr>
        <p:txBody>
          <a:bodyPr wrap="square" lIns="0" tIns="0" rIns="0" bIns="0" rtlCol="0" anchor="ctr"/>
          <a:lstStyle/>
          <a:p>
            <a:pPr indent="0" marL="0">
              <a:buNone/>
            </a:pPr>
            <a:r>
              <a:rPr lang="en-US" sz="1400" dirty="0">
                <a:solidFill>
                  <a:srgbClr val="1B2430"/>
                </a:solidFill>
                <a:latin typeface="Calibri" pitchFamily="34" charset="0"/>
                <a:ea typeface="Calibri" pitchFamily="34" charset="-122"/>
                <a:cs typeface="Calibri" pitchFamily="34" charset="-120"/>
              </a:rPr>
              <a:t>Its own stochastic demand (occupancy timetable + noise + spikes) · the market · the coordinator's scarcity signal · 15-minute time slots</a:t>
            </a:r>
            <a:endParaRPr lang="en-US" sz="1400" dirty="0"/>
          </a:p>
        </p:txBody>
      </p:sp>
      <p:sp>
        <p:nvSpPr>
          <p:cNvPr id="16" name="Shape 12"/>
          <p:cNvSpPr/>
          <p:nvPr/>
        </p:nvSpPr>
        <p:spPr>
          <a:xfrm>
            <a:off x="548640" y="3941064"/>
            <a:ext cx="11109960" cy="1078992"/>
          </a:xfrm>
          <a:prstGeom prst="roundRect">
            <a:avLst>
              <a:gd name="adj" fmla="val 10169"/>
            </a:avLst>
          </a:prstGeom>
          <a:solidFill>
            <a:srgbClr val="F3F6F9"/>
          </a:solidFill>
          <a:ln w="12700">
            <a:solidFill>
              <a:srgbClr val="F3F6F9"/>
            </a:solidFill>
            <a:prstDash val="solid"/>
          </a:ln>
        </p:spPr>
      </p:sp>
      <p:sp>
        <p:nvSpPr>
          <p:cNvPr id="17" name="Shape 13"/>
          <p:cNvSpPr/>
          <p:nvPr/>
        </p:nvSpPr>
        <p:spPr>
          <a:xfrm>
            <a:off x="749808" y="4187952"/>
            <a:ext cx="585216" cy="585216"/>
          </a:xfrm>
          <a:prstGeom prst="ellipse">
            <a:avLst/>
          </a:prstGeom>
          <a:solidFill>
            <a:srgbClr val="F2A541"/>
          </a:solidFill>
          <a:ln w="12700">
            <a:solidFill>
              <a:srgbClr val="F2A541"/>
            </a:solidFill>
            <a:prstDash val="solid"/>
          </a:ln>
        </p:spPr>
      </p:sp>
      <p:pic>
        <p:nvPicPr>
          <p:cNvPr id="18" name="Image 2" descr="preencoded.png">    </p:cNvPr>
          <p:cNvPicPr>
            <a:picLocks noChangeAspect="1"/>
          </p:cNvPicPr>
          <p:nvPr/>
        </p:nvPicPr>
        <p:blipFill>
          <a:blip r:embed="rId3"/>
          <a:stretch>
            <a:fillRect/>
          </a:stretch>
        </p:blipFill>
        <p:spPr>
          <a:xfrm>
            <a:off x="890260" y="4328404"/>
            <a:ext cx="304312" cy="304312"/>
          </a:xfrm>
          <a:prstGeom prst="rect">
            <a:avLst/>
          </a:prstGeom>
        </p:spPr>
      </p:pic>
      <p:sp>
        <p:nvSpPr>
          <p:cNvPr id="19" name="Text 14"/>
          <p:cNvSpPr txBox="1"/>
          <p:nvPr/>
        </p:nvSpPr>
        <p:spPr>
          <a:xfrm>
            <a:off x="1508760" y="4069080"/>
            <a:ext cx="2194560" cy="822960"/>
          </a:xfrm>
          <a:prstGeom prst="rect">
            <a:avLst/>
          </a:prstGeom>
          <a:noFill/>
          <a:ln/>
        </p:spPr>
        <p:txBody>
          <a:bodyPr wrap="square" lIns="0" tIns="0" rIns="0" bIns="0" rtlCol="0" anchor="ctr"/>
          <a:lstStyle/>
          <a:p>
            <a:pPr indent="0" marL="0">
              <a:buNone/>
            </a:pPr>
            <a:r>
              <a:rPr lang="en-US" sz="1800" b="1" dirty="0">
                <a:solidFill>
                  <a:srgbClr val="12263A"/>
                </a:solidFill>
                <a:latin typeface="Cambria" pitchFamily="34" charset="0"/>
                <a:ea typeface="Cambria" pitchFamily="34" charset="-122"/>
                <a:cs typeface="Cambria" pitchFamily="34" charset="-120"/>
              </a:rPr>
              <a:t>Actuators</a:t>
            </a:r>
            <a:endParaRPr lang="en-US" sz="1800" dirty="0"/>
          </a:p>
        </p:txBody>
      </p:sp>
      <p:sp>
        <p:nvSpPr>
          <p:cNvPr id="20" name="Text 15"/>
          <p:cNvSpPr txBox="1"/>
          <p:nvPr/>
        </p:nvSpPr>
        <p:spPr>
          <a:xfrm>
            <a:off x="3657600" y="4069080"/>
            <a:ext cx="7772400" cy="822960"/>
          </a:xfrm>
          <a:prstGeom prst="rect">
            <a:avLst/>
          </a:prstGeom>
          <a:noFill/>
          <a:ln/>
        </p:spPr>
        <p:txBody>
          <a:bodyPr wrap="square" lIns="0" tIns="0" rIns="0" bIns="0" rtlCol="0" anchor="ctr"/>
          <a:lstStyle/>
          <a:p>
            <a:pPr indent="0" marL="0">
              <a:buNone/>
            </a:pPr>
            <a:r>
              <a:rPr lang="en-US" sz="1400" dirty="0">
                <a:solidFill>
                  <a:srgbClr val="1B2430"/>
                </a:solidFill>
                <a:latin typeface="Calibri" pitchFamily="34" charset="0"/>
                <a:ea typeface="Calibri" pitchFamily="34" charset="-122"/>
                <a:cs typeface="Calibri" pitchFamily="34" charset="-120"/>
              </a:rPr>
              <a:t>Submit a bid (requested / minimum / critical kW, priority, willingness to pay) · revise the bid under scarcity · at settlement: serve critical → deferred → flexible; defer or curtail the rest</a:t>
            </a:r>
            <a:endParaRPr lang="en-US" sz="1400" dirty="0"/>
          </a:p>
        </p:txBody>
      </p:sp>
      <p:sp>
        <p:nvSpPr>
          <p:cNvPr id="21" name="Shape 16"/>
          <p:cNvSpPr/>
          <p:nvPr/>
        </p:nvSpPr>
        <p:spPr>
          <a:xfrm>
            <a:off x="548640" y="5157216"/>
            <a:ext cx="11109960" cy="1078992"/>
          </a:xfrm>
          <a:prstGeom prst="roundRect">
            <a:avLst>
              <a:gd name="adj" fmla="val 10169"/>
            </a:avLst>
          </a:prstGeom>
          <a:solidFill>
            <a:srgbClr val="F3F6F9"/>
          </a:solidFill>
          <a:ln w="12700">
            <a:solidFill>
              <a:srgbClr val="F3F6F9"/>
            </a:solidFill>
            <a:prstDash val="solid"/>
          </a:ln>
        </p:spPr>
      </p:sp>
      <p:sp>
        <p:nvSpPr>
          <p:cNvPr id="22" name="Shape 17"/>
          <p:cNvSpPr/>
          <p:nvPr/>
        </p:nvSpPr>
        <p:spPr>
          <a:xfrm>
            <a:off x="749808" y="5404104"/>
            <a:ext cx="585216" cy="585216"/>
          </a:xfrm>
          <a:prstGeom prst="ellipse">
            <a:avLst/>
          </a:prstGeom>
          <a:solidFill>
            <a:srgbClr val="F2A541"/>
          </a:solidFill>
          <a:ln w="12700">
            <a:solidFill>
              <a:srgbClr val="F2A541"/>
            </a:solidFill>
            <a:prstDash val="solid"/>
          </a:ln>
        </p:spPr>
      </p:sp>
      <p:pic>
        <p:nvPicPr>
          <p:cNvPr id="23" name="Image 3" descr="preencoded.png">    </p:cNvPr>
          <p:cNvPicPr>
            <a:picLocks noChangeAspect="1"/>
          </p:cNvPicPr>
          <p:nvPr/>
        </p:nvPicPr>
        <p:blipFill>
          <a:blip r:embed="rId4"/>
          <a:stretch>
            <a:fillRect/>
          </a:stretch>
        </p:blipFill>
        <p:spPr>
          <a:xfrm>
            <a:off x="890260" y="5544556"/>
            <a:ext cx="304312" cy="304312"/>
          </a:xfrm>
          <a:prstGeom prst="rect">
            <a:avLst/>
          </a:prstGeom>
        </p:spPr>
      </p:pic>
      <p:sp>
        <p:nvSpPr>
          <p:cNvPr id="24" name="Text 18"/>
          <p:cNvSpPr txBox="1"/>
          <p:nvPr/>
        </p:nvSpPr>
        <p:spPr>
          <a:xfrm>
            <a:off x="1508760" y="5285232"/>
            <a:ext cx="2194560" cy="822960"/>
          </a:xfrm>
          <a:prstGeom prst="rect">
            <a:avLst/>
          </a:prstGeom>
          <a:noFill/>
          <a:ln/>
        </p:spPr>
        <p:txBody>
          <a:bodyPr wrap="square" lIns="0" tIns="0" rIns="0" bIns="0" rtlCol="0" anchor="ctr"/>
          <a:lstStyle/>
          <a:p>
            <a:pPr indent="0" marL="0">
              <a:buNone/>
            </a:pPr>
            <a:r>
              <a:rPr lang="en-US" sz="1800" b="1" dirty="0">
                <a:solidFill>
                  <a:srgbClr val="12263A"/>
                </a:solidFill>
                <a:latin typeface="Cambria" pitchFamily="34" charset="0"/>
                <a:ea typeface="Cambria" pitchFamily="34" charset="-122"/>
                <a:cs typeface="Cambria" pitchFamily="34" charset="-120"/>
              </a:rPr>
              <a:t>Sensors</a:t>
            </a:r>
            <a:endParaRPr lang="en-US" sz="1800" dirty="0"/>
          </a:p>
        </p:txBody>
      </p:sp>
      <p:sp>
        <p:nvSpPr>
          <p:cNvPr id="25" name="Text 19"/>
          <p:cNvSpPr txBox="1"/>
          <p:nvPr/>
        </p:nvSpPr>
        <p:spPr>
          <a:xfrm>
            <a:off x="3657600" y="5285232"/>
            <a:ext cx="7772400" cy="822960"/>
          </a:xfrm>
          <a:prstGeom prst="rect">
            <a:avLst/>
          </a:prstGeom>
          <a:noFill/>
          <a:ln/>
        </p:spPr>
        <p:txBody>
          <a:bodyPr wrap="square" lIns="0" tIns="0" rIns="0" bIns="0" rtlCol="0" anchor="ctr"/>
          <a:lstStyle/>
          <a:p>
            <a:pPr indent="0" marL="0">
              <a:buNone/>
            </a:pPr>
            <a:r>
              <a:rPr lang="en-US" sz="1400" dirty="0">
                <a:solidFill>
                  <a:srgbClr val="1B2430"/>
                </a:solidFill>
                <a:latin typeface="Calibri" pitchFamily="34" charset="0"/>
                <a:ea typeface="Calibri" pitchFamily="34" charset="-122"/>
                <a:cs typeface="Calibri" pitchFamily="34" charset="-120"/>
              </a:rPr>
              <a:t>Its own meter (real demand each slot) · scarcity signal · the allocation it received · its own settlement history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595360" cy="685800"/>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PEAS — Market, Supply &amp; Coordinator Agents</a:t>
            </a:r>
            <a:endParaRPr lang="en-US" sz="3000" dirty="0"/>
          </a:p>
        </p:txBody>
      </p:sp>
      <p:sp>
        <p:nvSpPr>
          <p:cNvPr id="3" name="Shape 1"/>
          <p:cNvSpPr/>
          <p:nvPr/>
        </p:nvSpPr>
        <p:spPr>
          <a:xfrm>
            <a:off x="9372600" y="411480"/>
            <a:ext cx="2286000" cy="457200"/>
          </a:xfrm>
          <a:prstGeom prst="roundRect">
            <a:avLst>
              <a:gd name="adj" fmla="val 50000"/>
            </a:avLst>
          </a:prstGeom>
          <a:solidFill>
            <a:srgbClr val="FDF1DC"/>
          </a:solidFill>
          <a:ln w="12700">
            <a:solidFill>
              <a:srgbClr val="F2A541"/>
            </a:solidFill>
            <a:prstDash val="solid"/>
          </a:ln>
        </p:spPr>
      </p:sp>
      <p:sp>
        <p:nvSpPr>
          <p:cNvPr id="4" name="Text 2"/>
          <p:cNvSpPr txBox="1"/>
          <p:nvPr/>
        </p:nvSpPr>
        <p:spPr>
          <a:xfrm>
            <a:off x="9372600" y="411480"/>
            <a:ext cx="2286000" cy="457200"/>
          </a:xfrm>
          <a:prstGeom prst="rect">
            <a:avLst/>
          </a:prstGeom>
          <a:noFill/>
          <a:ln/>
        </p:spPr>
        <p:txBody>
          <a:bodyPr wrap="square" lIns="0" tIns="0" rIns="0" bIns="0" rtlCol="0" anchor="ctr"/>
          <a:lstStyle/>
          <a:p>
            <a:pPr algn="ctr" indent="0" marL="0">
              <a:buNone/>
            </a:pPr>
            <a:r>
              <a:rPr lang="en-US" sz="1150" b="1" dirty="0">
                <a:solidFill>
                  <a:srgbClr val="12263A"/>
                </a:solidFill>
                <a:latin typeface="Calibri" pitchFamily="34" charset="0"/>
                <a:ea typeface="Calibri" pitchFamily="34" charset="-122"/>
                <a:cs typeface="Calibri" pitchFamily="34" charset="-120"/>
              </a:rPr>
              <a:t>PEAS Formulation · 3M</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a:tblGrid>
                <a:gridCol w="1554480"/>
                <a:gridCol w="2560320"/>
                <a:gridCol w="2103120"/>
                <a:gridCol w="2651760"/>
                <a:gridCol w="2240280"/>
              </a:tblGrid>
              <a:tr h="8229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Agent</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226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Performance</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226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Environment</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226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Actuators</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226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Sensors</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2263A"/>
                    </a:solidFill>
                  </a:tcPr>
                </a:tc>
              </a:tr>
              <a:tr h="82296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Market (P2)</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Critical load protected · welfare · fairness (Jain) · no building starved</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All bids and supply offers for a slot</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Allocations to buildings · dispatch requests to sources · clearing price</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Bids · supply offers</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r>
              <a:tr h="82296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Grid agent (P3)</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Energy delivered · cost</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Tariff schedule, outages</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Offer kW + price · import power</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Time of day, events, dispatch requests</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r>
              <a:tr h="82296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Solar agent (P3)</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Renewable energy used</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Sun, cloud cover</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Offer free solar kW</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Time of day, weather events</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r>
              <a:tr h="82296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Battery agent (P3)</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Energy delivered at low cost · charge kept in limits</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Its charge level, tariffs, outages</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Offer kW at cost-based price · discharge · recharge off-peak</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Charge level, stored-energy cost, dispatch requests</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r>
              <a:tr h="822960">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Coordinator (P4)</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Campus service &amp; critical protection · energy conserved · no stuck agent</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All agents · scenario event schedule</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Advance time · trigger events · run bidding rounds · feed back settlements</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latin typeface="Calibri" pitchFamily="34" charset="0"/>
                          <a:ea typeface="Calibri" pitchFamily="34" charset="-122"/>
                          <a:cs typeface="Calibri" pitchFamily="34" charset="-120"/>
                        </a:rPr>
                        <a:t>Every record, every failure</a:t>
                      </a:r>
                      <a:endParaRPr lang="en-US" sz="13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595360" cy="685800"/>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Environment Analysis</a:t>
            </a:r>
            <a:endParaRPr lang="en-US" sz="3000" dirty="0"/>
          </a:p>
        </p:txBody>
      </p:sp>
      <p:sp>
        <p:nvSpPr>
          <p:cNvPr id="3" name="Shape 1"/>
          <p:cNvSpPr/>
          <p:nvPr/>
        </p:nvSpPr>
        <p:spPr>
          <a:xfrm>
            <a:off x="9372600" y="411480"/>
            <a:ext cx="2286000" cy="457200"/>
          </a:xfrm>
          <a:prstGeom prst="roundRect">
            <a:avLst>
              <a:gd name="adj" fmla="val 50000"/>
            </a:avLst>
          </a:prstGeom>
          <a:solidFill>
            <a:srgbClr val="FDF1DC"/>
          </a:solidFill>
          <a:ln w="12700">
            <a:solidFill>
              <a:srgbClr val="F2A541"/>
            </a:solidFill>
            <a:prstDash val="solid"/>
          </a:ln>
        </p:spPr>
      </p:sp>
      <p:sp>
        <p:nvSpPr>
          <p:cNvPr id="4" name="Text 2"/>
          <p:cNvSpPr txBox="1"/>
          <p:nvPr/>
        </p:nvSpPr>
        <p:spPr>
          <a:xfrm>
            <a:off x="9372600" y="411480"/>
            <a:ext cx="2286000" cy="457200"/>
          </a:xfrm>
          <a:prstGeom prst="rect">
            <a:avLst/>
          </a:prstGeom>
          <a:noFill/>
          <a:ln/>
        </p:spPr>
        <p:txBody>
          <a:bodyPr wrap="square" lIns="0" tIns="0" rIns="0" bIns="0" rtlCol="0" anchor="ctr"/>
          <a:lstStyle/>
          <a:p>
            <a:pPr algn="ctr" indent="0" marL="0">
              <a:buNone/>
            </a:pPr>
            <a:r>
              <a:rPr lang="en-US" sz="1150" b="1" dirty="0">
                <a:solidFill>
                  <a:srgbClr val="12263A"/>
                </a:solidFill>
                <a:latin typeface="Calibri" pitchFamily="34" charset="0"/>
                <a:ea typeface="Calibri" pitchFamily="34" charset="-122"/>
                <a:cs typeface="Calibri" pitchFamily="34" charset="-120"/>
              </a:rPr>
              <a:t>Environment &amp; Agent Analysis · 3M</a:t>
            </a:r>
            <a:endParaRPr lang="en-US" sz="1150" dirty="0"/>
          </a:p>
        </p:txBody>
      </p:sp>
      <p:sp>
        <p:nvSpPr>
          <p:cNvPr id="5" name="Text 3"/>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i="1" dirty="0">
                <a:solidFill>
                  <a:srgbClr val="5B6675"/>
                </a:solidFill>
                <a:latin typeface="Calibri" pitchFamily="34" charset="0"/>
                <a:ea typeface="Calibri" pitchFamily="34" charset="-122"/>
                <a:cs typeface="Calibri" pitchFamily="34" charset="-120"/>
              </a:rPr>
              <a:t>Classifying the task environment the agents operate in</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109960" cy="914400"/>
        </p:xfrm>
        <a:graphic>
          <a:graphicData uri="http://schemas.openxmlformats.org/drawingml/2006/table">
            <a:tbl>
              <a:tblPr/>
              <a:tblGrid>
                <a:gridCol w="1828800"/>
                <a:gridCol w="2926080"/>
                <a:gridCol w="6355080"/>
              </a:tblGrid>
              <a:tr h="62179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Property</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226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GridWeave</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226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2263A"/>
                    </a:solidFill>
                  </a:tcPr>
                </a:tc>
              </a:tr>
              <a:tr h="621792">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Observable</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Partially observable</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A building sees only its own meter and the scarcity signal — never other bids or its future demand</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r>
              <a:tr h="621792">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Deterministic</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Stochastic</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Demand has noise and spikes; supply has outages and cloud; outcomes depend on other agents</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r>
              <a:tr h="621792">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Episodic</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Sequential</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Deferred energy, battery charge and each building's deprivation carry consequences forward</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r>
              <a:tr h="621792">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Static</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Dynamic</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Demand, solar and tariffs change every slot; outages happen mid-run</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r>
              <a:tr h="621792">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Discrete</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Discrete time, continuous values</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15-minute slots; power (kW) and energy (kWh) are real numbers</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r>
              <a:tr h="621792">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Agents</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Multi-agent: competitive + cooperative</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Buildings compete through the market; the market maximises campus welfare</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r>
              <a:tr h="621792">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Known</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Known rules</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Market, settlement and physics rules are fixed and documented</a:t>
                      </a:r>
                      <a:endParaRPr lang="en-US" sz="14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595360" cy="685800"/>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Agent Analysis — Types &amp; Why Multi-Agent</a:t>
            </a:r>
            <a:endParaRPr lang="en-US" sz="3000" dirty="0"/>
          </a:p>
        </p:txBody>
      </p:sp>
      <p:sp>
        <p:nvSpPr>
          <p:cNvPr id="3" name="Shape 1"/>
          <p:cNvSpPr/>
          <p:nvPr/>
        </p:nvSpPr>
        <p:spPr>
          <a:xfrm>
            <a:off x="9372600" y="411480"/>
            <a:ext cx="2286000" cy="457200"/>
          </a:xfrm>
          <a:prstGeom prst="roundRect">
            <a:avLst>
              <a:gd name="adj" fmla="val 50000"/>
            </a:avLst>
          </a:prstGeom>
          <a:solidFill>
            <a:srgbClr val="FDF1DC"/>
          </a:solidFill>
          <a:ln w="12700">
            <a:solidFill>
              <a:srgbClr val="F2A541"/>
            </a:solidFill>
            <a:prstDash val="solid"/>
          </a:ln>
        </p:spPr>
      </p:sp>
      <p:sp>
        <p:nvSpPr>
          <p:cNvPr id="4" name="Text 2"/>
          <p:cNvSpPr txBox="1"/>
          <p:nvPr/>
        </p:nvSpPr>
        <p:spPr>
          <a:xfrm>
            <a:off x="9372600" y="411480"/>
            <a:ext cx="2286000" cy="457200"/>
          </a:xfrm>
          <a:prstGeom prst="rect">
            <a:avLst/>
          </a:prstGeom>
          <a:noFill/>
          <a:ln/>
        </p:spPr>
        <p:txBody>
          <a:bodyPr wrap="square" lIns="0" tIns="0" rIns="0" bIns="0" rtlCol="0" anchor="ctr"/>
          <a:lstStyle/>
          <a:p>
            <a:pPr algn="ctr" indent="0" marL="0">
              <a:buNone/>
            </a:pPr>
            <a:r>
              <a:rPr lang="en-US" sz="1150" b="1" dirty="0">
                <a:solidFill>
                  <a:srgbClr val="12263A"/>
                </a:solidFill>
                <a:latin typeface="Calibri" pitchFamily="34" charset="0"/>
                <a:ea typeface="Calibri" pitchFamily="34" charset="-122"/>
                <a:cs typeface="Calibri" pitchFamily="34" charset="-120"/>
              </a:rPr>
              <a:t>Environment &amp; Agent Analysis · 3M</a:t>
            </a:r>
            <a:endParaRPr lang="en-US" sz="1150" dirty="0"/>
          </a:p>
        </p:txBody>
      </p:sp>
      <p:sp>
        <p:nvSpPr>
          <p:cNvPr id="5" name="Shape 3"/>
          <p:cNvSpPr/>
          <p:nvPr/>
        </p:nvSpPr>
        <p:spPr>
          <a:xfrm>
            <a:off x="548640" y="1325880"/>
            <a:ext cx="6949440" cy="868680"/>
          </a:xfrm>
          <a:prstGeom prst="roundRect">
            <a:avLst>
              <a:gd name="adj" fmla="val 12632"/>
            </a:avLst>
          </a:prstGeom>
          <a:solidFill>
            <a:srgbClr val="F3F6F9"/>
          </a:solidFill>
          <a:ln w="12700">
            <a:solidFill>
              <a:srgbClr val="F3F6F9"/>
            </a:solidFill>
            <a:prstDash val="solid"/>
          </a:ln>
        </p:spPr>
      </p:sp>
      <p:sp>
        <p:nvSpPr>
          <p:cNvPr id="6" name="Shape 4"/>
          <p:cNvSpPr/>
          <p:nvPr/>
        </p:nvSpPr>
        <p:spPr>
          <a:xfrm>
            <a:off x="713232" y="1481328"/>
            <a:ext cx="548640" cy="54864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844906" y="1613002"/>
            <a:ext cx="285293" cy="285293"/>
          </a:xfrm>
          <a:prstGeom prst="rect">
            <a:avLst/>
          </a:prstGeom>
        </p:spPr>
      </p:pic>
      <p:sp>
        <p:nvSpPr>
          <p:cNvPr id="8" name="Text 5"/>
          <p:cNvSpPr txBox="1"/>
          <p:nvPr/>
        </p:nvSpPr>
        <p:spPr>
          <a:xfrm>
            <a:off x="1417320" y="1417320"/>
            <a:ext cx="1463040" cy="685800"/>
          </a:xfrm>
          <a:prstGeom prst="rect">
            <a:avLst/>
          </a:prstGeom>
          <a:noFill/>
          <a:ln/>
        </p:spPr>
        <p:txBody>
          <a:bodyPr wrap="square" lIns="0" tIns="0" rIns="0" bIns="0" rtlCol="0" anchor="ctr"/>
          <a:lstStyle/>
          <a:p>
            <a:pPr indent="0" marL="0">
              <a:buNone/>
            </a:pPr>
            <a:r>
              <a:rPr lang="en-US" sz="1500" b="1" dirty="0">
                <a:solidFill>
                  <a:srgbClr val="12263A"/>
                </a:solidFill>
                <a:latin typeface="Cambria" pitchFamily="34" charset="0"/>
                <a:ea typeface="Cambria" pitchFamily="34" charset="-122"/>
                <a:cs typeface="Cambria" pitchFamily="34" charset="-120"/>
              </a:rPr>
              <a:t>Building</a:t>
            </a:r>
            <a:endParaRPr lang="en-US" sz="1500" dirty="0"/>
          </a:p>
        </p:txBody>
      </p:sp>
      <p:sp>
        <p:nvSpPr>
          <p:cNvPr id="9" name="Text 6"/>
          <p:cNvSpPr txBox="1"/>
          <p:nvPr/>
        </p:nvSpPr>
        <p:spPr>
          <a:xfrm>
            <a:off x="2880360" y="1399032"/>
            <a:ext cx="4480560" cy="329184"/>
          </a:xfrm>
          <a:prstGeom prst="rect">
            <a:avLst/>
          </a:prstGeom>
          <a:noFill/>
          <a:ln/>
        </p:spPr>
        <p:txBody>
          <a:bodyPr wrap="square" lIns="0" tIns="0" rIns="0" bIns="0" rtlCol="0" anchor="t"/>
          <a:lstStyle/>
          <a:p>
            <a:pPr indent="0" marL="0">
              <a:buNone/>
            </a:pPr>
            <a:r>
              <a:rPr lang="en-US" sz="1300" b="1" dirty="0">
                <a:solidFill>
                  <a:srgbClr val="1F7A8C"/>
                </a:solidFill>
                <a:latin typeface="Calibri" pitchFamily="34" charset="0"/>
                <a:ea typeface="Calibri" pitchFamily="34" charset="-122"/>
                <a:cs typeface="Calibri" pitchFamily="34" charset="-120"/>
              </a:rPr>
              <a:t>Model-based agent with a learned model</a:t>
            </a:r>
            <a:endParaRPr lang="en-US" sz="1300" dirty="0"/>
          </a:p>
        </p:txBody>
      </p:sp>
      <p:sp>
        <p:nvSpPr>
          <p:cNvPr id="10" name="Text 7"/>
          <p:cNvSpPr txBox="1"/>
          <p:nvPr/>
        </p:nvSpPr>
        <p:spPr>
          <a:xfrm>
            <a:off x="2880360" y="1728216"/>
            <a:ext cx="4526280" cy="457200"/>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Keeps history, deferred-energy queue and deprivation state; predicts demand with a trained model</a:t>
            </a:r>
            <a:endParaRPr lang="en-US" sz="1150" dirty="0"/>
          </a:p>
        </p:txBody>
      </p:sp>
      <p:sp>
        <p:nvSpPr>
          <p:cNvPr id="11" name="Shape 8"/>
          <p:cNvSpPr/>
          <p:nvPr/>
        </p:nvSpPr>
        <p:spPr>
          <a:xfrm>
            <a:off x="548640" y="2313432"/>
            <a:ext cx="6949440" cy="868680"/>
          </a:xfrm>
          <a:prstGeom prst="roundRect">
            <a:avLst>
              <a:gd name="adj" fmla="val 12632"/>
            </a:avLst>
          </a:prstGeom>
          <a:solidFill>
            <a:srgbClr val="F3F6F9"/>
          </a:solidFill>
          <a:ln w="12700">
            <a:solidFill>
              <a:srgbClr val="F3F6F9"/>
            </a:solidFill>
            <a:prstDash val="solid"/>
          </a:ln>
        </p:spPr>
      </p:sp>
      <p:sp>
        <p:nvSpPr>
          <p:cNvPr id="12" name="Shape 9"/>
          <p:cNvSpPr/>
          <p:nvPr/>
        </p:nvSpPr>
        <p:spPr>
          <a:xfrm>
            <a:off x="713232" y="2468880"/>
            <a:ext cx="548640" cy="548640"/>
          </a:xfrm>
          <a:prstGeom prst="ellipse">
            <a:avLst/>
          </a:prstGeom>
          <a:solidFill>
            <a:srgbClr val="F2A541"/>
          </a:solidFill>
          <a:ln w="12700">
            <a:solidFill>
              <a:srgbClr val="F2A541"/>
            </a:solidFill>
            <a:prstDash val="solid"/>
          </a:ln>
        </p:spPr>
      </p:sp>
      <p:pic>
        <p:nvPicPr>
          <p:cNvPr id="13" name="Image 1" descr="preencoded.png">    </p:cNvPr>
          <p:cNvPicPr>
            <a:picLocks noChangeAspect="1"/>
          </p:cNvPicPr>
          <p:nvPr/>
        </p:nvPicPr>
        <p:blipFill>
          <a:blip r:embed="rId2"/>
          <a:stretch>
            <a:fillRect/>
          </a:stretch>
        </p:blipFill>
        <p:spPr>
          <a:xfrm>
            <a:off x="844906" y="2600554"/>
            <a:ext cx="285293" cy="285293"/>
          </a:xfrm>
          <a:prstGeom prst="rect">
            <a:avLst/>
          </a:prstGeom>
        </p:spPr>
      </p:pic>
      <p:sp>
        <p:nvSpPr>
          <p:cNvPr id="14" name="Text 10"/>
          <p:cNvSpPr txBox="1"/>
          <p:nvPr/>
        </p:nvSpPr>
        <p:spPr>
          <a:xfrm>
            <a:off x="1417320" y="2404872"/>
            <a:ext cx="1463040" cy="685800"/>
          </a:xfrm>
          <a:prstGeom prst="rect">
            <a:avLst/>
          </a:prstGeom>
          <a:noFill/>
          <a:ln/>
        </p:spPr>
        <p:txBody>
          <a:bodyPr wrap="square" lIns="0" tIns="0" rIns="0" bIns="0" rtlCol="0" anchor="ctr"/>
          <a:lstStyle/>
          <a:p>
            <a:pPr indent="0" marL="0">
              <a:buNone/>
            </a:pPr>
            <a:r>
              <a:rPr lang="en-US" sz="1500" b="1" dirty="0">
                <a:solidFill>
                  <a:srgbClr val="12263A"/>
                </a:solidFill>
                <a:latin typeface="Cambria" pitchFamily="34" charset="0"/>
                <a:ea typeface="Cambria" pitchFamily="34" charset="-122"/>
                <a:cs typeface="Cambria" pitchFamily="34" charset="-120"/>
              </a:rPr>
              <a:t>Market</a:t>
            </a:r>
            <a:endParaRPr lang="en-US" sz="1500" dirty="0"/>
          </a:p>
        </p:txBody>
      </p:sp>
      <p:sp>
        <p:nvSpPr>
          <p:cNvPr id="15" name="Text 11"/>
          <p:cNvSpPr txBox="1"/>
          <p:nvPr/>
        </p:nvSpPr>
        <p:spPr>
          <a:xfrm>
            <a:off x="2880360" y="2386584"/>
            <a:ext cx="4480560" cy="329184"/>
          </a:xfrm>
          <a:prstGeom prst="rect">
            <a:avLst/>
          </a:prstGeom>
          <a:noFill/>
          <a:ln/>
        </p:spPr>
        <p:txBody>
          <a:bodyPr wrap="square" lIns="0" tIns="0" rIns="0" bIns="0" rtlCol="0" anchor="t"/>
          <a:lstStyle/>
          <a:p>
            <a:pPr indent="0" marL="0">
              <a:buNone/>
            </a:pPr>
            <a:r>
              <a:rPr lang="en-US" sz="1300" b="1" dirty="0">
                <a:solidFill>
                  <a:srgbClr val="1F7A8C"/>
                </a:solidFill>
                <a:latin typeface="Calibri" pitchFamily="34" charset="0"/>
                <a:ea typeface="Calibri" pitchFamily="34" charset="-122"/>
                <a:cs typeface="Calibri" pitchFamily="34" charset="-120"/>
              </a:rPr>
              <a:t>Utility-based agent</a:t>
            </a:r>
            <a:endParaRPr lang="en-US" sz="1300" dirty="0"/>
          </a:p>
        </p:txBody>
      </p:sp>
      <p:sp>
        <p:nvSpPr>
          <p:cNvPr id="16" name="Text 12"/>
          <p:cNvSpPr txBox="1"/>
          <p:nvPr/>
        </p:nvSpPr>
        <p:spPr>
          <a:xfrm>
            <a:off x="2880360" y="2715768"/>
            <a:ext cx="4526280" cy="457200"/>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Maximises campus welfare under supply and bid constraints</a:t>
            </a:r>
            <a:endParaRPr lang="en-US" sz="1150" dirty="0"/>
          </a:p>
        </p:txBody>
      </p:sp>
      <p:sp>
        <p:nvSpPr>
          <p:cNvPr id="17" name="Shape 13"/>
          <p:cNvSpPr/>
          <p:nvPr/>
        </p:nvSpPr>
        <p:spPr>
          <a:xfrm>
            <a:off x="548640" y="3300984"/>
            <a:ext cx="6949440" cy="868680"/>
          </a:xfrm>
          <a:prstGeom prst="roundRect">
            <a:avLst>
              <a:gd name="adj" fmla="val 12632"/>
            </a:avLst>
          </a:prstGeom>
          <a:solidFill>
            <a:srgbClr val="F3F6F9"/>
          </a:solidFill>
          <a:ln w="12700">
            <a:solidFill>
              <a:srgbClr val="F3F6F9"/>
            </a:solidFill>
            <a:prstDash val="solid"/>
          </a:ln>
        </p:spPr>
      </p:sp>
      <p:sp>
        <p:nvSpPr>
          <p:cNvPr id="18" name="Shape 14"/>
          <p:cNvSpPr/>
          <p:nvPr/>
        </p:nvSpPr>
        <p:spPr>
          <a:xfrm>
            <a:off x="713232" y="3456432"/>
            <a:ext cx="548640" cy="548640"/>
          </a:xfrm>
          <a:prstGeom prst="ellipse">
            <a:avLst/>
          </a:prstGeom>
          <a:solidFill>
            <a:srgbClr val="F2A541"/>
          </a:solidFill>
          <a:ln w="12700">
            <a:solidFill>
              <a:srgbClr val="F2A541"/>
            </a:solidFill>
            <a:prstDash val="solid"/>
          </a:ln>
        </p:spPr>
      </p:sp>
      <p:pic>
        <p:nvPicPr>
          <p:cNvPr id="19" name="Image 2" descr="preencoded.png">    </p:cNvPr>
          <p:cNvPicPr>
            <a:picLocks noChangeAspect="1"/>
          </p:cNvPicPr>
          <p:nvPr/>
        </p:nvPicPr>
        <p:blipFill>
          <a:blip r:embed="rId3"/>
          <a:stretch>
            <a:fillRect/>
          </a:stretch>
        </p:blipFill>
        <p:spPr>
          <a:xfrm>
            <a:off x="844906" y="3588106"/>
            <a:ext cx="285293" cy="285293"/>
          </a:xfrm>
          <a:prstGeom prst="rect">
            <a:avLst/>
          </a:prstGeom>
        </p:spPr>
      </p:pic>
      <p:sp>
        <p:nvSpPr>
          <p:cNvPr id="20" name="Text 15"/>
          <p:cNvSpPr txBox="1"/>
          <p:nvPr/>
        </p:nvSpPr>
        <p:spPr>
          <a:xfrm>
            <a:off x="1417320" y="3392424"/>
            <a:ext cx="1463040" cy="685800"/>
          </a:xfrm>
          <a:prstGeom prst="rect">
            <a:avLst/>
          </a:prstGeom>
          <a:noFill/>
          <a:ln/>
        </p:spPr>
        <p:txBody>
          <a:bodyPr wrap="square" lIns="0" tIns="0" rIns="0" bIns="0" rtlCol="0" anchor="ctr"/>
          <a:lstStyle/>
          <a:p>
            <a:pPr indent="0" marL="0">
              <a:buNone/>
            </a:pPr>
            <a:r>
              <a:rPr lang="en-US" sz="1500" b="1" dirty="0">
                <a:solidFill>
                  <a:srgbClr val="12263A"/>
                </a:solidFill>
                <a:latin typeface="Cambria" pitchFamily="34" charset="0"/>
                <a:ea typeface="Cambria" pitchFamily="34" charset="-122"/>
                <a:cs typeface="Cambria" pitchFamily="34" charset="-120"/>
              </a:rPr>
              <a:t>Battery</a:t>
            </a:r>
            <a:endParaRPr lang="en-US" sz="1500" dirty="0"/>
          </a:p>
        </p:txBody>
      </p:sp>
      <p:sp>
        <p:nvSpPr>
          <p:cNvPr id="21" name="Text 16"/>
          <p:cNvSpPr txBox="1"/>
          <p:nvPr/>
        </p:nvSpPr>
        <p:spPr>
          <a:xfrm>
            <a:off x="2880360" y="3374136"/>
            <a:ext cx="4480560" cy="329184"/>
          </a:xfrm>
          <a:prstGeom prst="rect">
            <a:avLst/>
          </a:prstGeom>
          <a:noFill/>
          <a:ln/>
        </p:spPr>
        <p:txBody>
          <a:bodyPr wrap="square" lIns="0" tIns="0" rIns="0" bIns="0" rtlCol="0" anchor="t"/>
          <a:lstStyle/>
          <a:p>
            <a:pPr indent="0" marL="0">
              <a:buNone/>
            </a:pPr>
            <a:r>
              <a:rPr lang="en-US" sz="1300" b="1" dirty="0">
                <a:solidFill>
                  <a:srgbClr val="1F7A8C"/>
                </a:solidFill>
                <a:latin typeface="Calibri" pitchFamily="34" charset="0"/>
                <a:ea typeface="Calibri" pitchFamily="34" charset="-122"/>
                <a:cs typeface="Calibri" pitchFamily="34" charset="-120"/>
              </a:rPr>
              <a:t>Model-based agent</a:t>
            </a:r>
            <a:endParaRPr lang="en-US" sz="1300" dirty="0"/>
          </a:p>
        </p:txBody>
      </p:sp>
      <p:sp>
        <p:nvSpPr>
          <p:cNvPr id="22" name="Text 17"/>
          <p:cNvSpPr txBox="1"/>
          <p:nvPr/>
        </p:nvSpPr>
        <p:spPr>
          <a:xfrm>
            <a:off x="2880360" y="3703320"/>
            <a:ext cx="4526280" cy="457200"/>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Tracks charge level and the cost of stored energy; prices offers from it</a:t>
            </a:r>
            <a:endParaRPr lang="en-US" sz="1150" dirty="0"/>
          </a:p>
        </p:txBody>
      </p:sp>
      <p:sp>
        <p:nvSpPr>
          <p:cNvPr id="23" name="Shape 18"/>
          <p:cNvSpPr/>
          <p:nvPr/>
        </p:nvSpPr>
        <p:spPr>
          <a:xfrm>
            <a:off x="548640" y="4288536"/>
            <a:ext cx="6949440" cy="868680"/>
          </a:xfrm>
          <a:prstGeom prst="roundRect">
            <a:avLst>
              <a:gd name="adj" fmla="val 12632"/>
            </a:avLst>
          </a:prstGeom>
          <a:solidFill>
            <a:srgbClr val="F3F6F9"/>
          </a:solidFill>
          <a:ln w="12700">
            <a:solidFill>
              <a:srgbClr val="F3F6F9"/>
            </a:solidFill>
            <a:prstDash val="solid"/>
          </a:ln>
        </p:spPr>
      </p:sp>
      <p:sp>
        <p:nvSpPr>
          <p:cNvPr id="24" name="Shape 19"/>
          <p:cNvSpPr/>
          <p:nvPr/>
        </p:nvSpPr>
        <p:spPr>
          <a:xfrm>
            <a:off x="713232" y="4443984"/>
            <a:ext cx="548640" cy="548640"/>
          </a:xfrm>
          <a:prstGeom prst="ellipse">
            <a:avLst/>
          </a:prstGeom>
          <a:solidFill>
            <a:srgbClr val="F2A541"/>
          </a:solidFill>
          <a:ln w="12700">
            <a:solidFill>
              <a:srgbClr val="F2A541"/>
            </a:solidFill>
            <a:prstDash val="solid"/>
          </a:ln>
        </p:spPr>
      </p:sp>
      <p:pic>
        <p:nvPicPr>
          <p:cNvPr id="25" name="Image 3" descr="preencoded.png">    </p:cNvPr>
          <p:cNvPicPr>
            <a:picLocks noChangeAspect="1"/>
          </p:cNvPicPr>
          <p:nvPr/>
        </p:nvPicPr>
        <p:blipFill>
          <a:blip r:embed="rId4"/>
          <a:stretch>
            <a:fillRect/>
          </a:stretch>
        </p:blipFill>
        <p:spPr>
          <a:xfrm>
            <a:off x="844906" y="4575658"/>
            <a:ext cx="285293" cy="285293"/>
          </a:xfrm>
          <a:prstGeom prst="rect">
            <a:avLst/>
          </a:prstGeom>
        </p:spPr>
      </p:pic>
      <p:sp>
        <p:nvSpPr>
          <p:cNvPr id="26" name="Text 20"/>
          <p:cNvSpPr txBox="1"/>
          <p:nvPr/>
        </p:nvSpPr>
        <p:spPr>
          <a:xfrm>
            <a:off x="1417320" y="4379976"/>
            <a:ext cx="1463040" cy="685800"/>
          </a:xfrm>
          <a:prstGeom prst="rect">
            <a:avLst/>
          </a:prstGeom>
          <a:noFill/>
          <a:ln/>
        </p:spPr>
        <p:txBody>
          <a:bodyPr wrap="square" lIns="0" tIns="0" rIns="0" bIns="0" rtlCol="0" anchor="ctr"/>
          <a:lstStyle/>
          <a:p>
            <a:pPr indent="0" marL="0">
              <a:buNone/>
            </a:pPr>
            <a:r>
              <a:rPr lang="en-US" sz="1500" b="1" dirty="0">
                <a:solidFill>
                  <a:srgbClr val="12263A"/>
                </a:solidFill>
                <a:latin typeface="Cambria" pitchFamily="34" charset="0"/>
                <a:ea typeface="Cambria" pitchFamily="34" charset="-122"/>
                <a:cs typeface="Cambria" pitchFamily="34" charset="-120"/>
              </a:rPr>
              <a:t>Grid / Solar</a:t>
            </a:r>
            <a:endParaRPr lang="en-US" sz="1500" dirty="0"/>
          </a:p>
        </p:txBody>
      </p:sp>
      <p:sp>
        <p:nvSpPr>
          <p:cNvPr id="27" name="Text 21"/>
          <p:cNvSpPr txBox="1"/>
          <p:nvPr/>
        </p:nvSpPr>
        <p:spPr>
          <a:xfrm>
            <a:off x="2880360" y="4361688"/>
            <a:ext cx="4480560" cy="329184"/>
          </a:xfrm>
          <a:prstGeom prst="rect">
            <a:avLst/>
          </a:prstGeom>
          <a:noFill/>
          <a:ln/>
        </p:spPr>
        <p:txBody>
          <a:bodyPr wrap="square" lIns="0" tIns="0" rIns="0" bIns="0" rtlCol="0" anchor="t"/>
          <a:lstStyle/>
          <a:p>
            <a:pPr indent="0" marL="0">
              <a:buNone/>
            </a:pPr>
            <a:r>
              <a:rPr lang="en-US" sz="1300" b="1" dirty="0">
                <a:solidFill>
                  <a:srgbClr val="1F7A8C"/>
                </a:solidFill>
                <a:latin typeface="Calibri" pitchFamily="34" charset="0"/>
                <a:ea typeface="Calibri" pitchFamily="34" charset="-122"/>
                <a:cs typeface="Calibri" pitchFamily="34" charset="-120"/>
              </a:rPr>
              <a:t>Simple rule-based agents</a:t>
            </a:r>
            <a:endParaRPr lang="en-US" sz="1300" dirty="0"/>
          </a:p>
        </p:txBody>
      </p:sp>
      <p:sp>
        <p:nvSpPr>
          <p:cNvPr id="28" name="Text 22"/>
          <p:cNvSpPr txBox="1"/>
          <p:nvPr/>
        </p:nvSpPr>
        <p:spPr>
          <a:xfrm>
            <a:off x="2880360" y="4690872"/>
            <a:ext cx="4526280" cy="457200"/>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Offer what is physically available at the current price</a:t>
            </a:r>
            <a:endParaRPr lang="en-US" sz="1150" dirty="0"/>
          </a:p>
        </p:txBody>
      </p:sp>
      <p:sp>
        <p:nvSpPr>
          <p:cNvPr id="29" name="Shape 23"/>
          <p:cNvSpPr/>
          <p:nvPr/>
        </p:nvSpPr>
        <p:spPr>
          <a:xfrm>
            <a:off x="548640" y="5276088"/>
            <a:ext cx="6949440" cy="868680"/>
          </a:xfrm>
          <a:prstGeom prst="roundRect">
            <a:avLst>
              <a:gd name="adj" fmla="val 12632"/>
            </a:avLst>
          </a:prstGeom>
          <a:solidFill>
            <a:srgbClr val="F3F6F9"/>
          </a:solidFill>
          <a:ln w="12700">
            <a:solidFill>
              <a:srgbClr val="F3F6F9"/>
            </a:solidFill>
            <a:prstDash val="solid"/>
          </a:ln>
        </p:spPr>
      </p:sp>
      <p:sp>
        <p:nvSpPr>
          <p:cNvPr id="30" name="Shape 24"/>
          <p:cNvSpPr/>
          <p:nvPr/>
        </p:nvSpPr>
        <p:spPr>
          <a:xfrm>
            <a:off x="713232" y="5431536"/>
            <a:ext cx="548640" cy="548640"/>
          </a:xfrm>
          <a:prstGeom prst="ellipse">
            <a:avLst/>
          </a:prstGeom>
          <a:solidFill>
            <a:srgbClr val="F2A541"/>
          </a:solidFill>
          <a:ln w="12700">
            <a:solidFill>
              <a:srgbClr val="F2A541"/>
            </a:solidFill>
            <a:prstDash val="solid"/>
          </a:ln>
        </p:spPr>
      </p:sp>
      <p:pic>
        <p:nvPicPr>
          <p:cNvPr id="31" name="Image 4" descr="preencoded.png">    </p:cNvPr>
          <p:cNvPicPr>
            <a:picLocks noChangeAspect="1"/>
          </p:cNvPicPr>
          <p:nvPr/>
        </p:nvPicPr>
        <p:blipFill>
          <a:blip r:embed="rId5"/>
          <a:stretch>
            <a:fillRect/>
          </a:stretch>
        </p:blipFill>
        <p:spPr>
          <a:xfrm>
            <a:off x="844906" y="5563210"/>
            <a:ext cx="285293" cy="285293"/>
          </a:xfrm>
          <a:prstGeom prst="rect">
            <a:avLst/>
          </a:prstGeom>
        </p:spPr>
      </p:pic>
      <p:sp>
        <p:nvSpPr>
          <p:cNvPr id="32" name="Text 25"/>
          <p:cNvSpPr txBox="1"/>
          <p:nvPr/>
        </p:nvSpPr>
        <p:spPr>
          <a:xfrm>
            <a:off x="1417320" y="5367528"/>
            <a:ext cx="1463040" cy="685800"/>
          </a:xfrm>
          <a:prstGeom prst="rect">
            <a:avLst/>
          </a:prstGeom>
          <a:noFill/>
          <a:ln/>
        </p:spPr>
        <p:txBody>
          <a:bodyPr wrap="square" lIns="0" tIns="0" rIns="0" bIns="0" rtlCol="0" anchor="ctr"/>
          <a:lstStyle/>
          <a:p>
            <a:pPr indent="0" marL="0">
              <a:buNone/>
            </a:pPr>
            <a:r>
              <a:rPr lang="en-US" sz="1500" b="1" dirty="0">
                <a:solidFill>
                  <a:srgbClr val="12263A"/>
                </a:solidFill>
                <a:latin typeface="Cambria" pitchFamily="34" charset="0"/>
                <a:ea typeface="Cambria" pitchFamily="34" charset="-122"/>
                <a:cs typeface="Cambria" pitchFamily="34" charset="-120"/>
              </a:rPr>
              <a:t>Coordinator</a:t>
            </a:r>
            <a:endParaRPr lang="en-US" sz="1500" dirty="0"/>
          </a:p>
        </p:txBody>
      </p:sp>
      <p:sp>
        <p:nvSpPr>
          <p:cNvPr id="33" name="Text 26"/>
          <p:cNvSpPr txBox="1"/>
          <p:nvPr/>
        </p:nvSpPr>
        <p:spPr>
          <a:xfrm>
            <a:off x="2880360" y="5349240"/>
            <a:ext cx="4480560" cy="329184"/>
          </a:xfrm>
          <a:prstGeom prst="rect">
            <a:avLst/>
          </a:prstGeom>
          <a:noFill/>
          <a:ln/>
        </p:spPr>
        <p:txBody>
          <a:bodyPr wrap="square" lIns="0" tIns="0" rIns="0" bIns="0" rtlCol="0" anchor="t"/>
          <a:lstStyle/>
          <a:p>
            <a:pPr indent="0" marL="0">
              <a:buNone/>
            </a:pPr>
            <a:r>
              <a:rPr lang="en-US" sz="1300" b="1" dirty="0">
                <a:solidFill>
                  <a:srgbClr val="1F7A8C"/>
                </a:solidFill>
                <a:latin typeface="Calibri" pitchFamily="34" charset="0"/>
                <a:ea typeface="Calibri" pitchFamily="34" charset="-122"/>
                <a:cs typeface="Calibri" pitchFamily="34" charset="-120"/>
              </a:rPr>
              <a:t>Orchestrator</a:t>
            </a:r>
            <a:endParaRPr lang="en-US" sz="1300" dirty="0"/>
          </a:p>
        </p:txBody>
      </p:sp>
      <p:sp>
        <p:nvSpPr>
          <p:cNvPr id="34" name="Text 27"/>
          <p:cNvSpPr txBox="1"/>
          <p:nvPr/>
        </p:nvSpPr>
        <p:spPr>
          <a:xfrm>
            <a:off x="2880360" y="5678424"/>
            <a:ext cx="4526280" cy="457200"/>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Runs the loop, applies events, validates every message</a:t>
            </a:r>
            <a:endParaRPr lang="en-US" sz="1150" dirty="0"/>
          </a:p>
        </p:txBody>
      </p:sp>
      <p:sp>
        <p:nvSpPr>
          <p:cNvPr id="35" name="Shape 28"/>
          <p:cNvSpPr/>
          <p:nvPr/>
        </p:nvSpPr>
        <p:spPr>
          <a:xfrm>
            <a:off x="7818120" y="1325880"/>
            <a:ext cx="3840480" cy="4846320"/>
          </a:xfrm>
          <a:prstGeom prst="roundRect">
            <a:avLst>
              <a:gd name="adj" fmla="val 2857"/>
            </a:avLst>
          </a:prstGeom>
          <a:solidFill>
            <a:srgbClr val="FDF1DC"/>
          </a:solidFill>
          <a:ln w="12700">
            <a:solidFill>
              <a:srgbClr val="FDF1DC"/>
            </a:solidFill>
            <a:prstDash val="solid"/>
          </a:ln>
        </p:spPr>
      </p:sp>
      <p:sp>
        <p:nvSpPr>
          <p:cNvPr id="36" name="Text 29"/>
          <p:cNvSpPr txBox="1"/>
          <p:nvPr/>
        </p:nvSpPr>
        <p:spPr>
          <a:xfrm>
            <a:off x="8046720" y="1481328"/>
            <a:ext cx="3474720" cy="731520"/>
          </a:xfrm>
          <a:prstGeom prst="rect">
            <a:avLst/>
          </a:prstGeom>
          <a:noFill/>
          <a:ln/>
        </p:spPr>
        <p:txBody>
          <a:bodyPr wrap="square" lIns="0" tIns="0" rIns="0" bIns="0" rtlCol="0" anchor="t"/>
          <a:lstStyle/>
          <a:p>
            <a:pPr indent="0" marL="0">
              <a:buNone/>
            </a:pPr>
            <a:r>
              <a:rPr lang="en-US" sz="1500" b="1" dirty="0">
                <a:solidFill>
                  <a:srgbClr val="12263A"/>
                </a:solidFill>
                <a:latin typeface="Cambria" pitchFamily="34" charset="0"/>
                <a:ea typeface="Cambria" pitchFamily="34" charset="-122"/>
                <a:cs typeface="Cambria" pitchFamily="34" charset="-120"/>
              </a:rPr>
              <a:t>Why multi-agent, not one central optimiser?</a:t>
            </a:r>
            <a:endParaRPr lang="en-US" sz="1500" dirty="0"/>
          </a:p>
        </p:txBody>
      </p:sp>
      <p:sp>
        <p:nvSpPr>
          <p:cNvPr id="37" name="Text 30"/>
          <p:cNvSpPr txBox="1"/>
          <p:nvPr/>
        </p:nvSpPr>
        <p:spPr>
          <a:xfrm>
            <a:off x="8046720" y="2286000"/>
            <a:ext cx="3429000" cy="3749040"/>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Private information: only a building knows its own demand and can forecast it</a:t>
            </a:r>
            <a:endParaRPr lang="en-US" sz="1250" dirty="0"/>
          </a:p>
          <a:p>
            <a:pPr marL="203200" indent="-2032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Decentralised decisions scale: adding a building adds an agent, not complexity</a:t>
            </a:r>
            <a:endParaRPr lang="en-US" sz="1250" dirty="0"/>
          </a:p>
          <a:p>
            <a:pPr marL="203200" indent="-2032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Each part can be replaced behind a contract (market, supply, coordinator)</a:t>
            </a:r>
            <a:endParaRPr lang="en-US" sz="1250" dirty="0"/>
          </a:p>
          <a:p>
            <a:pPr marL="203200" indent="-2032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A simple reflex building (bid its current reading) fails: it under-bids before the morning ramp and cannot carry postponed energy</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595360" cy="685800"/>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How the Agents Interact — One 15-Minute Slot</a:t>
            </a:r>
            <a:endParaRPr lang="en-US" sz="3000" dirty="0"/>
          </a:p>
        </p:txBody>
      </p:sp>
      <p:sp>
        <p:nvSpPr>
          <p:cNvPr id="3" name="Shape 1"/>
          <p:cNvSpPr/>
          <p:nvPr/>
        </p:nvSpPr>
        <p:spPr>
          <a:xfrm>
            <a:off x="9372600" y="411480"/>
            <a:ext cx="2286000" cy="457200"/>
          </a:xfrm>
          <a:prstGeom prst="roundRect">
            <a:avLst>
              <a:gd name="adj" fmla="val 50000"/>
            </a:avLst>
          </a:prstGeom>
          <a:solidFill>
            <a:srgbClr val="FDF1DC"/>
          </a:solidFill>
          <a:ln w="12700">
            <a:solidFill>
              <a:srgbClr val="F2A541"/>
            </a:solidFill>
            <a:prstDash val="solid"/>
          </a:ln>
        </p:spPr>
      </p:sp>
      <p:sp>
        <p:nvSpPr>
          <p:cNvPr id="4" name="Text 2"/>
          <p:cNvSpPr txBox="1"/>
          <p:nvPr/>
        </p:nvSpPr>
        <p:spPr>
          <a:xfrm>
            <a:off x="9372600" y="411480"/>
            <a:ext cx="2286000" cy="457200"/>
          </a:xfrm>
          <a:prstGeom prst="rect">
            <a:avLst/>
          </a:prstGeom>
          <a:noFill/>
          <a:ln/>
        </p:spPr>
        <p:txBody>
          <a:bodyPr wrap="square" lIns="0" tIns="0" rIns="0" bIns="0" rtlCol="0" anchor="ctr"/>
          <a:lstStyle/>
          <a:p>
            <a:pPr algn="ctr" indent="0" marL="0">
              <a:buNone/>
            </a:pPr>
            <a:r>
              <a:rPr lang="en-US" sz="1150" b="1" dirty="0">
                <a:solidFill>
                  <a:srgbClr val="12263A"/>
                </a:solidFill>
                <a:latin typeface="Calibri" pitchFamily="34" charset="0"/>
                <a:ea typeface="Calibri" pitchFamily="34" charset="-122"/>
                <a:cs typeface="Calibri" pitchFamily="34" charset="-120"/>
              </a:rPr>
              <a:t>Environment &amp; Agent Analysis · 3M</a:t>
            </a:r>
            <a:endParaRPr lang="en-US" sz="1150" dirty="0"/>
          </a:p>
        </p:txBody>
      </p:sp>
      <p:sp>
        <p:nvSpPr>
          <p:cNvPr id="5" name="Shape 3"/>
          <p:cNvSpPr/>
          <p:nvPr/>
        </p:nvSpPr>
        <p:spPr>
          <a:xfrm>
            <a:off x="548640" y="1371600"/>
            <a:ext cx="3593592" cy="1505712"/>
          </a:xfrm>
          <a:prstGeom prst="roundRect">
            <a:avLst>
              <a:gd name="adj" fmla="val 7287"/>
            </a:avLst>
          </a:prstGeom>
          <a:solidFill>
            <a:srgbClr val="F3F6F9"/>
          </a:solidFill>
          <a:ln w="12700">
            <a:solidFill>
              <a:srgbClr val="F3F6F9"/>
            </a:solidFill>
            <a:prstDash val="solid"/>
          </a:ln>
        </p:spPr>
      </p:sp>
      <p:sp>
        <p:nvSpPr>
          <p:cNvPr id="6" name="Shape 4"/>
          <p:cNvSpPr/>
          <p:nvPr/>
        </p:nvSpPr>
        <p:spPr>
          <a:xfrm>
            <a:off x="658368" y="1481328"/>
            <a:ext cx="384048" cy="384048"/>
          </a:xfrm>
          <a:prstGeom prst="ellipse">
            <a:avLst/>
          </a:prstGeom>
          <a:solidFill>
            <a:srgbClr val="F2A541"/>
          </a:solidFill>
          <a:ln w="12700">
            <a:solidFill>
              <a:srgbClr val="F2A541"/>
            </a:solidFill>
            <a:prstDash val="solid"/>
          </a:ln>
        </p:spPr>
      </p:sp>
      <p:sp>
        <p:nvSpPr>
          <p:cNvPr id="7" name="Text 5"/>
          <p:cNvSpPr txBox="1"/>
          <p:nvPr/>
        </p:nvSpPr>
        <p:spPr>
          <a:xfrm>
            <a:off x="658368" y="1481328"/>
            <a:ext cx="384048" cy="384048"/>
          </a:xfrm>
          <a:prstGeom prst="rect">
            <a:avLst/>
          </a:prstGeom>
          <a:noFill/>
          <a:ln/>
        </p:spPr>
        <p:txBody>
          <a:bodyPr wrap="square" lIns="0" tIns="0" rIns="0" bIns="0" rtlCol="0" anchor="ctr"/>
          <a:lstStyle/>
          <a:p>
            <a:pPr algn="ctr" indent="0" marL="0">
              <a:buNone/>
            </a:pPr>
            <a:r>
              <a:rPr lang="en-US" sz="1300" b="1" dirty="0">
                <a:solidFill>
                  <a:srgbClr val="12263A"/>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33856" y="1481328"/>
            <a:ext cx="2898648" cy="384048"/>
          </a:xfrm>
          <a:prstGeom prst="rect">
            <a:avLst/>
          </a:prstGeom>
          <a:noFill/>
          <a:ln/>
        </p:spPr>
        <p:txBody>
          <a:bodyPr wrap="square" lIns="0" tIns="0" rIns="0" bIns="0" rtlCol="0" anchor="ctr"/>
          <a:lstStyle/>
          <a:p>
            <a:pPr indent="0" marL="0">
              <a:buNone/>
            </a:pPr>
            <a:r>
              <a:rPr lang="en-US" sz="1300" b="1" dirty="0">
                <a:solidFill>
                  <a:srgbClr val="12263A"/>
                </a:solidFill>
                <a:latin typeface="Calibri" pitchFamily="34" charset="0"/>
                <a:ea typeface="Calibri" pitchFamily="34" charset="-122"/>
                <a:cs typeface="Calibri" pitchFamily="34" charset="-120"/>
              </a:rPr>
              <a:t>Events</a:t>
            </a:r>
            <a:endParaRPr lang="en-US" sz="1300" dirty="0"/>
          </a:p>
        </p:txBody>
      </p:sp>
      <p:sp>
        <p:nvSpPr>
          <p:cNvPr id="9" name="Text 7"/>
          <p:cNvSpPr txBox="1"/>
          <p:nvPr/>
        </p:nvSpPr>
        <p:spPr>
          <a:xfrm>
            <a:off x="676656" y="1938528"/>
            <a:ext cx="3337560" cy="847344"/>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Coordinator applies scheduled events (outage, cloud, price spike)</a:t>
            </a:r>
            <a:endParaRPr lang="en-US" sz="1150" dirty="0"/>
          </a:p>
        </p:txBody>
      </p:sp>
      <p:sp>
        <p:nvSpPr>
          <p:cNvPr id="10" name="Shape 8"/>
          <p:cNvSpPr/>
          <p:nvPr/>
        </p:nvSpPr>
        <p:spPr>
          <a:xfrm>
            <a:off x="4306824" y="1371600"/>
            <a:ext cx="3593592" cy="1505712"/>
          </a:xfrm>
          <a:prstGeom prst="roundRect">
            <a:avLst>
              <a:gd name="adj" fmla="val 7287"/>
            </a:avLst>
          </a:prstGeom>
          <a:solidFill>
            <a:srgbClr val="F3F6F9"/>
          </a:solidFill>
          <a:ln w="12700">
            <a:solidFill>
              <a:srgbClr val="F3F6F9"/>
            </a:solidFill>
            <a:prstDash val="solid"/>
          </a:ln>
        </p:spPr>
      </p:sp>
      <p:sp>
        <p:nvSpPr>
          <p:cNvPr id="11" name="Shape 9"/>
          <p:cNvSpPr/>
          <p:nvPr/>
        </p:nvSpPr>
        <p:spPr>
          <a:xfrm>
            <a:off x="4416552" y="1481328"/>
            <a:ext cx="384048" cy="384048"/>
          </a:xfrm>
          <a:prstGeom prst="ellipse">
            <a:avLst/>
          </a:prstGeom>
          <a:solidFill>
            <a:srgbClr val="F2A541"/>
          </a:solidFill>
          <a:ln w="12700">
            <a:solidFill>
              <a:srgbClr val="F2A541"/>
            </a:solidFill>
            <a:prstDash val="solid"/>
          </a:ln>
        </p:spPr>
      </p:sp>
      <p:sp>
        <p:nvSpPr>
          <p:cNvPr id="12" name="Text 10"/>
          <p:cNvSpPr txBox="1"/>
          <p:nvPr/>
        </p:nvSpPr>
        <p:spPr>
          <a:xfrm>
            <a:off x="4416552" y="1481328"/>
            <a:ext cx="384048" cy="384048"/>
          </a:xfrm>
          <a:prstGeom prst="rect">
            <a:avLst/>
          </a:prstGeom>
          <a:noFill/>
          <a:ln/>
        </p:spPr>
        <p:txBody>
          <a:bodyPr wrap="square" lIns="0" tIns="0" rIns="0" bIns="0" rtlCol="0" anchor="ctr"/>
          <a:lstStyle/>
          <a:p>
            <a:pPr algn="ctr" indent="0" marL="0">
              <a:buNone/>
            </a:pPr>
            <a:r>
              <a:rPr lang="en-US" sz="1300" b="1" dirty="0">
                <a:solidFill>
                  <a:srgbClr val="12263A"/>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4892040" y="1481328"/>
            <a:ext cx="2898648" cy="384048"/>
          </a:xfrm>
          <a:prstGeom prst="rect">
            <a:avLst/>
          </a:prstGeom>
          <a:noFill/>
          <a:ln/>
        </p:spPr>
        <p:txBody>
          <a:bodyPr wrap="square" lIns="0" tIns="0" rIns="0" bIns="0" rtlCol="0" anchor="ctr"/>
          <a:lstStyle/>
          <a:p>
            <a:pPr indent="0" marL="0">
              <a:buNone/>
            </a:pPr>
            <a:r>
              <a:rPr lang="en-US" sz="1300" b="1" dirty="0">
                <a:solidFill>
                  <a:srgbClr val="12263A"/>
                </a:solidFill>
                <a:latin typeface="Calibri" pitchFamily="34" charset="0"/>
                <a:ea typeface="Calibri" pitchFamily="34" charset="-122"/>
                <a:cs typeface="Calibri" pitchFamily="34" charset="-120"/>
              </a:rPr>
              <a:t>Offers</a:t>
            </a:r>
            <a:endParaRPr lang="en-US" sz="1300" dirty="0"/>
          </a:p>
        </p:txBody>
      </p:sp>
      <p:sp>
        <p:nvSpPr>
          <p:cNvPr id="14" name="Text 12"/>
          <p:cNvSpPr txBox="1"/>
          <p:nvPr/>
        </p:nvSpPr>
        <p:spPr>
          <a:xfrm>
            <a:off x="4434840" y="1938528"/>
            <a:ext cx="3337560" cy="847344"/>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Grid, solar and battery offer kW and a price</a:t>
            </a:r>
            <a:endParaRPr lang="en-US" sz="1150" dirty="0"/>
          </a:p>
        </p:txBody>
      </p:sp>
      <p:sp>
        <p:nvSpPr>
          <p:cNvPr id="15" name="Shape 13"/>
          <p:cNvSpPr/>
          <p:nvPr/>
        </p:nvSpPr>
        <p:spPr>
          <a:xfrm>
            <a:off x="8065008" y="1371600"/>
            <a:ext cx="3593592" cy="1505712"/>
          </a:xfrm>
          <a:prstGeom prst="roundRect">
            <a:avLst>
              <a:gd name="adj" fmla="val 7287"/>
            </a:avLst>
          </a:prstGeom>
          <a:solidFill>
            <a:srgbClr val="F3F6F9"/>
          </a:solidFill>
          <a:ln w="12700">
            <a:solidFill>
              <a:srgbClr val="F3F6F9"/>
            </a:solidFill>
            <a:prstDash val="solid"/>
          </a:ln>
        </p:spPr>
      </p:sp>
      <p:sp>
        <p:nvSpPr>
          <p:cNvPr id="16" name="Shape 14"/>
          <p:cNvSpPr/>
          <p:nvPr/>
        </p:nvSpPr>
        <p:spPr>
          <a:xfrm>
            <a:off x="8174736" y="1481328"/>
            <a:ext cx="384048" cy="384048"/>
          </a:xfrm>
          <a:prstGeom prst="ellipse">
            <a:avLst/>
          </a:prstGeom>
          <a:solidFill>
            <a:srgbClr val="F2A541"/>
          </a:solidFill>
          <a:ln w="12700">
            <a:solidFill>
              <a:srgbClr val="F2A541"/>
            </a:solidFill>
            <a:prstDash val="solid"/>
          </a:ln>
        </p:spPr>
      </p:sp>
      <p:sp>
        <p:nvSpPr>
          <p:cNvPr id="17" name="Text 15"/>
          <p:cNvSpPr txBox="1"/>
          <p:nvPr/>
        </p:nvSpPr>
        <p:spPr>
          <a:xfrm>
            <a:off x="8174736" y="1481328"/>
            <a:ext cx="384048" cy="384048"/>
          </a:xfrm>
          <a:prstGeom prst="rect">
            <a:avLst/>
          </a:prstGeom>
          <a:noFill/>
          <a:ln/>
        </p:spPr>
        <p:txBody>
          <a:bodyPr wrap="square" lIns="0" tIns="0" rIns="0" bIns="0" rtlCol="0" anchor="ctr"/>
          <a:lstStyle/>
          <a:p>
            <a:pPr algn="ctr" indent="0" marL="0">
              <a:buNone/>
            </a:pPr>
            <a:r>
              <a:rPr lang="en-US" sz="1300" b="1" dirty="0">
                <a:solidFill>
                  <a:srgbClr val="12263A"/>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8650224" y="1481328"/>
            <a:ext cx="2898648" cy="384048"/>
          </a:xfrm>
          <a:prstGeom prst="rect">
            <a:avLst/>
          </a:prstGeom>
          <a:noFill/>
          <a:ln/>
        </p:spPr>
        <p:txBody>
          <a:bodyPr wrap="square" lIns="0" tIns="0" rIns="0" bIns="0" rtlCol="0" anchor="ctr"/>
          <a:lstStyle/>
          <a:p>
            <a:pPr indent="0" marL="0">
              <a:buNone/>
            </a:pPr>
            <a:r>
              <a:rPr lang="en-US" sz="1300" b="1" dirty="0">
                <a:solidFill>
                  <a:srgbClr val="12263A"/>
                </a:solidFill>
                <a:latin typeface="Calibri" pitchFamily="34" charset="0"/>
                <a:ea typeface="Calibri" pitchFamily="34" charset="-122"/>
                <a:cs typeface="Calibri" pitchFamily="34" charset="-120"/>
              </a:rPr>
              <a:t>Bids</a:t>
            </a:r>
            <a:endParaRPr lang="en-US" sz="1300" dirty="0"/>
          </a:p>
        </p:txBody>
      </p:sp>
      <p:sp>
        <p:nvSpPr>
          <p:cNvPr id="19" name="Text 17"/>
          <p:cNvSpPr txBox="1"/>
          <p:nvPr/>
        </p:nvSpPr>
        <p:spPr>
          <a:xfrm>
            <a:off x="8193024" y="1938528"/>
            <a:ext cx="3337560" cy="847344"/>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Each building forecasts and bids (critical / minimum / flexible kW)</a:t>
            </a:r>
            <a:endParaRPr lang="en-US" sz="1150" dirty="0"/>
          </a:p>
        </p:txBody>
      </p:sp>
      <p:sp>
        <p:nvSpPr>
          <p:cNvPr id="20" name="Shape 18"/>
          <p:cNvSpPr/>
          <p:nvPr/>
        </p:nvSpPr>
        <p:spPr>
          <a:xfrm>
            <a:off x="548640" y="3041904"/>
            <a:ext cx="3593592" cy="1505712"/>
          </a:xfrm>
          <a:prstGeom prst="roundRect">
            <a:avLst>
              <a:gd name="adj" fmla="val 7287"/>
            </a:avLst>
          </a:prstGeom>
          <a:solidFill>
            <a:srgbClr val="F3F6F9"/>
          </a:solidFill>
          <a:ln w="12700">
            <a:solidFill>
              <a:srgbClr val="F3F6F9"/>
            </a:solidFill>
            <a:prstDash val="solid"/>
          </a:ln>
        </p:spPr>
      </p:sp>
      <p:sp>
        <p:nvSpPr>
          <p:cNvPr id="21" name="Shape 19"/>
          <p:cNvSpPr/>
          <p:nvPr/>
        </p:nvSpPr>
        <p:spPr>
          <a:xfrm>
            <a:off x="658368" y="3151632"/>
            <a:ext cx="384048" cy="384048"/>
          </a:xfrm>
          <a:prstGeom prst="ellipse">
            <a:avLst/>
          </a:prstGeom>
          <a:solidFill>
            <a:srgbClr val="F2A541"/>
          </a:solidFill>
          <a:ln w="12700">
            <a:solidFill>
              <a:srgbClr val="F2A541"/>
            </a:solidFill>
            <a:prstDash val="solid"/>
          </a:ln>
        </p:spPr>
      </p:sp>
      <p:sp>
        <p:nvSpPr>
          <p:cNvPr id="22" name="Text 20"/>
          <p:cNvSpPr txBox="1"/>
          <p:nvPr/>
        </p:nvSpPr>
        <p:spPr>
          <a:xfrm>
            <a:off x="658368" y="3151632"/>
            <a:ext cx="384048" cy="384048"/>
          </a:xfrm>
          <a:prstGeom prst="rect">
            <a:avLst/>
          </a:prstGeom>
          <a:noFill/>
          <a:ln/>
        </p:spPr>
        <p:txBody>
          <a:bodyPr wrap="square" lIns="0" tIns="0" rIns="0" bIns="0" rtlCol="0" anchor="ctr"/>
          <a:lstStyle/>
          <a:p>
            <a:pPr algn="ctr" indent="0" marL="0">
              <a:buNone/>
            </a:pPr>
            <a:r>
              <a:rPr lang="en-US" sz="1300" b="1" dirty="0">
                <a:solidFill>
                  <a:srgbClr val="12263A"/>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133856" y="3151632"/>
            <a:ext cx="2898648" cy="384048"/>
          </a:xfrm>
          <a:prstGeom prst="rect">
            <a:avLst/>
          </a:prstGeom>
          <a:noFill/>
          <a:ln/>
        </p:spPr>
        <p:txBody>
          <a:bodyPr wrap="square" lIns="0" tIns="0" rIns="0" bIns="0" rtlCol="0" anchor="ctr"/>
          <a:lstStyle/>
          <a:p>
            <a:pPr indent="0" marL="0">
              <a:buNone/>
            </a:pPr>
            <a:r>
              <a:rPr lang="en-US" sz="1300" b="1" dirty="0">
                <a:solidFill>
                  <a:srgbClr val="12263A"/>
                </a:solidFill>
                <a:latin typeface="Calibri" pitchFamily="34" charset="0"/>
                <a:ea typeface="Calibri" pitchFamily="34" charset="-122"/>
                <a:cs typeface="Calibri" pitchFamily="34" charset="-120"/>
              </a:rPr>
              <a:t>Re-bid</a:t>
            </a:r>
            <a:endParaRPr lang="en-US" sz="1300" dirty="0"/>
          </a:p>
        </p:txBody>
      </p:sp>
      <p:sp>
        <p:nvSpPr>
          <p:cNvPr id="24" name="Text 22"/>
          <p:cNvSpPr txBox="1"/>
          <p:nvPr/>
        </p:nvSpPr>
        <p:spPr>
          <a:xfrm>
            <a:off x="676656" y="3608832"/>
            <a:ext cx="3337560" cy="847344"/>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If requests exceed supply, scarcity is announced and buildings trim flexible load</a:t>
            </a:r>
            <a:endParaRPr lang="en-US" sz="1150" dirty="0"/>
          </a:p>
        </p:txBody>
      </p:sp>
      <p:sp>
        <p:nvSpPr>
          <p:cNvPr id="25" name="Shape 23"/>
          <p:cNvSpPr/>
          <p:nvPr/>
        </p:nvSpPr>
        <p:spPr>
          <a:xfrm>
            <a:off x="4306824" y="3041904"/>
            <a:ext cx="3593592" cy="1505712"/>
          </a:xfrm>
          <a:prstGeom prst="roundRect">
            <a:avLst>
              <a:gd name="adj" fmla="val 7287"/>
            </a:avLst>
          </a:prstGeom>
          <a:solidFill>
            <a:srgbClr val="F3F6F9"/>
          </a:solidFill>
          <a:ln w="12700">
            <a:solidFill>
              <a:srgbClr val="F3F6F9"/>
            </a:solidFill>
            <a:prstDash val="solid"/>
          </a:ln>
        </p:spPr>
      </p:sp>
      <p:sp>
        <p:nvSpPr>
          <p:cNvPr id="26" name="Shape 24"/>
          <p:cNvSpPr/>
          <p:nvPr/>
        </p:nvSpPr>
        <p:spPr>
          <a:xfrm>
            <a:off x="4416552" y="3151632"/>
            <a:ext cx="384048" cy="384048"/>
          </a:xfrm>
          <a:prstGeom prst="ellipse">
            <a:avLst/>
          </a:prstGeom>
          <a:solidFill>
            <a:srgbClr val="F2A541"/>
          </a:solidFill>
          <a:ln w="12700">
            <a:solidFill>
              <a:srgbClr val="F2A541"/>
            </a:solidFill>
            <a:prstDash val="solid"/>
          </a:ln>
        </p:spPr>
      </p:sp>
      <p:sp>
        <p:nvSpPr>
          <p:cNvPr id="27" name="Text 25"/>
          <p:cNvSpPr txBox="1"/>
          <p:nvPr/>
        </p:nvSpPr>
        <p:spPr>
          <a:xfrm>
            <a:off x="4416552" y="3151632"/>
            <a:ext cx="384048" cy="384048"/>
          </a:xfrm>
          <a:prstGeom prst="rect">
            <a:avLst/>
          </a:prstGeom>
          <a:noFill/>
          <a:ln/>
        </p:spPr>
        <p:txBody>
          <a:bodyPr wrap="square" lIns="0" tIns="0" rIns="0" bIns="0" rtlCol="0" anchor="ctr"/>
          <a:lstStyle/>
          <a:p>
            <a:pPr algn="ctr" indent="0" marL="0">
              <a:buNone/>
            </a:pPr>
            <a:r>
              <a:rPr lang="en-US" sz="1300" b="1" dirty="0">
                <a:solidFill>
                  <a:srgbClr val="12263A"/>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4892040" y="3151632"/>
            <a:ext cx="2898648" cy="384048"/>
          </a:xfrm>
          <a:prstGeom prst="rect">
            <a:avLst/>
          </a:prstGeom>
          <a:noFill/>
          <a:ln/>
        </p:spPr>
        <p:txBody>
          <a:bodyPr wrap="square" lIns="0" tIns="0" rIns="0" bIns="0" rtlCol="0" anchor="ctr"/>
          <a:lstStyle/>
          <a:p>
            <a:pPr indent="0" marL="0">
              <a:buNone/>
            </a:pPr>
            <a:r>
              <a:rPr lang="en-US" sz="1300" b="1" dirty="0">
                <a:solidFill>
                  <a:srgbClr val="12263A"/>
                </a:solidFill>
                <a:latin typeface="Calibri" pitchFamily="34" charset="0"/>
                <a:ea typeface="Calibri" pitchFamily="34" charset="-122"/>
                <a:cs typeface="Calibri" pitchFamily="34" charset="-120"/>
              </a:rPr>
              <a:t>Clear</a:t>
            </a:r>
            <a:endParaRPr lang="en-US" sz="1300" dirty="0"/>
          </a:p>
        </p:txBody>
      </p:sp>
      <p:sp>
        <p:nvSpPr>
          <p:cNvPr id="29" name="Text 27"/>
          <p:cNvSpPr txBox="1"/>
          <p:nvPr/>
        </p:nvSpPr>
        <p:spPr>
          <a:xfrm>
            <a:off x="4434840" y="3608832"/>
            <a:ext cx="3337560" cy="847344"/>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Market allocates power to buildings and dispatch to sources</a:t>
            </a:r>
            <a:endParaRPr lang="en-US" sz="1150" dirty="0"/>
          </a:p>
        </p:txBody>
      </p:sp>
      <p:sp>
        <p:nvSpPr>
          <p:cNvPr id="30" name="Shape 28"/>
          <p:cNvSpPr/>
          <p:nvPr/>
        </p:nvSpPr>
        <p:spPr>
          <a:xfrm>
            <a:off x="8065008" y="3041904"/>
            <a:ext cx="3593592" cy="1505712"/>
          </a:xfrm>
          <a:prstGeom prst="roundRect">
            <a:avLst>
              <a:gd name="adj" fmla="val 7287"/>
            </a:avLst>
          </a:prstGeom>
          <a:solidFill>
            <a:srgbClr val="F3F6F9"/>
          </a:solidFill>
          <a:ln w="12700">
            <a:solidFill>
              <a:srgbClr val="F3F6F9"/>
            </a:solidFill>
            <a:prstDash val="solid"/>
          </a:ln>
        </p:spPr>
      </p:sp>
      <p:sp>
        <p:nvSpPr>
          <p:cNvPr id="31" name="Shape 29"/>
          <p:cNvSpPr/>
          <p:nvPr/>
        </p:nvSpPr>
        <p:spPr>
          <a:xfrm>
            <a:off x="8174736" y="3151632"/>
            <a:ext cx="384048" cy="384048"/>
          </a:xfrm>
          <a:prstGeom prst="ellipse">
            <a:avLst/>
          </a:prstGeom>
          <a:solidFill>
            <a:srgbClr val="F2A541"/>
          </a:solidFill>
          <a:ln w="12700">
            <a:solidFill>
              <a:srgbClr val="F2A541"/>
            </a:solidFill>
            <a:prstDash val="solid"/>
          </a:ln>
        </p:spPr>
      </p:sp>
      <p:sp>
        <p:nvSpPr>
          <p:cNvPr id="32" name="Text 30"/>
          <p:cNvSpPr txBox="1"/>
          <p:nvPr/>
        </p:nvSpPr>
        <p:spPr>
          <a:xfrm>
            <a:off x="8174736" y="3151632"/>
            <a:ext cx="384048" cy="384048"/>
          </a:xfrm>
          <a:prstGeom prst="rect">
            <a:avLst/>
          </a:prstGeom>
          <a:noFill/>
          <a:ln/>
        </p:spPr>
        <p:txBody>
          <a:bodyPr wrap="square" lIns="0" tIns="0" rIns="0" bIns="0" rtlCol="0" anchor="ctr"/>
          <a:lstStyle/>
          <a:p>
            <a:pPr algn="ctr" indent="0" marL="0">
              <a:buNone/>
            </a:pPr>
            <a:r>
              <a:rPr lang="en-US" sz="1300" b="1" dirty="0">
                <a:solidFill>
                  <a:srgbClr val="12263A"/>
                </a:solidFill>
                <a:latin typeface="Calibri" pitchFamily="34" charset="0"/>
                <a:ea typeface="Calibri" pitchFamily="34" charset="-122"/>
                <a:cs typeface="Calibri" pitchFamily="34" charset="-120"/>
              </a:rPr>
              <a:t>6</a:t>
            </a:r>
            <a:endParaRPr lang="en-US" sz="1300" dirty="0"/>
          </a:p>
        </p:txBody>
      </p:sp>
      <p:sp>
        <p:nvSpPr>
          <p:cNvPr id="33" name="Text 31"/>
          <p:cNvSpPr txBox="1"/>
          <p:nvPr/>
        </p:nvSpPr>
        <p:spPr>
          <a:xfrm>
            <a:off x="8650224" y="3151632"/>
            <a:ext cx="2898648" cy="384048"/>
          </a:xfrm>
          <a:prstGeom prst="rect">
            <a:avLst/>
          </a:prstGeom>
          <a:noFill/>
          <a:ln/>
        </p:spPr>
        <p:txBody>
          <a:bodyPr wrap="square" lIns="0" tIns="0" rIns="0" bIns="0" rtlCol="0" anchor="ctr"/>
          <a:lstStyle/>
          <a:p>
            <a:pPr indent="0" marL="0">
              <a:buNone/>
            </a:pPr>
            <a:r>
              <a:rPr lang="en-US" sz="1300" b="1" dirty="0">
                <a:solidFill>
                  <a:srgbClr val="12263A"/>
                </a:solidFill>
                <a:latin typeface="Calibri" pitchFamily="34" charset="0"/>
                <a:ea typeface="Calibri" pitchFamily="34" charset="-122"/>
                <a:cs typeface="Calibri" pitchFamily="34" charset="-120"/>
              </a:rPr>
              <a:t>Dispatch</a:t>
            </a:r>
            <a:endParaRPr lang="en-US" sz="1300" dirty="0"/>
          </a:p>
        </p:txBody>
      </p:sp>
      <p:sp>
        <p:nvSpPr>
          <p:cNvPr id="34" name="Text 32"/>
          <p:cNvSpPr txBox="1"/>
          <p:nvPr/>
        </p:nvSpPr>
        <p:spPr>
          <a:xfrm>
            <a:off x="8193024" y="3608832"/>
            <a:ext cx="3337560" cy="847344"/>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Sources deliver; the battery's charge updates</a:t>
            </a:r>
            <a:endParaRPr lang="en-US" sz="1150" dirty="0"/>
          </a:p>
        </p:txBody>
      </p:sp>
      <p:sp>
        <p:nvSpPr>
          <p:cNvPr id="35" name="Shape 33"/>
          <p:cNvSpPr/>
          <p:nvPr/>
        </p:nvSpPr>
        <p:spPr>
          <a:xfrm>
            <a:off x="548640" y="4712208"/>
            <a:ext cx="3593592" cy="1505712"/>
          </a:xfrm>
          <a:prstGeom prst="roundRect">
            <a:avLst>
              <a:gd name="adj" fmla="val 7287"/>
            </a:avLst>
          </a:prstGeom>
          <a:solidFill>
            <a:srgbClr val="F3F6F9"/>
          </a:solidFill>
          <a:ln w="12700">
            <a:solidFill>
              <a:srgbClr val="F3F6F9"/>
            </a:solidFill>
            <a:prstDash val="solid"/>
          </a:ln>
        </p:spPr>
      </p:sp>
      <p:sp>
        <p:nvSpPr>
          <p:cNvPr id="36" name="Shape 34"/>
          <p:cNvSpPr/>
          <p:nvPr/>
        </p:nvSpPr>
        <p:spPr>
          <a:xfrm>
            <a:off x="658368" y="4821936"/>
            <a:ext cx="384048" cy="384048"/>
          </a:xfrm>
          <a:prstGeom prst="ellipse">
            <a:avLst/>
          </a:prstGeom>
          <a:solidFill>
            <a:srgbClr val="F2A541"/>
          </a:solidFill>
          <a:ln w="12700">
            <a:solidFill>
              <a:srgbClr val="F2A541"/>
            </a:solidFill>
            <a:prstDash val="solid"/>
          </a:ln>
        </p:spPr>
      </p:sp>
      <p:sp>
        <p:nvSpPr>
          <p:cNvPr id="37" name="Text 35"/>
          <p:cNvSpPr txBox="1"/>
          <p:nvPr/>
        </p:nvSpPr>
        <p:spPr>
          <a:xfrm>
            <a:off x="658368" y="4821936"/>
            <a:ext cx="384048" cy="384048"/>
          </a:xfrm>
          <a:prstGeom prst="rect">
            <a:avLst/>
          </a:prstGeom>
          <a:noFill/>
          <a:ln/>
        </p:spPr>
        <p:txBody>
          <a:bodyPr wrap="square" lIns="0" tIns="0" rIns="0" bIns="0" rtlCol="0" anchor="ctr"/>
          <a:lstStyle/>
          <a:p>
            <a:pPr algn="ctr" indent="0" marL="0">
              <a:buNone/>
            </a:pPr>
            <a:r>
              <a:rPr lang="en-US" sz="1300" b="1" dirty="0">
                <a:solidFill>
                  <a:srgbClr val="12263A"/>
                </a:solidFill>
                <a:latin typeface="Calibri" pitchFamily="34" charset="0"/>
                <a:ea typeface="Calibri" pitchFamily="34" charset="-122"/>
                <a:cs typeface="Calibri" pitchFamily="34" charset="-120"/>
              </a:rPr>
              <a:t>7</a:t>
            </a:r>
            <a:endParaRPr lang="en-US" sz="1300" dirty="0"/>
          </a:p>
        </p:txBody>
      </p:sp>
      <p:sp>
        <p:nvSpPr>
          <p:cNvPr id="38" name="Text 36"/>
          <p:cNvSpPr txBox="1"/>
          <p:nvPr/>
        </p:nvSpPr>
        <p:spPr>
          <a:xfrm>
            <a:off x="1133856" y="4821936"/>
            <a:ext cx="2898648" cy="384048"/>
          </a:xfrm>
          <a:prstGeom prst="rect">
            <a:avLst/>
          </a:prstGeom>
          <a:noFill/>
          <a:ln/>
        </p:spPr>
        <p:txBody>
          <a:bodyPr wrap="square" lIns="0" tIns="0" rIns="0" bIns="0" rtlCol="0" anchor="ctr"/>
          <a:lstStyle/>
          <a:p>
            <a:pPr indent="0" marL="0">
              <a:buNone/>
            </a:pPr>
            <a:r>
              <a:rPr lang="en-US" sz="1300" b="1" dirty="0">
                <a:solidFill>
                  <a:srgbClr val="12263A"/>
                </a:solidFill>
                <a:latin typeface="Calibri" pitchFamily="34" charset="0"/>
                <a:ea typeface="Calibri" pitchFamily="34" charset="-122"/>
                <a:cs typeface="Calibri" pitchFamily="34" charset="-120"/>
              </a:rPr>
              <a:t>Reality</a:t>
            </a:r>
            <a:endParaRPr lang="en-US" sz="1300" dirty="0"/>
          </a:p>
        </p:txBody>
      </p:sp>
      <p:sp>
        <p:nvSpPr>
          <p:cNvPr id="39" name="Text 37"/>
          <p:cNvSpPr txBox="1"/>
          <p:nvPr/>
        </p:nvSpPr>
        <p:spPr>
          <a:xfrm>
            <a:off x="676656" y="5279136"/>
            <a:ext cx="3337560" cy="847344"/>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The slot happens — real demand is revealed</a:t>
            </a:r>
            <a:endParaRPr lang="en-US" sz="1150" dirty="0"/>
          </a:p>
        </p:txBody>
      </p:sp>
      <p:sp>
        <p:nvSpPr>
          <p:cNvPr id="40" name="Shape 38"/>
          <p:cNvSpPr/>
          <p:nvPr/>
        </p:nvSpPr>
        <p:spPr>
          <a:xfrm>
            <a:off x="4306824" y="4712208"/>
            <a:ext cx="3593592" cy="1505712"/>
          </a:xfrm>
          <a:prstGeom prst="roundRect">
            <a:avLst>
              <a:gd name="adj" fmla="val 7287"/>
            </a:avLst>
          </a:prstGeom>
          <a:solidFill>
            <a:srgbClr val="F3F6F9"/>
          </a:solidFill>
          <a:ln w="12700">
            <a:solidFill>
              <a:srgbClr val="F3F6F9"/>
            </a:solidFill>
            <a:prstDash val="solid"/>
          </a:ln>
        </p:spPr>
      </p:sp>
      <p:sp>
        <p:nvSpPr>
          <p:cNvPr id="41" name="Shape 39"/>
          <p:cNvSpPr/>
          <p:nvPr/>
        </p:nvSpPr>
        <p:spPr>
          <a:xfrm>
            <a:off x="4416552" y="4821936"/>
            <a:ext cx="384048" cy="384048"/>
          </a:xfrm>
          <a:prstGeom prst="ellipse">
            <a:avLst/>
          </a:prstGeom>
          <a:solidFill>
            <a:srgbClr val="F2A541"/>
          </a:solidFill>
          <a:ln w="12700">
            <a:solidFill>
              <a:srgbClr val="F2A541"/>
            </a:solidFill>
            <a:prstDash val="solid"/>
          </a:ln>
        </p:spPr>
      </p:sp>
      <p:sp>
        <p:nvSpPr>
          <p:cNvPr id="42" name="Text 40"/>
          <p:cNvSpPr txBox="1"/>
          <p:nvPr/>
        </p:nvSpPr>
        <p:spPr>
          <a:xfrm>
            <a:off x="4416552" y="4821936"/>
            <a:ext cx="384048" cy="384048"/>
          </a:xfrm>
          <a:prstGeom prst="rect">
            <a:avLst/>
          </a:prstGeom>
          <a:noFill/>
          <a:ln/>
        </p:spPr>
        <p:txBody>
          <a:bodyPr wrap="square" lIns="0" tIns="0" rIns="0" bIns="0" rtlCol="0" anchor="ctr"/>
          <a:lstStyle/>
          <a:p>
            <a:pPr algn="ctr" indent="0" marL="0">
              <a:buNone/>
            </a:pPr>
            <a:r>
              <a:rPr lang="en-US" sz="1300" b="1" dirty="0">
                <a:solidFill>
                  <a:srgbClr val="12263A"/>
                </a:solidFill>
                <a:latin typeface="Calibri" pitchFamily="34" charset="0"/>
                <a:ea typeface="Calibri" pitchFamily="34" charset="-122"/>
                <a:cs typeface="Calibri" pitchFamily="34" charset="-120"/>
              </a:rPr>
              <a:t>8</a:t>
            </a:r>
            <a:endParaRPr lang="en-US" sz="1300" dirty="0"/>
          </a:p>
        </p:txBody>
      </p:sp>
      <p:sp>
        <p:nvSpPr>
          <p:cNvPr id="43" name="Text 41"/>
          <p:cNvSpPr txBox="1"/>
          <p:nvPr/>
        </p:nvSpPr>
        <p:spPr>
          <a:xfrm>
            <a:off x="4892040" y="4821936"/>
            <a:ext cx="2898648" cy="384048"/>
          </a:xfrm>
          <a:prstGeom prst="rect">
            <a:avLst/>
          </a:prstGeom>
          <a:noFill/>
          <a:ln/>
        </p:spPr>
        <p:txBody>
          <a:bodyPr wrap="square" lIns="0" tIns="0" rIns="0" bIns="0" rtlCol="0" anchor="ctr"/>
          <a:lstStyle/>
          <a:p>
            <a:pPr indent="0" marL="0">
              <a:buNone/>
            </a:pPr>
            <a:r>
              <a:rPr lang="en-US" sz="1300" b="1" dirty="0">
                <a:solidFill>
                  <a:srgbClr val="12263A"/>
                </a:solidFill>
                <a:latin typeface="Calibri" pitchFamily="34" charset="0"/>
                <a:ea typeface="Calibri" pitchFamily="34" charset="-122"/>
                <a:cs typeface="Calibri" pitchFamily="34" charset="-120"/>
              </a:rPr>
              <a:t>Settle</a:t>
            </a:r>
            <a:endParaRPr lang="en-US" sz="1300" dirty="0"/>
          </a:p>
        </p:txBody>
      </p:sp>
      <p:sp>
        <p:nvSpPr>
          <p:cNvPr id="44" name="Text 42"/>
          <p:cNvSpPr txBox="1"/>
          <p:nvPr/>
        </p:nvSpPr>
        <p:spPr>
          <a:xfrm>
            <a:off x="4434840" y="5279136"/>
            <a:ext cx="3337560" cy="847344"/>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Buildings serve critical first, defer or curtail the rest</a:t>
            </a:r>
            <a:endParaRPr lang="en-US" sz="1150" dirty="0"/>
          </a:p>
        </p:txBody>
      </p:sp>
      <p:sp>
        <p:nvSpPr>
          <p:cNvPr id="45" name="Shape 43"/>
          <p:cNvSpPr/>
          <p:nvPr/>
        </p:nvSpPr>
        <p:spPr>
          <a:xfrm>
            <a:off x="8065008" y="4712208"/>
            <a:ext cx="3593592" cy="1505712"/>
          </a:xfrm>
          <a:prstGeom prst="roundRect">
            <a:avLst>
              <a:gd name="adj" fmla="val 7287"/>
            </a:avLst>
          </a:prstGeom>
          <a:solidFill>
            <a:srgbClr val="F3F6F9"/>
          </a:solidFill>
          <a:ln w="12700">
            <a:solidFill>
              <a:srgbClr val="F3F6F9"/>
            </a:solidFill>
            <a:prstDash val="solid"/>
          </a:ln>
        </p:spPr>
      </p:sp>
      <p:sp>
        <p:nvSpPr>
          <p:cNvPr id="46" name="Shape 44"/>
          <p:cNvSpPr/>
          <p:nvPr/>
        </p:nvSpPr>
        <p:spPr>
          <a:xfrm>
            <a:off x="8174736" y="4821936"/>
            <a:ext cx="384048" cy="384048"/>
          </a:xfrm>
          <a:prstGeom prst="ellipse">
            <a:avLst/>
          </a:prstGeom>
          <a:solidFill>
            <a:srgbClr val="F2A541"/>
          </a:solidFill>
          <a:ln w="12700">
            <a:solidFill>
              <a:srgbClr val="F2A541"/>
            </a:solidFill>
            <a:prstDash val="solid"/>
          </a:ln>
        </p:spPr>
      </p:sp>
      <p:sp>
        <p:nvSpPr>
          <p:cNvPr id="47" name="Text 45"/>
          <p:cNvSpPr txBox="1"/>
          <p:nvPr/>
        </p:nvSpPr>
        <p:spPr>
          <a:xfrm>
            <a:off x="8174736" y="4821936"/>
            <a:ext cx="384048" cy="384048"/>
          </a:xfrm>
          <a:prstGeom prst="rect">
            <a:avLst/>
          </a:prstGeom>
          <a:noFill/>
          <a:ln/>
        </p:spPr>
        <p:txBody>
          <a:bodyPr wrap="square" lIns="0" tIns="0" rIns="0" bIns="0" rtlCol="0" anchor="ctr"/>
          <a:lstStyle/>
          <a:p>
            <a:pPr algn="ctr" indent="0" marL="0">
              <a:buNone/>
            </a:pPr>
            <a:r>
              <a:rPr lang="en-US" sz="1300" b="1" dirty="0">
                <a:solidFill>
                  <a:srgbClr val="12263A"/>
                </a:solidFill>
                <a:latin typeface="Calibri" pitchFamily="34" charset="0"/>
                <a:ea typeface="Calibri" pitchFamily="34" charset="-122"/>
                <a:cs typeface="Calibri" pitchFamily="34" charset="-120"/>
              </a:rPr>
              <a:t>9</a:t>
            </a:r>
            <a:endParaRPr lang="en-US" sz="1300" dirty="0"/>
          </a:p>
        </p:txBody>
      </p:sp>
      <p:sp>
        <p:nvSpPr>
          <p:cNvPr id="48" name="Text 46"/>
          <p:cNvSpPr txBox="1"/>
          <p:nvPr/>
        </p:nvSpPr>
        <p:spPr>
          <a:xfrm>
            <a:off x="8650224" y="4821936"/>
            <a:ext cx="2898648" cy="384048"/>
          </a:xfrm>
          <a:prstGeom prst="rect">
            <a:avLst/>
          </a:prstGeom>
          <a:noFill/>
          <a:ln/>
        </p:spPr>
        <p:txBody>
          <a:bodyPr wrap="square" lIns="0" tIns="0" rIns="0" bIns="0" rtlCol="0" anchor="ctr"/>
          <a:lstStyle/>
          <a:p>
            <a:pPr indent="0" marL="0">
              <a:buNone/>
            </a:pPr>
            <a:r>
              <a:rPr lang="en-US" sz="1300" b="1" dirty="0">
                <a:solidFill>
                  <a:srgbClr val="12263A"/>
                </a:solidFill>
                <a:latin typeface="Calibri" pitchFamily="34" charset="0"/>
                <a:ea typeface="Calibri" pitchFamily="34" charset="-122"/>
                <a:cs typeface="Calibri" pitchFamily="34" charset="-120"/>
              </a:rPr>
              <a:t>Feedback</a:t>
            </a:r>
            <a:endParaRPr lang="en-US" sz="1300" dirty="0"/>
          </a:p>
        </p:txBody>
      </p:sp>
      <p:sp>
        <p:nvSpPr>
          <p:cNvPr id="49" name="Text 47"/>
          <p:cNvSpPr txBox="1"/>
          <p:nvPr/>
        </p:nvSpPr>
        <p:spPr>
          <a:xfrm>
            <a:off x="8193024" y="5279136"/>
            <a:ext cx="3337560" cy="847344"/>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Outcomes carry into the next slot (backlog, charge, deprivation)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595360" cy="685800"/>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Algorithm 1 — Learned Demand Forecasting</a:t>
            </a:r>
            <a:endParaRPr lang="en-US" sz="3000" dirty="0"/>
          </a:p>
        </p:txBody>
      </p:sp>
      <p:sp>
        <p:nvSpPr>
          <p:cNvPr id="3" name="Shape 1"/>
          <p:cNvSpPr/>
          <p:nvPr/>
        </p:nvSpPr>
        <p:spPr>
          <a:xfrm>
            <a:off x="9372600" y="411480"/>
            <a:ext cx="2286000" cy="457200"/>
          </a:xfrm>
          <a:prstGeom prst="roundRect">
            <a:avLst>
              <a:gd name="adj" fmla="val 50000"/>
            </a:avLst>
          </a:prstGeom>
          <a:solidFill>
            <a:srgbClr val="FDF1DC"/>
          </a:solidFill>
          <a:ln w="12700">
            <a:solidFill>
              <a:srgbClr val="F2A541"/>
            </a:solidFill>
            <a:prstDash val="solid"/>
          </a:ln>
        </p:spPr>
      </p:sp>
      <p:sp>
        <p:nvSpPr>
          <p:cNvPr id="4" name="Text 2"/>
          <p:cNvSpPr txBox="1"/>
          <p:nvPr/>
        </p:nvSpPr>
        <p:spPr>
          <a:xfrm>
            <a:off x="9372600" y="411480"/>
            <a:ext cx="2286000" cy="457200"/>
          </a:xfrm>
          <a:prstGeom prst="rect">
            <a:avLst/>
          </a:prstGeom>
          <a:noFill/>
          <a:ln/>
        </p:spPr>
        <p:txBody>
          <a:bodyPr wrap="square" lIns="0" tIns="0" rIns="0" bIns="0" rtlCol="0" anchor="ctr"/>
          <a:lstStyle/>
          <a:p>
            <a:pPr algn="ctr" indent="0" marL="0">
              <a:buNone/>
            </a:pPr>
            <a:r>
              <a:rPr lang="en-US" sz="1150" b="1" dirty="0">
                <a:solidFill>
                  <a:srgbClr val="12263A"/>
                </a:solidFill>
                <a:latin typeface="Calibri" pitchFamily="34" charset="0"/>
                <a:ea typeface="Calibri" pitchFamily="34" charset="-122"/>
                <a:cs typeface="Calibri" pitchFamily="34" charset="-120"/>
              </a:rPr>
              <a:t>Algorithmic Modeling · 3M</a:t>
            </a:r>
            <a:endParaRPr lang="en-US" sz="1150" dirty="0"/>
          </a:p>
        </p:txBody>
      </p:sp>
      <p:sp>
        <p:nvSpPr>
          <p:cNvPr id="5" name="Text 3"/>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i="1" dirty="0">
                <a:solidFill>
                  <a:srgbClr val="5B6675"/>
                </a:solidFill>
                <a:latin typeface="Calibri" pitchFamily="34" charset="0"/>
                <a:ea typeface="Calibri" pitchFamily="34" charset="-122"/>
                <a:cs typeface="Calibri" pitchFamily="34" charset="-120"/>
              </a:rPr>
              <a:t>Each building trains its own model on its own history</a:t>
            </a:r>
            <a:endParaRPr lang="en-US" sz="1400" dirty="0"/>
          </a:p>
        </p:txBody>
      </p:sp>
      <p:sp>
        <p:nvSpPr>
          <p:cNvPr id="6" name="Shape 4"/>
          <p:cNvSpPr/>
          <p:nvPr/>
        </p:nvSpPr>
        <p:spPr>
          <a:xfrm>
            <a:off x="548640" y="1463040"/>
            <a:ext cx="5120640" cy="4754880"/>
          </a:xfrm>
          <a:prstGeom prst="roundRect">
            <a:avLst>
              <a:gd name="adj" fmla="val 2308"/>
            </a:avLst>
          </a:prstGeom>
          <a:solidFill>
            <a:srgbClr val="F3F6F9"/>
          </a:solidFill>
          <a:ln w="12700">
            <a:solidFill>
              <a:srgbClr val="F3F6F9"/>
            </a:solidFill>
            <a:prstDash val="solid"/>
          </a:ln>
        </p:spPr>
      </p:sp>
      <p:sp>
        <p:nvSpPr>
          <p:cNvPr id="7" name="Text 5"/>
          <p:cNvSpPr txBox="1"/>
          <p:nvPr/>
        </p:nvSpPr>
        <p:spPr>
          <a:xfrm>
            <a:off x="777240" y="1600200"/>
            <a:ext cx="4754880" cy="365760"/>
          </a:xfrm>
          <a:prstGeom prst="rect">
            <a:avLst/>
          </a:prstGeom>
          <a:noFill/>
          <a:ln/>
        </p:spPr>
        <p:txBody>
          <a:bodyPr wrap="square" lIns="0" tIns="0" rIns="0" bIns="0" rtlCol="0" anchor="t"/>
          <a:lstStyle/>
          <a:p>
            <a:pPr indent="0" marL="0">
              <a:buNone/>
            </a:pPr>
            <a:r>
              <a:rPr lang="en-US" sz="1500" b="1" dirty="0">
                <a:solidFill>
                  <a:srgbClr val="12263A"/>
                </a:solidFill>
                <a:latin typeface="Cambria" pitchFamily="34" charset="0"/>
                <a:ea typeface="Cambria" pitchFamily="34" charset="-122"/>
                <a:cs typeface="Cambria" pitchFamily="34" charset="-120"/>
              </a:rPr>
              <a:t>Model: seasonal linear autoregression</a:t>
            </a:r>
            <a:endParaRPr lang="en-US" sz="1500" dirty="0"/>
          </a:p>
        </p:txBody>
      </p:sp>
      <p:sp>
        <p:nvSpPr>
          <p:cNvPr id="8" name="Text 6"/>
          <p:cNvSpPr txBox="1"/>
          <p:nvPr/>
        </p:nvSpPr>
        <p:spPr>
          <a:xfrm>
            <a:off x="777240" y="2057400"/>
            <a:ext cx="4754880" cy="640080"/>
          </a:xfrm>
          <a:prstGeom prst="rect">
            <a:avLst/>
          </a:prstGeom>
          <a:noFill/>
          <a:ln/>
        </p:spPr>
        <p:txBody>
          <a:bodyPr wrap="square" lIns="0" tIns="0" rIns="0" bIns="0" rtlCol="0" anchor="t"/>
          <a:lstStyle/>
          <a:p>
            <a:pPr indent="0" marL="0">
              <a:buNone/>
            </a:pPr>
            <a:r>
              <a:rPr lang="en-US" sz="1100" dirty="0">
                <a:solidFill>
                  <a:srgbClr val="12263A"/>
                </a:solidFill>
                <a:latin typeface="Courier New" pitchFamily="34" charset="0"/>
                <a:ea typeface="Courier New" pitchFamily="34" charset="-122"/>
                <a:cs typeface="Courier New" pitchFamily="34" charset="-120"/>
              </a:rPr>
              <a:t>ŷ(t+1) = w · [1, y(t), y(t−1), y(t−2), y(t+1−96), y(t+1−96) − y(t−96)]</a:t>
            </a:r>
            <a:endParaRPr lang="en-US" sz="1100" dirty="0"/>
          </a:p>
        </p:txBody>
      </p:sp>
      <p:sp>
        <p:nvSpPr>
          <p:cNvPr id="9" name="Text 7"/>
          <p:cNvSpPr txBox="1"/>
          <p:nvPr/>
        </p:nvSpPr>
        <p:spPr>
          <a:xfrm>
            <a:off x="777240" y="2788920"/>
            <a:ext cx="4709160" cy="237744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Weights fitted by ridge regression on the last 7 days</a:t>
            </a:r>
            <a:endParaRPr lang="en-US" sz="1300" dirty="0"/>
          </a:p>
          <a:p>
            <a:pPr marL="203200" indent="-2032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Recent readings capture momentum; 'same slot yesterday' captures the daily shape</a:t>
            </a:r>
            <a:endParaRPr lang="en-US" sz="1300" dirty="0"/>
          </a:p>
          <a:p>
            <a:pPr marL="203200" indent="-2032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Refitted every 16 slots; recursive for longer horizons</a:t>
            </a:r>
            <a:endParaRPr lang="en-US" sz="1300" dirty="0"/>
          </a:p>
          <a:p>
            <a:pPr marL="203200" indent="-2032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Chosen on development seeds, confirmed on held-out seeds, rolling-origin backtest (no future data)</a:t>
            </a:r>
            <a:endParaRPr lang="en-US" sz="1300" dirty="0"/>
          </a:p>
        </p:txBody>
      </p:sp>
      <p:sp>
        <p:nvSpPr>
          <p:cNvPr id="10" name="Text 8"/>
          <p:cNvSpPr txBox="1"/>
          <p:nvPr/>
        </p:nvSpPr>
        <p:spPr>
          <a:xfrm>
            <a:off x="777240" y="5074920"/>
            <a:ext cx="4663440" cy="685800"/>
          </a:xfrm>
          <a:prstGeom prst="rect">
            <a:avLst/>
          </a:prstGeom>
          <a:noFill/>
          <a:ln/>
        </p:spPr>
        <p:txBody>
          <a:bodyPr wrap="square" lIns="0" tIns="0" rIns="0" bIns="0" rtlCol="0" anchor="t"/>
          <a:lstStyle/>
          <a:p>
            <a:pPr indent="0" marL="0">
              <a:buNone/>
            </a:pPr>
            <a:r>
              <a:rPr lang="en-US" sz="3800" b="1" dirty="0">
                <a:solidFill>
                  <a:srgbClr val="1BAF7A"/>
                </a:solidFill>
                <a:latin typeface="Cambria" pitchFamily="34" charset="0"/>
                <a:ea typeface="Cambria" pitchFamily="34" charset="-122"/>
                <a:cs typeface="Cambria" pitchFamily="34" charset="-120"/>
              </a:rPr>
              <a:t>26%</a:t>
            </a:r>
            <a:endParaRPr lang="en-US" sz="3800" dirty="0"/>
          </a:p>
        </p:txBody>
      </p:sp>
      <p:sp>
        <p:nvSpPr>
          <p:cNvPr id="11" name="Text 9"/>
          <p:cNvSpPr txBox="1"/>
          <p:nvPr/>
        </p:nvSpPr>
        <p:spPr>
          <a:xfrm>
            <a:off x="777240" y="5788152"/>
            <a:ext cx="4663440" cy="548640"/>
          </a:xfrm>
          <a:prstGeom prst="rect">
            <a:avLst/>
          </a:prstGeom>
          <a:noFill/>
          <a:ln/>
        </p:spPr>
        <p:txBody>
          <a:bodyPr wrap="square" lIns="0" tIns="0" rIns="0" bIns="0" rtlCol="0" anchor="t"/>
          <a:lstStyle/>
          <a:p>
            <a:pPr indent="0" marL="0">
              <a:buNone/>
            </a:pPr>
            <a:r>
              <a:rPr lang="en-US" sz="1250" dirty="0">
                <a:solidFill>
                  <a:srgbClr val="5B6675"/>
                </a:solidFill>
                <a:latin typeface="Calibri" pitchFamily="34" charset="0"/>
                <a:ea typeface="Calibri" pitchFamily="34" charset="-122"/>
                <a:cs typeface="Calibri" pitchFamily="34" charset="-120"/>
              </a:rPr>
              <a:t>lower next-slot error than the best statistical baseline</a:t>
            </a:r>
            <a:endParaRPr lang="en-US" sz="1250" dirty="0"/>
          </a:p>
        </p:txBody>
      </p:sp>
      <p:graphicFrame>
        <p:nvGraphicFramePr>
          <p:cNvPr id="12" name="Chart 0" descr=""/>
          <p:cNvGraphicFramePr/>
          <p:nvPr/>
        </p:nvGraphicFramePr>
        <p:xfrm>
          <a:off x="5943600" y="1417320"/>
          <a:ext cx="5715000" cy="48463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595360" cy="685800"/>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Algorithm 2 — The Building's Decision Model</a:t>
            </a:r>
            <a:endParaRPr lang="en-US" sz="3000" dirty="0"/>
          </a:p>
        </p:txBody>
      </p:sp>
      <p:sp>
        <p:nvSpPr>
          <p:cNvPr id="3" name="Shape 1"/>
          <p:cNvSpPr/>
          <p:nvPr/>
        </p:nvSpPr>
        <p:spPr>
          <a:xfrm>
            <a:off x="9372600" y="411480"/>
            <a:ext cx="2286000" cy="457200"/>
          </a:xfrm>
          <a:prstGeom prst="roundRect">
            <a:avLst>
              <a:gd name="adj" fmla="val 50000"/>
            </a:avLst>
          </a:prstGeom>
          <a:solidFill>
            <a:srgbClr val="FDF1DC"/>
          </a:solidFill>
          <a:ln w="12700">
            <a:solidFill>
              <a:srgbClr val="F2A541"/>
            </a:solidFill>
            <a:prstDash val="solid"/>
          </a:ln>
        </p:spPr>
      </p:sp>
      <p:sp>
        <p:nvSpPr>
          <p:cNvPr id="4" name="Text 2"/>
          <p:cNvSpPr txBox="1"/>
          <p:nvPr/>
        </p:nvSpPr>
        <p:spPr>
          <a:xfrm>
            <a:off x="9372600" y="411480"/>
            <a:ext cx="2286000" cy="457200"/>
          </a:xfrm>
          <a:prstGeom prst="rect">
            <a:avLst/>
          </a:prstGeom>
          <a:noFill/>
          <a:ln/>
        </p:spPr>
        <p:txBody>
          <a:bodyPr wrap="square" lIns="0" tIns="0" rIns="0" bIns="0" rtlCol="0" anchor="ctr"/>
          <a:lstStyle/>
          <a:p>
            <a:pPr algn="ctr" indent="0" marL="0">
              <a:buNone/>
            </a:pPr>
            <a:r>
              <a:rPr lang="en-US" sz="1150" b="1" dirty="0">
                <a:solidFill>
                  <a:srgbClr val="12263A"/>
                </a:solidFill>
                <a:latin typeface="Calibri" pitchFamily="34" charset="0"/>
                <a:ea typeface="Calibri" pitchFamily="34" charset="-122"/>
                <a:cs typeface="Calibri" pitchFamily="34" charset="-120"/>
              </a:rPr>
              <a:t>Algorithmic Modeling · 3M</a:t>
            </a:r>
            <a:endParaRPr lang="en-US" sz="1150" dirty="0"/>
          </a:p>
        </p:txBody>
      </p:sp>
      <p:sp>
        <p:nvSpPr>
          <p:cNvPr id="5" name="Text 3"/>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i="1" dirty="0">
                <a:solidFill>
                  <a:srgbClr val="5B6675"/>
                </a:solidFill>
                <a:latin typeface="Calibri" pitchFamily="34" charset="0"/>
                <a:ea typeface="Calibri" pitchFamily="34" charset="-122"/>
                <a:cs typeface="Calibri" pitchFamily="34" charset="-120"/>
              </a:rPr>
              <a:t>Deterministic, explainable rules turn a forecast into a bid</a:t>
            </a:r>
            <a:endParaRPr lang="en-US" sz="1400" dirty="0"/>
          </a:p>
        </p:txBody>
      </p:sp>
      <p:sp>
        <p:nvSpPr>
          <p:cNvPr id="6" name="Shape 4"/>
          <p:cNvSpPr/>
          <p:nvPr/>
        </p:nvSpPr>
        <p:spPr>
          <a:xfrm>
            <a:off x="548640" y="1508760"/>
            <a:ext cx="5486400" cy="2194560"/>
          </a:xfrm>
          <a:prstGeom prst="roundRect">
            <a:avLst>
              <a:gd name="adj" fmla="val 5000"/>
            </a:avLst>
          </a:prstGeom>
          <a:solidFill>
            <a:srgbClr val="F3F6F9"/>
          </a:solidFill>
          <a:ln w="12700">
            <a:solidFill>
              <a:srgbClr val="F3F6F9"/>
            </a:solidFill>
            <a:prstDash val="solid"/>
          </a:ln>
        </p:spPr>
      </p:sp>
      <p:sp>
        <p:nvSpPr>
          <p:cNvPr id="7" name="Shape 5"/>
          <p:cNvSpPr/>
          <p:nvPr/>
        </p:nvSpPr>
        <p:spPr>
          <a:xfrm>
            <a:off x="777240" y="1737360"/>
            <a:ext cx="585216" cy="585216"/>
          </a:xfrm>
          <a:prstGeom prst="ellipse">
            <a:avLst/>
          </a:prstGeom>
          <a:solidFill>
            <a:srgbClr val="F2A541"/>
          </a:solidFill>
          <a:ln w="12700">
            <a:solidFill>
              <a:srgbClr val="F2A541"/>
            </a:solidFill>
            <a:prstDash val="solid"/>
          </a:ln>
        </p:spPr>
      </p:sp>
      <p:pic>
        <p:nvPicPr>
          <p:cNvPr id="8" name="Image 0" descr="preencoded.png">    </p:cNvPr>
          <p:cNvPicPr>
            <a:picLocks noChangeAspect="1"/>
          </p:cNvPicPr>
          <p:nvPr/>
        </p:nvPicPr>
        <p:blipFill>
          <a:blip r:embed="rId1"/>
          <a:stretch>
            <a:fillRect/>
          </a:stretch>
        </p:blipFill>
        <p:spPr>
          <a:xfrm>
            <a:off x="917692" y="1877812"/>
            <a:ext cx="304312" cy="304312"/>
          </a:xfrm>
          <a:prstGeom prst="rect">
            <a:avLst/>
          </a:prstGeom>
        </p:spPr>
      </p:pic>
      <p:sp>
        <p:nvSpPr>
          <p:cNvPr id="9" name="Text 6"/>
          <p:cNvSpPr txBox="1"/>
          <p:nvPr/>
        </p:nvSpPr>
        <p:spPr>
          <a:xfrm>
            <a:off x="1554480" y="1783080"/>
            <a:ext cx="4297680" cy="502920"/>
          </a:xfrm>
          <a:prstGeom prst="rect">
            <a:avLst/>
          </a:prstGeom>
          <a:noFill/>
          <a:ln/>
        </p:spPr>
        <p:txBody>
          <a:bodyPr wrap="square" lIns="0" tIns="0" rIns="0" bIns="0" rtlCol="0" anchor="ctr"/>
          <a:lstStyle/>
          <a:p>
            <a:pPr indent="0" marL="0">
              <a:buNone/>
            </a:pPr>
            <a:r>
              <a:rPr lang="en-US" sz="1700" b="1" dirty="0">
                <a:solidFill>
                  <a:srgbClr val="12263A"/>
                </a:solidFill>
                <a:latin typeface="Cambria" pitchFamily="34" charset="0"/>
                <a:ea typeface="Cambria" pitchFamily="34" charset="-122"/>
                <a:cs typeface="Cambria" pitchFamily="34" charset="-120"/>
              </a:rPr>
              <a:t>Load classification</a:t>
            </a:r>
            <a:endParaRPr lang="en-US" sz="1700" dirty="0"/>
          </a:p>
        </p:txBody>
      </p:sp>
      <p:sp>
        <p:nvSpPr>
          <p:cNvPr id="10" name="Text 7"/>
          <p:cNvSpPr txBox="1"/>
          <p:nvPr/>
        </p:nvSpPr>
        <p:spPr>
          <a:xfrm>
            <a:off x="822960" y="2514600"/>
            <a:ext cx="4983480" cy="1005840"/>
          </a:xfrm>
          <a:prstGeom prst="rect">
            <a:avLst/>
          </a:prstGeom>
          <a:noFill/>
          <a:ln/>
        </p:spPr>
        <p:txBody>
          <a:bodyPr wrap="square" lIns="0" tIns="0" rIns="0" bIns="0" rtlCol="0" anchor="t"/>
          <a:lstStyle/>
          <a:p>
            <a:pPr indent="0" marL="0">
              <a:buNone/>
            </a:pPr>
            <a:r>
              <a:rPr lang="en-US" sz="1250" dirty="0">
                <a:solidFill>
                  <a:srgbClr val="1B2430"/>
                </a:solidFill>
                <a:latin typeface="Courier New" pitchFamily="34" charset="0"/>
                <a:ea typeface="Courier New" pitchFamily="34" charset="-122"/>
                <a:cs typeface="Courier New" pitchFamily="34" charset="-120"/>
              </a:rPr>
              <a:t>critical = min(forecast, max(floor, critical_fraction × forecast))</a:t>
            </a:r>
            <a:endParaRPr lang="en-US" sz="1250" dirty="0"/>
          </a:p>
          <a:p>
            <a:pPr indent="0" marL="0">
              <a:buNone/>
            </a:pPr>
            <a:r>
              <a:rPr lang="en-US" sz="1250" dirty="0">
                <a:solidFill>
                  <a:srgbClr val="1B2430"/>
                </a:solidFill>
                <a:latin typeface="Courier New" pitchFamily="34" charset="0"/>
                <a:ea typeface="Courier New" pitchFamily="34" charset="-122"/>
                <a:cs typeface="Courier New" pitchFamily="34" charset="-120"/>
              </a:rPr>
              <a:t>minimum = critical + comfort floor</a:t>
            </a:r>
            <a:endParaRPr lang="en-US" sz="1250" dirty="0"/>
          </a:p>
        </p:txBody>
      </p:sp>
      <p:sp>
        <p:nvSpPr>
          <p:cNvPr id="11" name="Shape 8"/>
          <p:cNvSpPr/>
          <p:nvPr/>
        </p:nvSpPr>
        <p:spPr>
          <a:xfrm>
            <a:off x="6172200" y="1508760"/>
            <a:ext cx="5486400" cy="2194560"/>
          </a:xfrm>
          <a:prstGeom prst="roundRect">
            <a:avLst>
              <a:gd name="adj" fmla="val 5000"/>
            </a:avLst>
          </a:prstGeom>
          <a:solidFill>
            <a:srgbClr val="F3F6F9"/>
          </a:solidFill>
          <a:ln w="12700">
            <a:solidFill>
              <a:srgbClr val="F3F6F9"/>
            </a:solidFill>
            <a:prstDash val="solid"/>
          </a:ln>
        </p:spPr>
      </p:sp>
      <p:sp>
        <p:nvSpPr>
          <p:cNvPr id="12" name="Shape 9"/>
          <p:cNvSpPr/>
          <p:nvPr/>
        </p:nvSpPr>
        <p:spPr>
          <a:xfrm>
            <a:off x="6400800" y="1737360"/>
            <a:ext cx="585216" cy="585216"/>
          </a:xfrm>
          <a:prstGeom prst="ellipse">
            <a:avLst/>
          </a:prstGeom>
          <a:solidFill>
            <a:srgbClr val="F2A541"/>
          </a:solidFill>
          <a:ln w="12700">
            <a:solidFill>
              <a:srgbClr val="F2A541"/>
            </a:solidFill>
            <a:prstDash val="solid"/>
          </a:ln>
        </p:spPr>
      </p:sp>
      <p:pic>
        <p:nvPicPr>
          <p:cNvPr id="13" name="Image 1" descr="preencoded.png">    </p:cNvPr>
          <p:cNvPicPr>
            <a:picLocks noChangeAspect="1"/>
          </p:cNvPicPr>
          <p:nvPr/>
        </p:nvPicPr>
        <p:blipFill>
          <a:blip r:embed="rId2"/>
          <a:stretch>
            <a:fillRect/>
          </a:stretch>
        </p:blipFill>
        <p:spPr>
          <a:xfrm>
            <a:off x="6541252" y="1877812"/>
            <a:ext cx="304312" cy="304312"/>
          </a:xfrm>
          <a:prstGeom prst="rect">
            <a:avLst/>
          </a:prstGeom>
        </p:spPr>
      </p:pic>
      <p:sp>
        <p:nvSpPr>
          <p:cNvPr id="14" name="Text 10"/>
          <p:cNvSpPr txBox="1"/>
          <p:nvPr/>
        </p:nvSpPr>
        <p:spPr>
          <a:xfrm>
            <a:off x="7178040" y="1783080"/>
            <a:ext cx="4297680" cy="502920"/>
          </a:xfrm>
          <a:prstGeom prst="rect">
            <a:avLst/>
          </a:prstGeom>
          <a:noFill/>
          <a:ln/>
        </p:spPr>
        <p:txBody>
          <a:bodyPr wrap="square" lIns="0" tIns="0" rIns="0" bIns="0" rtlCol="0" anchor="ctr"/>
          <a:lstStyle/>
          <a:p>
            <a:pPr indent="0" marL="0">
              <a:buNone/>
            </a:pPr>
            <a:r>
              <a:rPr lang="en-US" sz="1700" b="1" dirty="0">
                <a:solidFill>
                  <a:srgbClr val="12263A"/>
                </a:solidFill>
                <a:latin typeface="Cambria" pitchFamily="34" charset="0"/>
                <a:ea typeface="Cambria" pitchFamily="34" charset="-122"/>
                <a:cs typeface="Cambria" pitchFamily="34" charset="-120"/>
              </a:rPr>
              <a:t>Priority score (0–1)</a:t>
            </a:r>
            <a:endParaRPr lang="en-US" sz="1700" dirty="0"/>
          </a:p>
        </p:txBody>
      </p:sp>
      <p:sp>
        <p:nvSpPr>
          <p:cNvPr id="15" name="Text 11"/>
          <p:cNvSpPr txBox="1"/>
          <p:nvPr/>
        </p:nvSpPr>
        <p:spPr>
          <a:xfrm>
            <a:off x="6446520" y="2514600"/>
            <a:ext cx="4983480" cy="1005840"/>
          </a:xfrm>
          <a:prstGeom prst="rect">
            <a:avLst/>
          </a:prstGeom>
          <a:noFill/>
          <a:ln/>
        </p:spPr>
        <p:txBody>
          <a:bodyPr wrap="square" lIns="0" tIns="0" rIns="0" bIns="0" rtlCol="0" anchor="t"/>
          <a:lstStyle/>
          <a:p>
            <a:pPr indent="0" marL="0">
              <a:buNone/>
            </a:pPr>
            <a:r>
              <a:rPr lang="en-US" sz="1250" dirty="0">
                <a:solidFill>
                  <a:srgbClr val="1B2430"/>
                </a:solidFill>
                <a:latin typeface="Courier New" pitchFamily="34" charset="0"/>
                <a:ea typeface="Courier New" pitchFamily="34" charset="-122"/>
                <a:cs typeface="Courier New" pitchFamily="34" charset="-120"/>
              </a:rPr>
              <a:t>weighted sum of: criticality · building importance ·</a:t>
            </a:r>
            <a:endParaRPr lang="en-US" sz="1250" dirty="0"/>
          </a:p>
          <a:p>
            <a:pPr indent="0" marL="0">
              <a:buNone/>
            </a:pPr>
            <a:r>
              <a:rPr lang="en-US" sz="1250" dirty="0">
                <a:solidFill>
                  <a:srgbClr val="1B2430"/>
                </a:solidFill>
                <a:latin typeface="Courier New" pitchFamily="34" charset="0"/>
                <a:ea typeface="Courier New" pitchFamily="34" charset="-122"/>
                <a:cs typeface="Courier New" pitchFamily="34" charset="-120"/>
              </a:rPr>
              <a:t>urgency of postponed energy · recent deprivation</a:t>
            </a:r>
            <a:endParaRPr lang="en-US" sz="1250" dirty="0"/>
          </a:p>
        </p:txBody>
      </p:sp>
      <p:sp>
        <p:nvSpPr>
          <p:cNvPr id="16" name="Shape 12"/>
          <p:cNvSpPr/>
          <p:nvPr/>
        </p:nvSpPr>
        <p:spPr>
          <a:xfrm>
            <a:off x="548640" y="3886200"/>
            <a:ext cx="5486400" cy="2194560"/>
          </a:xfrm>
          <a:prstGeom prst="roundRect">
            <a:avLst>
              <a:gd name="adj" fmla="val 5000"/>
            </a:avLst>
          </a:prstGeom>
          <a:solidFill>
            <a:srgbClr val="F3F6F9"/>
          </a:solidFill>
          <a:ln w="12700">
            <a:solidFill>
              <a:srgbClr val="F3F6F9"/>
            </a:solidFill>
            <a:prstDash val="solid"/>
          </a:ln>
        </p:spPr>
      </p:sp>
      <p:sp>
        <p:nvSpPr>
          <p:cNvPr id="17" name="Shape 13"/>
          <p:cNvSpPr/>
          <p:nvPr/>
        </p:nvSpPr>
        <p:spPr>
          <a:xfrm>
            <a:off x="777240" y="4114800"/>
            <a:ext cx="585216" cy="585216"/>
          </a:xfrm>
          <a:prstGeom prst="ellipse">
            <a:avLst/>
          </a:prstGeom>
          <a:solidFill>
            <a:srgbClr val="F2A541"/>
          </a:solidFill>
          <a:ln w="12700">
            <a:solidFill>
              <a:srgbClr val="F2A541"/>
            </a:solidFill>
            <a:prstDash val="solid"/>
          </a:ln>
        </p:spPr>
      </p:sp>
      <p:pic>
        <p:nvPicPr>
          <p:cNvPr id="18" name="Image 2" descr="preencoded.png">    </p:cNvPr>
          <p:cNvPicPr>
            <a:picLocks noChangeAspect="1"/>
          </p:cNvPicPr>
          <p:nvPr/>
        </p:nvPicPr>
        <p:blipFill>
          <a:blip r:embed="rId3"/>
          <a:stretch>
            <a:fillRect/>
          </a:stretch>
        </p:blipFill>
        <p:spPr>
          <a:xfrm>
            <a:off x="917692" y="4255252"/>
            <a:ext cx="304312" cy="304312"/>
          </a:xfrm>
          <a:prstGeom prst="rect">
            <a:avLst/>
          </a:prstGeom>
        </p:spPr>
      </p:pic>
      <p:sp>
        <p:nvSpPr>
          <p:cNvPr id="19" name="Text 14"/>
          <p:cNvSpPr txBox="1"/>
          <p:nvPr/>
        </p:nvSpPr>
        <p:spPr>
          <a:xfrm>
            <a:off x="1554480" y="4160520"/>
            <a:ext cx="4297680" cy="502920"/>
          </a:xfrm>
          <a:prstGeom prst="rect">
            <a:avLst/>
          </a:prstGeom>
          <a:noFill/>
          <a:ln/>
        </p:spPr>
        <p:txBody>
          <a:bodyPr wrap="square" lIns="0" tIns="0" rIns="0" bIns="0" rtlCol="0" anchor="ctr"/>
          <a:lstStyle/>
          <a:p>
            <a:pPr indent="0" marL="0">
              <a:buNone/>
            </a:pPr>
            <a:r>
              <a:rPr lang="en-US" sz="1700" b="1" dirty="0">
                <a:solidFill>
                  <a:srgbClr val="12263A"/>
                </a:solidFill>
                <a:latin typeface="Cambria" pitchFamily="34" charset="0"/>
                <a:ea typeface="Cambria" pitchFamily="34" charset="-122"/>
                <a:cs typeface="Cambria" pitchFamily="34" charset="-120"/>
              </a:rPr>
              <a:t>Willingness to pay</a:t>
            </a:r>
            <a:endParaRPr lang="en-US" sz="1700" dirty="0"/>
          </a:p>
        </p:txBody>
      </p:sp>
      <p:sp>
        <p:nvSpPr>
          <p:cNvPr id="20" name="Text 15"/>
          <p:cNvSpPr txBox="1"/>
          <p:nvPr/>
        </p:nvSpPr>
        <p:spPr>
          <a:xfrm>
            <a:off x="822960" y="4892040"/>
            <a:ext cx="4983480" cy="1005840"/>
          </a:xfrm>
          <a:prstGeom prst="rect">
            <a:avLst/>
          </a:prstGeom>
          <a:noFill/>
          <a:ln/>
        </p:spPr>
        <p:txBody>
          <a:bodyPr wrap="square" lIns="0" tIns="0" rIns="0" bIns="0" rtlCol="0" anchor="t"/>
          <a:lstStyle/>
          <a:p>
            <a:pPr indent="0" marL="0">
              <a:buNone/>
            </a:pPr>
            <a:r>
              <a:rPr lang="en-US" sz="1250" dirty="0">
                <a:solidFill>
                  <a:srgbClr val="1B2430"/>
                </a:solidFill>
                <a:latin typeface="Courier New" pitchFamily="34" charset="0"/>
                <a:ea typeface="Courier New" pitchFamily="34" charset="-122"/>
                <a:cs typeface="Courier New" pitchFamily="34" charset="-120"/>
              </a:rPr>
              <a:t>base price → cap, rising with priority,</a:t>
            </a:r>
            <a:endParaRPr lang="en-US" sz="1250" dirty="0"/>
          </a:p>
          <a:p>
            <a:pPr indent="0" marL="0">
              <a:buNone/>
            </a:pPr>
            <a:r>
              <a:rPr lang="en-US" sz="1250" dirty="0">
                <a:solidFill>
                  <a:srgbClr val="1B2430"/>
                </a:solidFill>
                <a:latin typeface="Courier New" pitchFamily="34" charset="0"/>
                <a:ea typeface="Courier New" pitchFamily="34" charset="-122"/>
                <a:cs typeface="Courier New" pitchFamily="34" charset="-120"/>
              </a:rPr>
              <a:t>scarcity and deprivation</a:t>
            </a:r>
            <a:endParaRPr lang="en-US" sz="1250" dirty="0"/>
          </a:p>
        </p:txBody>
      </p:sp>
      <p:sp>
        <p:nvSpPr>
          <p:cNvPr id="21" name="Shape 16"/>
          <p:cNvSpPr/>
          <p:nvPr/>
        </p:nvSpPr>
        <p:spPr>
          <a:xfrm>
            <a:off x="6172200" y="3886200"/>
            <a:ext cx="5486400" cy="2194560"/>
          </a:xfrm>
          <a:prstGeom prst="roundRect">
            <a:avLst>
              <a:gd name="adj" fmla="val 5000"/>
            </a:avLst>
          </a:prstGeom>
          <a:solidFill>
            <a:srgbClr val="F3F6F9"/>
          </a:solidFill>
          <a:ln w="12700">
            <a:solidFill>
              <a:srgbClr val="F3F6F9"/>
            </a:solidFill>
            <a:prstDash val="solid"/>
          </a:ln>
        </p:spPr>
      </p:sp>
      <p:sp>
        <p:nvSpPr>
          <p:cNvPr id="22" name="Shape 17"/>
          <p:cNvSpPr/>
          <p:nvPr/>
        </p:nvSpPr>
        <p:spPr>
          <a:xfrm>
            <a:off x="6400800" y="4114800"/>
            <a:ext cx="585216" cy="585216"/>
          </a:xfrm>
          <a:prstGeom prst="ellipse">
            <a:avLst/>
          </a:prstGeom>
          <a:solidFill>
            <a:srgbClr val="F2A541"/>
          </a:solidFill>
          <a:ln w="12700">
            <a:solidFill>
              <a:srgbClr val="F2A541"/>
            </a:solidFill>
            <a:prstDash val="solid"/>
          </a:ln>
        </p:spPr>
      </p:sp>
      <p:pic>
        <p:nvPicPr>
          <p:cNvPr id="23" name="Image 3" descr="preencoded.png">    </p:cNvPr>
          <p:cNvPicPr>
            <a:picLocks noChangeAspect="1"/>
          </p:cNvPicPr>
          <p:nvPr/>
        </p:nvPicPr>
        <p:blipFill>
          <a:blip r:embed="rId4"/>
          <a:stretch>
            <a:fillRect/>
          </a:stretch>
        </p:blipFill>
        <p:spPr>
          <a:xfrm>
            <a:off x="6541252" y="4255252"/>
            <a:ext cx="304312" cy="304312"/>
          </a:xfrm>
          <a:prstGeom prst="rect">
            <a:avLst/>
          </a:prstGeom>
        </p:spPr>
      </p:pic>
      <p:sp>
        <p:nvSpPr>
          <p:cNvPr id="24" name="Text 18"/>
          <p:cNvSpPr txBox="1"/>
          <p:nvPr/>
        </p:nvSpPr>
        <p:spPr>
          <a:xfrm>
            <a:off x="7178040" y="4160520"/>
            <a:ext cx="4297680" cy="502920"/>
          </a:xfrm>
          <a:prstGeom prst="rect">
            <a:avLst/>
          </a:prstGeom>
          <a:noFill/>
          <a:ln/>
        </p:spPr>
        <p:txBody>
          <a:bodyPr wrap="square" lIns="0" tIns="0" rIns="0" bIns="0" rtlCol="0" anchor="ctr"/>
          <a:lstStyle/>
          <a:p>
            <a:pPr indent="0" marL="0">
              <a:buNone/>
            </a:pPr>
            <a:r>
              <a:rPr lang="en-US" sz="1700" b="1" dirty="0">
                <a:solidFill>
                  <a:srgbClr val="12263A"/>
                </a:solidFill>
                <a:latin typeface="Cambria" pitchFamily="34" charset="0"/>
                <a:ea typeface="Cambria" pitchFamily="34" charset="-122"/>
                <a:cs typeface="Cambria" pitchFamily="34" charset="-120"/>
              </a:rPr>
              <a:t>Demand response</a:t>
            </a:r>
            <a:endParaRPr lang="en-US" sz="1700" dirty="0"/>
          </a:p>
        </p:txBody>
      </p:sp>
      <p:sp>
        <p:nvSpPr>
          <p:cNvPr id="25" name="Text 19"/>
          <p:cNvSpPr txBox="1"/>
          <p:nvPr/>
        </p:nvSpPr>
        <p:spPr>
          <a:xfrm>
            <a:off x="6446520" y="4892040"/>
            <a:ext cx="4983480" cy="1005840"/>
          </a:xfrm>
          <a:prstGeom prst="rect">
            <a:avLst/>
          </a:prstGeom>
          <a:noFill/>
          <a:ln/>
        </p:spPr>
        <p:txBody>
          <a:bodyPr wrap="square" lIns="0" tIns="0" rIns="0" bIns="0" rtlCol="0" anchor="t"/>
          <a:lstStyle/>
          <a:p>
            <a:pPr indent="0" marL="0">
              <a:buNone/>
            </a:pPr>
            <a:r>
              <a:rPr lang="en-US" sz="1250" dirty="0">
                <a:solidFill>
                  <a:srgbClr val="1B2430"/>
                </a:solidFill>
                <a:latin typeface="Courier New" pitchFamily="34" charset="0"/>
                <a:ea typeface="Courier New" pitchFamily="34" charset="-122"/>
                <a:cs typeface="Courier New" pitchFamily="34" charset="-120"/>
              </a:rPr>
              <a:t>requested −= scarcity × 0.5 × (requested − minimum)</a:t>
            </a:r>
            <a:endParaRPr lang="en-US" sz="1250" dirty="0"/>
          </a:p>
          <a:p>
            <a:pPr indent="0" marL="0">
              <a:buNone/>
            </a:pPr>
            <a:r>
              <a:rPr lang="en-US" sz="1250" dirty="0">
                <a:solidFill>
                  <a:srgbClr val="1B2430"/>
                </a:solidFill>
                <a:latin typeface="Courier New" pitchFamily="34" charset="0"/>
                <a:ea typeface="Courier New" pitchFamily="34" charset="-122"/>
                <a:cs typeface="Courier New" pitchFamily="34" charset="-120"/>
              </a:rPr>
              <a:t>critical and minimum load are never cut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595360" cy="685800"/>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Search &amp; Optimisation — Market Clearing</a:t>
            </a:r>
            <a:endParaRPr lang="en-US" sz="3000" dirty="0"/>
          </a:p>
        </p:txBody>
      </p:sp>
      <p:sp>
        <p:nvSpPr>
          <p:cNvPr id="3" name="Shape 1"/>
          <p:cNvSpPr/>
          <p:nvPr/>
        </p:nvSpPr>
        <p:spPr>
          <a:xfrm>
            <a:off x="9372600" y="411480"/>
            <a:ext cx="2286000" cy="457200"/>
          </a:xfrm>
          <a:prstGeom prst="roundRect">
            <a:avLst>
              <a:gd name="adj" fmla="val 50000"/>
            </a:avLst>
          </a:prstGeom>
          <a:solidFill>
            <a:srgbClr val="FDF1DC"/>
          </a:solidFill>
          <a:ln w="12700">
            <a:solidFill>
              <a:srgbClr val="F2A541"/>
            </a:solidFill>
            <a:prstDash val="solid"/>
          </a:ln>
        </p:spPr>
      </p:sp>
      <p:sp>
        <p:nvSpPr>
          <p:cNvPr id="4" name="Text 2"/>
          <p:cNvSpPr txBox="1"/>
          <p:nvPr/>
        </p:nvSpPr>
        <p:spPr>
          <a:xfrm>
            <a:off x="9372600" y="411480"/>
            <a:ext cx="2286000" cy="457200"/>
          </a:xfrm>
          <a:prstGeom prst="rect">
            <a:avLst/>
          </a:prstGeom>
          <a:noFill/>
          <a:ln/>
        </p:spPr>
        <p:txBody>
          <a:bodyPr wrap="square" lIns="0" tIns="0" rIns="0" bIns="0" rtlCol="0" anchor="ctr"/>
          <a:lstStyle/>
          <a:p>
            <a:pPr algn="ctr" indent="0" marL="0">
              <a:buNone/>
            </a:pPr>
            <a:r>
              <a:rPr lang="en-US" sz="1150" b="1" dirty="0">
                <a:solidFill>
                  <a:srgbClr val="12263A"/>
                </a:solidFill>
                <a:latin typeface="Calibri" pitchFamily="34" charset="0"/>
                <a:ea typeface="Calibri" pitchFamily="34" charset="-122"/>
                <a:cs typeface="Calibri" pitchFamily="34" charset="-120"/>
              </a:rPr>
              <a:t>Search Strategy · 3M</a:t>
            </a:r>
            <a:endParaRPr lang="en-US" sz="1150" dirty="0"/>
          </a:p>
        </p:txBody>
      </p:sp>
      <p:sp>
        <p:nvSpPr>
          <p:cNvPr id="5" name="Text 3"/>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i="1" dirty="0">
                <a:solidFill>
                  <a:srgbClr val="5B6675"/>
                </a:solidFill>
                <a:latin typeface="Calibri" pitchFamily="34" charset="0"/>
                <a:ea typeface="Calibri" pitchFamily="34" charset="-122"/>
                <a:cs typeface="Calibri" pitchFamily="34" charset="-120"/>
              </a:rPr>
              <a:t>Who gets power is an optimisation problem solved exactly every 15 minutes</a:t>
            </a:r>
            <a:endParaRPr lang="en-US" sz="1400" dirty="0"/>
          </a:p>
        </p:txBody>
      </p:sp>
      <p:sp>
        <p:nvSpPr>
          <p:cNvPr id="6" name="Shape 4"/>
          <p:cNvSpPr/>
          <p:nvPr/>
        </p:nvSpPr>
        <p:spPr>
          <a:xfrm>
            <a:off x="548640" y="1463040"/>
            <a:ext cx="5394960" cy="2148840"/>
          </a:xfrm>
          <a:prstGeom prst="roundRect">
            <a:avLst>
              <a:gd name="adj" fmla="val 5106"/>
            </a:avLst>
          </a:prstGeom>
          <a:solidFill>
            <a:srgbClr val="FDF1DC"/>
          </a:solidFill>
          <a:ln w="12700">
            <a:solidFill>
              <a:srgbClr val="FDF1DC"/>
            </a:solidFill>
            <a:prstDash val="solid"/>
          </a:ln>
        </p:spPr>
      </p:sp>
      <p:sp>
        <p:nvSpPr>
          <p:cNvPr id="7" name="Text 5"/>
          <p:cNvSpPr txBox="1"/>
          <p:nvPr/>
        </p:nvSpPr>
        <p:spPr>
          <a:xfrm>
            <a:off x="777240" y="1600200"/>
            <a:ext cx="5029200" cy="1371600"/>
          </a:xfrm>
          <a:prstGeom prst="rect">
            <a:avLst/>
          </a:prstGeom>
          <a:noFill/>
          <a:ln/>
        </p:spPr>
        <p:txBody>
          <a:bodyPr wrap="square" lIns="0" tIns="0" rIns="0" bIns="0" rtlCol="0" anchor="t"/>
          <a:lstStyle/>
          <a:p>
            <a:pPr indent="0" marL="0">
              <a:buNone/>
            </a:pPr>
            <a:r>
              <a:rPr lang="en-US" sz="1250" dirty="0">
                <a:solidFill>
                  <a:srgbClr val="12263A"/>
                </a:solidFill>
                <a:latin typeface="Courier New" pitchFamily="34" charset="0"/>
                <a:ea typeface="Courier New" pitchFamily="34" charset="-122"/>
                <a:cs typeface="Courier New" pitchFamily="34" charset="-120"/>
              </a:rPr>
              <a:t>maximise   Σᵢ Uᵢ(xᵢ)</a:t>
            </a:r>
            <a:endParaRPr lang="en-US" sz="1250" dirty="0"/>
          </a:p>
          <a:p>
            <a:pPr indent="0" marL="0">
              <a:buNone/>
            </a:pPr>
            <a:r>
              <a:rPr lang="en-US" sz="1250" dirty="0">
                <a:solidFill>
                  <a:srgbClr val="12263A"/>
                </a:solidFill>
                <a:latin typeface="Courier New" pitchFamily="34" charset="0"/>
                <a:ea typeface="Courier New" pitchFamily="34" charset="-122"/>
                <a:cs typeface="Courier New" pitchFamily="34" charset="-120"/>
              </a:rPr>
              <a:t>subject to Σᵢ xᵢ ≤ available supply</a:t>
            </a:r>
            <a:endParaRPr lang="en-US" sz="1250" dirty="0"/>
          </a:p>
          <a:p>
            <a:pPr indent="0" marL="0">
              <a:buNone/>
            </a:pPr>
            <a:r>
              <a:rPr lang="en-US" sz="1250" dirty="0">
                <a:solidFill>
                  <a:srgbClr val="12263A"/>
                </a:solidFill>
                <a:latin typeface="Courier New" pitchFamily="34" charset="0"/>
                <a:ea typeface="Courier New" pitchFamily="34" charset="-122"/>
                <a:cs typeface="Courier New" pitchFamily="34" charset="-120"/>
              </a:rPr>
              <a:t>           0 ≤ xᵢ ≤ requestedᵢ</a:t>
            </a:r>
            <a:endParaRPr lang="en-US" sz="1250" dirty="0"/>
          </a:p>
          <a:p>
            <a:pPr indent="0" marL="0">
              <a:buNone/>
            </a:pPr>
            <a:r>
              <a:rPr lang="en-US" sz="1250" dirty="0">
                <a:solidFill>
                  <a:srgbClr val="12263A"/>
                </a:solidFill>
                <a:latin typeface="Courier New" pitchFamily="34" charset="0"/>
                <a:ea typeface="Courier New" pitchFamily="34" charset="-122"/>
                <a:cs typeface="Courier New" pitchFamily="34" charset="-120"/>
              </a:rPr>
              <a:t>           xᵢ ≥ criticalᵢ (if supply allows)</a:t>
            </a:r>
            <a:endParaRPr lang="en-US" sz="1250" dirty="0"/>
          </a:p>
        </p:txBody>
      </p:sp>
      <p:sp>
        <p:nvSpPr>
          <p:cNvPr id="8" name="Text 6"/>
          <p:cNvSpPr txBox="1"/>
          <p:nvPr/>
        </p:nvSpPr>
        <p:spPr>
          <a:xfrm>
            <a:off x="777240" y="2926080"/>
            <a:ext cx="4983480" cy="685800"/>
          </a:xfrm>
          <a:prstGeom prst="rect">
            <a:avLst/>
          </a:prstGeom>
          <a:noFill/>
          <a:ln/>
        </p:spPr>
        <p:txBody>
          <a:bodyPr wrap="square" lIns="0" tIns="0" rIns="0" bIns="0" rtlCol="0" anchor="t"/>
          <a:lstStyle/>
          <a:p>
            <a:pPr indent="0" marL="0">
              <a:buNone/>
            </a:pPr>
            <a:r>
              <a:rPr lang="en-US" sz="1200" dirty="0">
                <a:solidFill>
                  <a:srgbClr val="1B2430"/>
                </a:solidFill>
                <a:latin typeface="Calibri" pitchFamily="34" charset="0"/>
                <a:ea typeface="Calibri" pitchFamily="34" charset="-122"/>
                <a:cs typeface="Calibri" pitchFamily="34" charset="-120"/>
              </a:rPr>
              <a:t>Uᵢ is piecewise concave: critical ≫ minimum ≫ flexible (scored by criticality, priority, price, deprivation). Solved as a continuous bounded knapsack — exact, O(N log N).</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17920" y="1463040"/>
          <a:ext cx="5440680" cy="914400"/>
        </p:xfrm>
        <a:graphic>
          <a:graphicData uri="http://schemas.openxmlformats.org/drawingml/2006/table">
            <a:tbl>
              <a:tblPr/>
              <a:tblGrid>
                <a:gridCol w="1417320"/>
                <a:gridCol w="2697480"/>
                <a:gridCol w="1325880"/>
              </a:tblGrid>
              <a:tr h="42976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Strategy</a:t>
                      </a:r>
                      <a:endParaRPr lang="en-US" sz="12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226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Rule</a:t>
                      </a:r>
                      <a:endParaRPr lang="en-US" sz="12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226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2263A"/>
                    </a:solidFill>
                  </a:tcPr>
                </a:tc>
              </a:tr>
              <a:tr h="42976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Proportional</a:t>
                      </a:r>
                      <a:endParaRPr lang="en-US" sz="12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Everyone gets the same fraction</a:t>
                      </a:r>
                      <a:endParaRPr lang="en-US" sz="12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Priority-only</a:t>
                      </a:r>
                      <a:endParaRPr lang="en-US" sz="12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Whole requests by priority</a:t>
                      </a:r>
                      <a:endParaRPr lang="en-US" sz="12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Weak baseline</a:t>
                      </a:r>
                      <a:endParaRPr lang="en-US" sz="12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r>
              <a:tr h="42976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Greedy tiers</a:t>
                      </a:r>
                      <a:endParaRPr lang="en-US" sz="12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Critical → minimum → flexible by score</a:t>
                      </a:r>
                      <a:endParaRPr lang="en-US" sz="12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Critical first</a:t>
                      </a:r>
                      <a:endParaRPr lang="en-US" sz="12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Optimised</a:t>
                      </a:r>
                      <a:endParaRPr lang="en-US" sz="12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Welfare-maximising knapsack</a:t>
                      </a:r>
                      <a:endParaRPr lang="en-US" sz="12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Full GridWeave</a:t>
                      </a:r>
                      <a:endParaRPr lang="en-US" sz="1200" dirty="0">
                        <a:latin typeface="Calibri" charset="0"/>
                        <a:ea typeface="Calibri" charset="0"/>
                        <a:cs typeface="Calibri" charset="0"/>
                      </a:endParaRPr>
                    </a:p>
                  </a:txBody>
                  <a:tcPr marL="76200" marR="76200" marT="50800" marB="5080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F6F9"/>
                    </a:solidFill>
                  </a:tcPr>
                </a:tc>
              </a:tr>
            </a:tbl>
          </a:graphicData>
        </a:graphic>
      </p:graphicFrame>
      <p:sp>
        <p:nvSpPr>
          <p:cNvPr id="10" name="Shape 7"/>
          <p:cNvSpPr/>
          <p:nvPr/>
        </p:nvSpPr>
        <p:spPr>
          <a:xfrm>
            <a:off x="548640" y="3977640"/>
            <a:ext cx="3611880" cy="2240280"/>
          </a:xfrm>
          <a:prstGeom prst="roundRect">
            <a:avLst>
              <a:gd name="adj" fmla="val 4898"/>
            </a:avLst>
          </a:prstGeom>
          <a:solidFill>
            <a:srgbClr val="F3F6F9"/>
          </a:solidFill>
          <a:ln w="12700">
            <a:solidFill>
              <a:srgbClr val="F3F6F9"/>
            </a:solidFill>
            <a:prstDash val="solid"/>
          </a:ln>
        </p:spPr>
      </p:sp>
      <p:sp>
        <p:nvSpPr>
          <p:cNvPr id="11" name="Shape 8"/>
          <p:cNvSpPr/>
          <p:nvPr/>
        </p:nvSpPr>
        <p:spPr>
          <a:xfrm>
            <a:off x="749808" y="4178808"/>
            <a:ext cx="548640" cy="548640"/>
          </a:xfrm>
          <a:prstGeom prst="ellipse">
            <a:avLst/>
          </a:prstGeom>
          <a:solidFill>
            <a:srgbClr val="F2A541"/>
          </a:solidFill>
          <a:ln w="12700">
            <a:solidFill>
              <a:srgbClr val="F2A541"/>
            </a:solidFill>
            <a:prstDash val="solid"/>
          </a:ln>
        </p:spPr>
      </p:sp>
      <p:pic>
        <p:nvPicPr>
          <p:cNvPr id="12" name="Image 0" descr="preencoded.png">    </p:cNvPr>
          <p:cNvPicPr>
            <a:picLocks noChangeAspect="1"/>
          </p:cNvPicPr>
          <p:nvPr/>
        </p:nvPicPr>
        <p:blipFill>
          <a:blip r:embed="rId1"/>
          <a:stretch>
            <a:fillRect/>
          </a:stretch>
        </p:blipFill>
        <p:spPr>
          <a:xfrm>
            <a:off x="881482" y="4310482"/>
            <a:ext cx="285293" cy="285293"/>
          </a:xfrm>
          <a:prstGeom prst="rect">
            <a:avLst/>
          </a:prstGeom>
        </p:spPr>
      </p:pic>
      <p:sp>
        <p:nvSpPr>
          <p:cNvPr id="13" name="Text 9"/>
          <p:cNvSpPr txBox="1"/>
          <p:nvPr/>
        </p:nvSpPr>
        <p:spPr>
          <a:xfrm>
            <a:off x="1444752" y="4206240"/>
            <a:ext cx="2606040" cy="502920"/>
          </a:xfrm>
          <a:prstGeom prst="rect">
            <a:avLst/>
          </a:prstGeom>
          <a:noFill/>
          <a:ln/>
        </p:spPr>
        <p:txBody>
          <a:bodyPr wrap="square" lIns="0" tIns="0" rIns="0" bIns="0" rtlCol="0" anchor="ctr"/>
          <a:lstStyle/>
          <a:p>
            <a:pPr indent="0" marL="0">
              <a:buNone/>
            </a:pPr>
            <a:r>
              <a:rPr lang="en-US" sz="1450" b="1" dirty="0">
                <a:solidFill>
                  <a:srgbClr val="12263A"/>
                </a:solidFill>
                <a:latin typeface="Cambria" pitchFamily="34" charset="0"/>
                <a:ea typeface="Cambria" pitchFamily="34" charset="-122"/>
                <a:cs typeface="Cambria" pitchFamily="34" charset="-120"/>
              </a:rPr>
              <a:t>Merit-order dispatch</a:t>
            </a:r>
            <a:endParaRPr lang="en-US" sz="1450" dirty="0"/>
          </a:p>
        </p:txBody>
      </p:sp>
      <p:sp>
        <p:nvSpPr>
          <p:cNvPr id="14" name="Text 10"/>
          <p:cNvSpPr txBox="1"/>
          <p:nvPr/>
        </p:nvSpPr>
        <p:spPr>
          <a:xfrm>
            <a:off x="777240" y="4892040"/>
            <a:ext cx="3200400" cy="1188720"/>
          </a:xfrm>
          <a:prstGeom prst="rect">
            <a:avLst/>
          </a:prstGeom>
          <a:noFill/>
          <a:ln/>
        </p:spPr>
        <p:txBody>
          <a:bodyPr wrap="square" lIns="0" tIns="0" rIns="0" bIns="0" rtlCol="0" anchor="t"/>
          <a:lstStyle/>
          <a:p>
            <a:pPr indent="0" marL="0">
              <a:buNone/>
            </a:pPr>
            <a:r>
              <a:rPr lang="en-US" sz="1250" dirty="0">
                <a:solidFill>
                  <a:srgbClr val="1B2430"/>
                </a:solidFill>
                <a:latin typeface="Calibri" pitchFamily="34" charset="0"/>
                <a:ea typeface="Calibri" pitchFamily="34" charset="-122"/>
                <a:cs typeface="Calibri" pitchFamily="34" charset="-120"/>
              </a:rPr>
              <a:t>Cheapest source first: solar (free) → battery → grid</a:t>
            </a:r>
            <a:endParaRPr lang="en-US" sz="1250" dirty="0"/>
          </a:p>
        </p:txBody>
      </p:sp>
      <p:sp>
        <p:nvSpPr>
          <p:cNvPr id="15" name="Shape 11"/>
          <p:cNvSpPr/>
          <p:nvPr/>
        </p:nvSpPr>
        <p:spPr>
          <a:xfrm>
            <a:off x="4297680" y="3977640"/>
            <a:ext cx="3611880" cy="2240280"/>
          </a:xfrm>
          <a:prstGeom prst="roundRect">
            <a:avLst>
              <a:gd name="adj" fmla="val 4898"/>
            </a:avLst>
          </a:prstGeom>
          <a:solidFill>
            <a:srgbClr val="F3F6F9"/>
          </a:solidFill>
          <a:ln w="12700">
            <a:solidFill>
              <a:srgbClr val="F3F6F9"/>
            </a:solidFill>
            <a:prstDash val="solid"/>
          </a:ln>
        </p:spPr>
      </p:sp>
      <p:sp>
        <p:nvSpPr>
          <p:cNvPr id="16" name="Shape 12"/>
          <p:cNvSpPr/>
          <p:nvPr/>
        </p:nvSpPr>
        <p:spPr>
          <a:xfrm>
            <a:off x="4498848" y="4178808"/>
            <a:ext cx="548640" cy="548640"/>
          </a:xfrm>
          <a:prstGeom prst="ellipse">
            <a:avLst/>
          </a:prstGeom>
          <a:solidFill>
            <a:srgbClr val="F2A541"/>
          </a:solidFill>
          <a:ln w="12700">
            <a:solidFill>
              <a:srgbClr val="F2A541"/>
            </a:solidFill>
            <a:prstDash val="solid"/>
          </a:ln>
        </p:spPr>
      </p:sp>
      <p:pic>
        <p:nvPicPr>
          <p:cNvPr id="17" name="Image 1" descr="preencoded.png">    </p:cNvPr>
          <p:cNvPicPr>
            <a:picLocks noChangeAspect="1"/>
          </p:cNvPicPr>
          <p:nvPr/>
        </p:nvPicPr>
        <p:blipFill>
          <a:blip r:embed="rId2"/>
          <a:stretch>
            <a:fillRect/>
          </a:stretch>
        </p:blipFill>
        <p:spPr>
          <a:xfrm>
            <a:off x="4630522" y="4310482"/>
            <a:ext cx="285293" cy="285293"/>
          </a:xfrm>
          <a:prstGeom prst="rect">
            <a:avLst/>
          </a:prstGeom>
        </p:spPr>
      </p:pic>
      <p:sp>
        <p:nvSpPr>
          <p:cNvPr id="18" name="Text 13"/>
          <p:cNvSpPr txBox="1"/>
          <p:nvPr/>
        </p:nvSpPr>
        <p:spPr>
          <a:xfrm>
            <a:off x="5193792" y="4206240"/>
            <a:ext cx="2606040" cy="502920"/>
          </a:xfrm>
          <a:prstGeom prst="rect">
            <a:avLst/>
          </a:prstGeom>
          <a:noFill/>
          <a:ln/>
        </p:spPr>
        <p:txBody>
          <a:bodyPr wrap="square" lIns="0" tIns="0" rIns="0" bIns="0" rtlCol="0" anchor="ctr"/>
          <a:lstStyle/>
          <a:p>
            <a:pPr indent="0" marL="0">
              <a:buNone/>
            </a:pPr>
            <a:r>
              <a:rPr lang="en-US" sz="1450" b="1" dirty="0">
                <a:solidFill>
                  <a:srgbClr val="12263A"/>
                </a:solidFill>
                <a:latin typeface="Cambria" pitchFamily="34" charset="0"/>
                <a:ea typeface="Cambria" pitchFamily="34" charset="-122"/>
                <a:cs typeface="Cambria" pitchFamily="34" charset="-120"/>
              </a:rPr>
              <a:t>Emergency rationing</a:t>
            </a:r>
            <a:endParaRPr lang="en-US" sz="1450" dirty="0"/>
          </a:p>
        </p:txBody>
      </p:sp>
      <p:sp>
        <p:nvSpPr>
          <p:cNvPr id="19" name="Text 14"/>
          <p:cNvSpPr txBox="1"/>
          <p:nvPr/>
        </p:nvSpPr>
        <p:spPr>
          <a:xfrm>
            <a:off x="4526280" y="4892040"/>
            <a:ext cx="3200400" cy="1188720"/>
          </a:xfrm>
          <a:prstGeom prst="rect">
            <a:avLst/>
          </a:prstGeom>
          <a:noFill/>
          <a:ln/>
        </p:spPr>
        <p:txBody>
          <a:bodyPr wrap="square" lIns="0" tIns="0" rIns="0" bIns="0" rtlCol="0" anchor="t"/>
          <a:lstStyle/>
          <a:p>
            <a:pPr indent="0" marL="0">
              <a:buNone/>
            </a:pPr>
            <a:r>
              <a:rPr lang="en-US" sz="1250" dirty="0">
                <a:solidFill>
                  <a:srgbClr val="1B2430"/>
                </a:solidFill>
                <a:latin typeface="Calibri" pitchFamily="34" charset="0"/>
                <a:ea typeface="Calibri" pitchFamily="34" charset="-122"/>
                <a:cs typeface="Calibri" pitchFamily="34" charset="-120"/>
              </a:rPr>
              <a:t>Supply below total critical load → shared pro rata, every shortfall reported</a:t>
            </a:r>
            <a:endParaRPr lang="en-US" sz="1250" dirty="0"/>
          </a:p>
        </p:txBody>
      </p:sp>
      <p:sp>
        <p:nvSpPr>
          <p:cNvPr id="20" name="Shape 15"/>
          <p:cNvSpPr/>
          <p:nvPr/>
        </p:nvSpPr>
        <p:spPr>
          <a:xfrm>
            <a:off x="8046720" y="3977640"/>
            <a:ext cx="3611880" cy="2240280"/>
          </a:xfrm>
          <a:prstGeom prst="roundRect">
            <a:avLst>
              <a:gd name="adj" fmla="val 4898"/>
            </a:avLst>
          </a:prstGeom>
          <a:solidFill>
            <a:srgbClr val="F3F6F9"/>
          </a:solidFill>
          <a:ln w="12700">
            <a:solidFill>
              <a:srgbClr val="F3F6F9"/>
            </a:solidFill>
            <a:prstDash val="solid"/>
          </a:ln>
        </p:spPr>
      </p:sp>
      <p:sp>
        <p:nvSpPr>
          <p:cNvPr id="21" name="Shape 16"/>
          <p:cNvSpPr/>
          <p:nvPr/>
        </p:nvSpPr>
        <p:spPr>
          <a:xfrm>
            <a:off x="8247888" y="4178808"/>
            <a:ext cx="548640" cy="548640"/>
          </a:xfrm>
          <a:prstGeom prst="ellipse">
            <a:avLst/>
          </a:prstGeom>
          <a:solidFill>
            <a:srgbClr val="F2A541"/>
          </a:solidFill>
          <a:ln w="12700">
            <a:solidFill>
              <a:srgbClr val="F2A541"/>
            </a:solidFill>
            <a:prstDash val="solid"/>
          </a:ln>
        </p:spPr>
      </p:sp>
      <p:pic>
        <p:nvPicPr>
          <p:cNvPr id="22" name="Image 2" descr="preencoded.png">    </p:cNvPr>
          <p:cNvPicPr>
            <a:picLocks noChangeAspect="1"/>
          </p:cNvPicPr>
          <p:nvPr/>
        </p:nvPicPr>
        <p:blipFill>
          <a:blip r:embed="rId3"/>
          <a:stretch>
            <a:fillRect/>
          </a:stretch>
        </p:blipFill>
        <p:spPr>
          <a:xfrm>
            <a:off x="8379562" y="4310482"/>
            <a:ext cx="285293" cy="285293"/>
          </a:xfrm>
          <a:prstGeom prst="rect">
            <a:avLst/>
          </a:prstGeom>
        </p:spPr>
      </p:pic>
      <p:sp>
        <p:nvSpPr>
          <p:cNvPr id="23" name="Text 17"/>
          <p:cNvSpPr txBox="1"/>
          <p:nvPr/>
        </p:nvSpPr>
        <p:spPr>
          <a:xfrm>
            <a:off x="8942832" y="4206240"/>
            <a:ext cx="2606040" cy="502920"/>
          </a:xfrm>
          <a:prstGeom prst="rect">
            <a:avLst/>
          </a:prstGeom>
          <a:noFill/>
          <a:ln/>
        </p:spPr>
        <p:txBody>
          <a:bodyPr wrap="square" lIns="0" tIns="0" rIns="0" bIns="0" rtlCol="0" anchor="ctr"/>
          <a:lstStyle/>
          <a:p>
            <a:pPr indent="0" marL="0">
              <a:buNone/>
            </a:pPr>
            <a:r>
              <a:rPr lang="en-US" sz="1450" b="1" dirty="0">
                <a:solidFill>
                  <a:srgbClr val="12263A"/>
                </a:solidFill>
                <a:latin typeface="Cambria" pitchFamily="34" charset="0"/>
                <a:ea typeface="Cambria" pitchFamily="34" charset="-122"/>
                <a:cs typeface="Cambria" pitchFamily="34" charset="-120"/>
              </a:rPr>
              <a:t>Battery pricing</a:t>
            </a:r>
            <a:endParaRPr lang="en-US" sz="1450" dirty="0"/>
          </a:p>
        </p:txBody>
      </p:sp>
      <p:sp>
        <p:nvSpPr>
          <p:cNvPr id="24" name="Text 18"/>
          <p:cNvSpPr txBox="1"/>
          <p:nvPr/>
        </p:nvSpPr>
        <p:spPr>
          <a:xfrm>
            <a:off x="8275320" y="4892040"/>
            <a:ext cx="3200400" cy="1188720"/>
          </a:xfrm>
          <a:prstGeom prst="rect">
            <a:avLst/>
          </a:prstGeom>
          <a:noFill/>
          <a:ln/>
        </p:spPr>
        <p:txBody>
          <a:bodyPr wrap="square" lIns="0" tIns="0" rIns="0" bIns="0" rtlCol="0" anchor="t"/>
          <a:lstStyle/>
          <a:p>
            <a:pPr indent="0" marL="0">
              <a:buNone/>
            </a:pPr>
            <a:r>
              <a:rPr lang="en-US" sz="1250" dirty="0">
                <a:solidFill>
                  <a:srgbClr val="1B2430"/>
                </a:solidFill>
                <a:latin typeface="Calibri" pitchFamily="34" charset="0"/>
                <a:ea typeface="Calibri" pitchFamily="34" charset="-122"/>
                <a:cs typeface="Calibri" pitchFamily="34" charset="-120"/>
              </a:rPr>
              <a:t>Offer = wear cost + cost of stored energy ÷ efficiency (charged off-peak ≈ 12.5/kWh)</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595360" cy="685800"/>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Algorithm 3 — Battery Scheduling by Price</a:t>
            </a:r>
            <a:endParaRPr lang="en-US" sz="3000" dirty="0"/>
          </a:p>
        </p:txBody>
      </p:sp>
      <p:sp>
        <p:nvSpPr>
          <p:cNvPr id="3" name="Shape 1"/>
          <p:cNvSpPr/>
          <p:nvPr/>
        </p:nvSpPr>
        <p:spPr>
          <a:xfrm>
            <a:off x="9372600" y="411480"/>
            <a:ext cx="2286000" cy="457200"/>
          </a:xfrm>
          <a:prstGeom prst="roundRect">
            <a:avLst>
              <a:gd name="adj" fmla="val 50000"/>
            </a:avLst>
          </a:prstGeom>
          <a:solidFill>
            <a:srgbClr val="FDF1DC"/>
          </a:solidFill>
          <a:ln w="12700">
            <a:solidFill>
              <a:srgbClr val="F2A541"/>
            </a:solidFill>
            <a:prstDash val="solid"/>
          </a:ln>
        </p:spPr>
      </p:sp>
      <p:sp>
        <p:nvSpPr>
          <p:cNvPr id="4" name="Text 2"/>
          <p:cNvSpPr txBox="1"/>
          <p:nvPr/>
        </p:nvSpPr>
        <p:spPr>
          <a:xfrm>
            <a:off x="9372600" y="411480"/>
            <a:ext cx="2286000" cy="457200"/>
          </a:xfrm>
          <a:prstGeom prst="rect">
            <a:avLst/>
          </a:prstGeom>
          <a:noFill/>
          <a:ln/>
        </p:spPr>
        <p:txBody>
          <a:bodyPr wrap="square" lIns="0" tIns="0" rIns="0" bIns="0" rtlCol="0" anchor="ctr"/>
          <a:lstStyle/>
          <a:p>
            <a:pPr algn="ctr" indent="0" marL="0">
              <a:buNone/>
            </a:pPr>
            <a:r>
              <a:rPr lang="en-US" sz="1150" b="1" dirty="0">
                <a:solidFill>
                  <a:srgbClr val="12263A"/>
                </a:solidFill>
                <a:latin typeface="Calibri" pitchFamily="34" charset="0"/>
                <a:ea typeface="Calibri" pitchFamily="34" charset="-122"/>
                <a:cs typeface="Calibri" pitchFamily="34" charset="-120"/>
              </a:rPr>
              <a:t>Algorithmic Modeling · 3M</a:t>
            </a:r>
            <a:endParaRPr lang="en-US" sz="1150" dirty="0"/>
          </a:p>
        </p:txBody>
      </p:sp>
      <p:sp>
        <p:nvSpPr>
          <p:cNvPr id="5" name="Text 3"/>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i="1" dirty="0">
                <a:solidFill>
                  <a:srgbClr val="5B6675"/>
                </a:solidFill>
                <a:latin typeface="Calibri" pitchFamily="34" charset="0"/>
                <a:ea typeface="Calibri" pitchFamily="34" charset="-122"/>
                <a:cs typeface="Calibri" pitchFamily="34" charset="-120"/>
              </a:rPr>
              <a:t>Charges when power is cheap; the market uses it only when it beats the grid</a:t>
            </a:r>
            <a:endParaRPr lang="en-US" sz="1400" dirty="0"/>
          </a:p>
        </p:txBody>
      </p:sp>
      <p:graphicFrame>
        <p:nvGraphicFramePr>
          <p:cNvPr id="6" name="Chart 0" descr=""/>
          <p:cNvGraphicFramePr/>
          <p:nvPr/>
        </p:nvGraphicFramePr>
        <p:xfrm>
          <a:off x="548640" y="1417320"/>
          <a:ext cx="7406640" cy="48463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8229600" y="1554480"/>
            <a:ext cx="3429000" cy="457200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Recharges 00:00–06:00 at the 5/kWh off-peak tariff, using only spare grid capacity</a:t>
            </a:r>
            <a:endParaRPr lang="en-US" sz="1300" dirty="0"/>
          </a:p>
          <a:p>
            <a:pPr marL="203200" indent="-2032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Tracks the average cost of the energy it holds; offers at wear cost + that cost</a:t>
            </a:r>
            <a:endParaRPr lang="en-US" sz="1300" dirty="0"/>
          </a:p>
          <a:p>
            <a:pPr marL="203200" indent="-2032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After charging it offers at ≈ 12.5/kWh, so the market saves it for the 18/kWh evening peak — or an outage</a:t>
            </a:r>
            <a:endParaRPr lang="en-US" sz="1300" dirty="0"/>
          </a:p>
          <a:p>
            <a:pPr marL="203200" indent="-2032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Result: it refills every night and discharges when it adds value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595360" cy="685800"/>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Does the Algorithm Matter? Before → After</a:t>
            </a:r>
            <a:endParaRPr lang="en-US" sz="3000" dirty="0"/>
          </a:p>
        </p:txBody>
      </p:sp>
      <p:sp>
        <p:nvSpPr>
          <p:cNvPr id="3" name="Shape 1"/>
          <p:cNvSpPr/>
          <p:nvPr/>
        </p:nvSpPr>
        <p:spPr>
          <a:xfrm>
            <a:off x="9372600" y="411480"/>
            <a:ext cx="2286000" cy="457200"/>
          </a:xfrm>
          <a:prstGeom prst="roundRect">
            <a:avLst>
              <a:gd name="adj" fmla="val 50000"/>
            </a:avLst>
          </a:prstGeom>
          <a:solidFill>
            <a:srgbClr val="FDF1DC"/>
          </a:solidFill>
          <a:ln w="12700">
            <a:solidFill>
              <a:srgbClr val="F2A541"/>
            </a:solidFill>
            <a:prstDash val="solid"/>
          </a:ln>
        </p:spPr>
      </p:sp>
      <p:sp>
        <p:nvSpPr>
          <p:cNvPr id="4" name="Text 2"/>
          <p:cNvSpPr txBox="1"/>
          <p:nvPr/>
        </p:nvSpPr>
        <p:spPr>
          <a:xfrm>
            <a:off x="9372600" y="411480"/>
            <a:ext cx="2286000" cy="457200"/>
          </a:xfrm>
          <a:prstGeom prst="rect">
            <a:avLst/>
          </a:prstGeom>
          <a:noFill/>
          <a:ln/>
        </p:spPr>
        <p:txBody>
          <a:bodyPr wrap="square" lIns="0" tIns="0" rIns="0" bIns="0" rtlCol="0" anchor="ctr"/>
          <a:lstStyle/>
          <a:p>
            <a:pPr algn="ctr" indent="0" marL="0">
              <a:buNone/>
            </a:pPr>
            <a:r>
              <a:rPr lang="en-US" sz="1150" b="1" dirty="0">
                <a:solidFill>
                  <a:srgbClr val="12263A"/>
                </a:solidFill>
                <a:latin typeface="Calibri" pitchFamily="34" charset="0"/>
                <a:ea typeface="Calibri" pitchFamily="34" charset="-122"/>
                <a:cs typeface="Calibri" pitchFamily="34" charset="-120"/>
              </a:rPr>
              <a:t>Algorithmic Modeling · 3M</a:t>
            </a:r>
            <a:endParaRPr lang="en-US" sz="1150" dirty="0"/>
          </a:p>
        </p:txBody>
      </p:sp>
      <p:sp>
        <p:nvSpPr>
          <p:cNvPr id="5" name="Text 3"/>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i="1" dirty="0">
                <a:solidFill>
                  <a:srgbClr val="5B6675"/>
                </a:solidFill>
                <a:latin typeface="Calibri" pitchFamily="34" charset="0"/>
                <a:ea typeface="Calibri" pitchFamily="34" charset="-122"/>
                <a:cs typeface="Calibri" pitchFamily="34" charset="-120"/>
              </a:rPr>
              <a:t>Same campus, same demand, same events — only the decision-making changes</a:t>
            </a:r>
            <a:endParaRPr lang="en-US" sz="1400" dirty="0"/>
          </a:p>
        </p:txBody>
      </p:sp>
      <p:graphicFrame>
        <p:nvGraphicFramePr>
          <p:cNvPr id="6" name="Chart 0" descr=""/>
          <p:cNvGraphicFramePr/>
          <p:nvPr/>
        </p:nvGraphicFramePr>
        <p:xfrm>
          <a:off x="548640" y="1417320"/>
          <a:ext cx="7589520" cy="48463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8412480" y="1600200"/>
            <a:ext cx="3246120" cy="685800"/>
          </a:xfrm>
          <a:prstGeom prst="rect">
            <a:avLst/>
          </a:prstGeom>
          <a:noFill/>
          <a:ln/>
        </p:spPr>
        <p:txBody>
          <a:bodyPr wrap="square" lIns="0" tIns="0" rIns="0" bIns="0" rtlCol="0" anchor="t"/>
          <a:lstStyle/>
          <a:p>
            <a:pPr indent="0" marL="0">
              <a:buNone/>
            </a:pPr>
            <a:r>
              <a:rPr lang="en-US" sz="3800" b="1" dirty="0">
                <a:solidFill>
                  <a:srgbClr val="1BAF7A"/>
                </a:solidFill>
                <a:latin typeface="Cambria" pitchFamily="34" charset="0"/>
                <a:ea typeface="Cambria" pitchFamily="34" charset="-122"/>
                <a:cs typeface="Cambria" pitchFamily="34" charset="-120"/>
              </a:rPr>
              <a:t>3.8×</a:t>
            </a:r>
            <a:endParaRPr lang="en-US" sz="3800" dirty="0"/>
          </a:p>
        </p:txBody>
      </p:sp>
      <p:sp>
        <p:nvSpPr>
          <p:cNvPr id="8" name="Text 5"/>
          <p:cNvSpPr txBox="1"/>
          <p:nvPr/>
        </p:nvSpPr>
        <p:spPr>
          <a:xfrm>
            <a:off x="8412480" y="2313432"/>
            <a:ext cx="3246120" cy="548640"/>
          </a:xfrm>
          <a:prstGeom prst="rect">
            <a:avLst/>
          </a:prstGeom>
          <a:noFill/>
          <a:ln/>
        </p:spPr>
        <p:txBody>
          <a:bodyPr wrap="square" lIns="0" tIns="0" rIns="0" bIns="0" rtlCol="0" anchor="t"/>
          <a:lstStyle/>
          <a:p>
            <a:pPr indent="0" marL="0">
              <a:buNone/>
            </a:pPr>
            <a:r>
              <a:rPr lang="en-US" sz="1250" dirty="0">
                <a:solidFill>
                  <a:srgbClr val="5B6675"/>
                </a:solidFill>
                <a:latin typeface="Calibri" pitchFamily="34" charset="0"/>
                <a:ea typeface="Calibri" pitchFamily="34" charset="-122"/>
                <a:cs typeface="Calibri" pitchFamily="34" charset="-120"/>
              </a:rPr>
              <a:t>less critical load unserved in a daytime grid outage (113 → 30 kWh)</a:t>
            </a:r>
            <a:endParaRPr lang="en-US" sz="1250" dirty="0"/>
          </a:p>
        </p:txBody>
      </p:sp>
      <p:sp>
        <p:nvSpPr>
          <p:cNvPr id="9" name="Text 6"/>
          <p:cNvSpPr txBox="1"/>
          <p:nvPr/>
        </p:nvSpPr>
        <p:spPr>
          <a:xfrm>
            <a:off x="8412480" y="3063240"/>
            <a:ext cx="3246120" cy="685800"/>
          </a:xfrm>
          <a:prstGeom prst="rect">
            <a:avLst/>
          </a:prstGeom>
          <a:noFill/>
          <a:ln/>
        </p:spPr>
        <p:txBody>
          <a:bodyPr wrap="square" lIns="0" tIns="0" rIns="0" bIns="0" rtlCol="0" anchor="t"/>
          <a:lstStyle/>
          <a:p>
            <a:pPr indent="0" marL="0">
              <a:buNone/>
            </a:pPr>
            <a:r>
              <a:rPr lang="en-US" sz="3800" b="1" dirty="0">
                <a:solidFill>
                  <a:srgbClr val="1BAF7A"/>
                </a:solidFill>
                <a:latin typeface="Cambria" pitchFamily="34" charset="0"/>
                <a:ea typeface="Cambria" pitchFamily="34" charset="-122"/>
                <a:cs typeface="Cambria" pitchFamily="34" charset="-120"/>
              </a:rPr>
              <a:t>8×</a:t>
            </a:r>
            <a:endParaRPr lang="en-US" sz="3800" dirty="0"/>
          </a:p>
        </p:txBody>
      </p:sp>
      <p:sp>
        <p:nvSpPr>
          <p:cNvPr id="10" name="Text 7"/>
          <p:cNvSpPr txBox="1"/>
          <p:nvPr/>
        </p:nvSpPr>
        <p:spPr>
          <a:xfrm>
            <a:off x="8412480" y="3776472"/>
            <a:ext cx="3246120" cy="548640"/>
          </a:xfrm>
          <a:prstGeom prst="rect">
            <a:avLst/>
          </a:prstGeom>
          <a:noFill/>
          <a:ln/>
        </p:spPr>
        <p:txBody>
          <a:bodyPr wrap="square" lIns="0" tIns="0" rIns="0" bIns="0" rtlCol="0" anchor="t"/>
          <a:lstStyle/>
          <a:p>
            <a:pPr indent="0" marL="0">
              <a:buNone/>
            </a:pPr>
            <a:r>
              <a:rPr lang="en-US" sz="1250" dirty="0">
                <a:solidFill>
                  <a:srgbClr val="5B6675"/>
                </a:solidFill>
                <a:latin typeface="Calibri" pitchFamily="34" charset="0"/>
                <a:ea typeface="Calibri" pitchFamily="34" charset="-122"/>
                <a:cs typeface="Calibri" pitchFamily="34" charset="-120"/>
              </a:rPr>
              <a:t>less under severe scarcity (387 → 47 kWh)</a:t>
            </a:r>
            <a:endParaRPr lang="en-US" sz="1250" dirty="0"/>
          </a:p>
        </p:txBody>
      </p:sp>
      <p:sp>
        <p:nvSpPr>
          <p:cNvPr id="11" name="Text 8"/>
          <p:cNvSpPr txBox="1"/>
          <p:nvPr/>
        </p:nvSpPr>
        <p:spPr>
          <a:xfrm>
            <a:off x="8412480" y="4526280"/>
            <a:ext cx="3246120" cy="1280160"/>
          </a:xfrm>
          <a:prstGeom prst="rect">
            <a:avLst/>
          </a:prstGeom>
          <a:noFill/>
          <a:ln/>
        </p:spPr>
        <p:txBody>
          <a:bodyPr wrap="square" lIns="0" tIns="0" rIns="0" bIns="0" rtlCol="0" anchor="t"/>
          <a:lstStyle/>
          <a:p>
            <a:pPr indent="0" marL="0">
              <a:buNone/>
            </a:pPr>
            <a:r>
              <a:rPr lang="en-US" sz="1300" i="1" dirty="0">
                <a:solidFill>
                  <a:srgbClr val="5B6675"/>
                </a:solidFill>
                <a:latin typeface="Calibri" pitchFamily="34" charset="0"/>
                <a:ea typeface="Calibri" pitchFamily="34" charset="-122"/>
                <a:cs typeface="Calibri" pitchFamily="34" charset="-120"/>
              </a:rPr>
              <a:t>Trade-off: protecting critical load costs some equality — fairness 0.989 → 0.918 under scarcity.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595360" cy="685800"/>
          </a:xfrm>
          <a:prstGeom prst="rect">
            <a:avLst/>
          </a:prstGeom>
          <a:noFill/>
          <a:ln/>
        </p:spPr>
        <p:txBody>
          <a:bodyPr wrap="square" lIns="0" tIns="0" rIns="0" bIns="0" rtlCol="0" anchor="ctr"/>
          <a:lstStyle/>
          <a:p>
            <a:pPr indent="0" marL="0">
              <a:buNone/>
            </a:pPr>
            <a:r>
              <a:rPr lang="en-US" sz="3000" b="1" dirty="0">
                <a:solidFill>
                  <a:srgbClr val="12263A"/>
                </a:solidFill>
                <a:latin typeface="Cambria" pitchFamily="34" charset="0"/>
                <a:ea typeface="Cambria" pitchFamily="34" charset="-122"/>
                <a:cs typeface="Cambria" pitchFamily="34" charset="-120"/>
              </a:rPr>
              <a:t>Assumptions &amp; Anticipated Questions</a:t>
            </a:r>
            <a:endParaRPr lang="en-US" sz="3000" dirty="0"/>
          </a:p>
        </p:txBody>
      </p:sp>
      <p:sp>
        <p:nvSpPr>
          <p:cNvPr id="3" name="Shape 1"/>
          <p:cNvSpPr/>
          <p:nvPr/>
        </p:nvSpPr>
        <p:spPr>
          <a:xfrm>
            <a:off x="9372600" y="411480"/>
            <a:ext cx="2286000" cy="457200"/>
          </a:xfrm>
          <a:prstGeom prst="roundRect">
            <a:avLst>
              <a:gd name="adj" fmla="val 50000"/>
            </a:avLst>
          </a:prstGeom>
          <a:solidFill>
            <a:srgbClr val="FDF1DC"/>
          </a:solidFill>
          <a:ln w="12700">
            <a:solidFill>
              <a:srgbClr val="F2A541"/>
            </a:solidFill>
            <a:prstDash val="solid"/>
          </a:ln>
        </p:spPr>
      </p:sp>
      <p:sp>
        <p:nvSpPr>
          <p:cNvPr id="4" name="Text 2"/>
          <p:cNvSpPr txBox="1"/>
          <p:nvPr/>
        </p:nvSpPr>
        <p:spPr>
          <a:xfrm>
            <a:off x="9372600" y="411480"/>
            <a:ext cx="2286000" cy="457200"/>
          </a:xfrm>
          <a:prstGeom prst="rect">
            <a:avLst/>
          </a:prstGeom>
          <a:noFill/>
          <a:ln/>
        </p:spPr>
        <p:txBody>
          <a:bodyPr wrap="square" lIns="0" tIns="0" rIns="0" bIns="0" rtlCol="0" anchor="ctr"/>
          <a:lstStyle/>
          <a:p>
            <a:pPr algn="ctr" indent="0" marL="0">
              <a:buNone/>
            </a:pPr>
            <a:r>
              <a:rPr lang="en-US" sz="1150" b="1" dirty="0">
                <a:solidFill>
                  <a:srgbClr val="12263A"/>
                </a:solidFill>
                <a:latin typeface="Calibri" pitchFamily="34" charset="0"/>
                <a:ea typeface="Calibri" pitchFamily="34" charset="-122"/>
                <a:cs typeface="Calibri" pitchFamily="34" charset="-120"/>
              </a:rPr>
              <a:t>Q&amp;A · 1M</a:t>
            </a:r>
            <a:endParaRPr lang="en-US" sz="1150" dirty="0"/>
          </a:p>
        </p:txBody>
      </p:sp>
      <p:sp>
        <p:nvSpPr>
          <p:cNvPr id="5" name="Shape 3"/>
          <p:cNvSpPr/>
          <p:nvPr/>
        </p:nvSpPr>
        <p:spPr>
          <a:xfrm>
            <a:off x="548640" y="1371600"/>
            <a:ext cx="4937760" cy="4846320"/>
          </a:xfrm>
          <a:prstGeom prst="roundRect">
            <a:avLst>
              <a:gd name="adj" fmla="val 2264"/>
            </a:avLst>
          </a:prstGeom>
          <a:solidFill>
            <a:srgbClr val="F3F6F9"/>
          </a:solidFill>
          <a:ln w="12700">
            <a:solidFill>
              <a:srgbClr val="F3F6F9"/>
            </a:solidFill>
            <a:prstDash val="solid"/>
          </a:ln>
        </p:spPr>
      </p:sp>
      <p:sp>
        <p:nvSpPr>
          <p:cNvPr id="6" name="Text 4"/>
          <p:cNvSpPr txBox="1"/>
          <p:nvPr/>
        </p:nvSpPr>
        <p:spPr>
          <a:xfrm>
            <a:off x="777240" y="1508760"/>
            <a:ext cx="4572000" cy="41148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Modelling assumptions</a:t>
            </a:r>
            <a:endParaRPr lang="en-US" sz="1600" dirty="0"/>
          </a:p>
        </p:txBody>
      </p:sp>
      <p:sp>
        <p:nvSpPr>
          <p:cNvPr id="7" name="Text 5"/>
          <p:cNvSpPr txBox="1"/>
          <p:nvPr/>
        </p:nvSpPr>
        <p:spPr>
          <a:xfrm>
            <a:off x="777240" y="2057400"/>
            <a:ext cx="4526280" cy="4114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B2430"/>
                </a:solidFill>
                <a:latin typeface="Calibri" pitchFamily="34" charset="0"/>
                <a:ea typeface="Calibri" pitchFamily="34" charset="-122"/>
                <a:cs typeface="Calibri" pitchFamily="34" charset="-120"/>
              </a:rPr>
              <a:t>Synthetic demand: realistic occupancy timetables with noise, not metered data</a:t>
            </a:r>
            <a:endParaRPr lang="en-US" sz="1500" dirty="0"/>
          </a:p>
          <a:p>
            <a:pPr marL="203200" indent="-203200">
              <a:spcAft>
                <a:spcPts val="600"/>
              </a:spcAft>
              <a:buSzPct val="100000"/>
              <a:buChar char="•"/>
            </a:pPr>
            <a:r>
              <a:rPr lang="en-US" sz="1500" dirty="0">
                <a:solidFill>
                  <a:srgbClr val="1B2430"/>
                </a:solidFill>
                <a:latin typeface="Calibri" pitchFamily="34" charset="0"/>
                <a:ea typeface="Calibri" pitchFamily="34" charset="-122"/>
                <a:cs typeface="Calibri" pitchFamily="34" charset="-120"/>
              </a:rPr>
              <a:t>15-minute slots; power is an average over the slot</a:t>
            </a:r>
            <a:endParaRPr lang="en-US" sz="1500" dirty="0"/>
          </a:p>
          <a:p>
            <a:pPr marL="203200" indent="-203200">
              <a:spcAft>
                <a:spcPts val="600"/>
              </a:spcAft>
              <a:buSzPct val="100000"/>
              <a:buChar char="•"/>
            </a:pPr>
            <a:r>
              <a:rPr lang="en-US" sz="1500" dirty="0">
                <a:solidFill>
                  <a:srgbClr val="1B2430"/>
                </a:solidFill>
                <a:latin typeface="Calibri" pitchFamily="34" charset="0"/>
                <a:ea typeface="Calibri" pitchFamily="34" charset="-122"/>
                <a:cs typeface="Calibri" pitchFamily="34" charset="-120"/>
              </a:rPr>
              <a:t>Buildings can switch their own flexible loads</a:t>
            </a:r>
            <a:endParaRPr lang="en-US" sz="1500" dirty="0"/>
          </a:p>
          <a:p>
            <a:pPr marL="203200" indent="-203200">
              <a:spcAft>
                <a:spcPts val="600"/>
              </a:spcAft>
              <a:buSzPct val="100000"/>
              <a:buChar char="•"/>
            </a:pPr>
            <a:r>
              <a:rPr lang="en-US" sz="1500" dirty="0">
                <a:solidFill>
                  <a:srgbClr val="1B2430"/>
                </a:solidFill>
                <a:latin typeface="Calibri" pitchFamily="34" charset="0"/>
                <a:ea typeface="Calibri" pitchFamily="34" charset="-122"/>
                <a:cs typeface="Calibri" pitchFamily="34" charset="-120"/>
              </a:rPr>
              <a:t>Postponed energy must be served within 2 hours</a:t>
            </a:r>
            <a:endParaRPr lang="en-US" sz="1500" dirty="0"/>
          </a:p>
          <a:p>
            <a:pPr marL="203200" indent="-203200">
              <a:spcAft>
                <a:spcPts val="600"/>
              </a:spcAft>
              <a:buSzPct val="100000"/>
              <a:buChar char="•"/>
            </a:pPr>
            <a:r>
              <a:rPr lang="en-US" sz="1500" dirty="0">
                <a:solidFill>
                  <a:srgbClr val="1B2430"/>
                </a:solidFill>
                <a:latin typeface="Calibri" pitchFamily="34" charset="0"/>
                <a:ea typeface="Calibri" pitchFamily="34" charset="-122"/>
                <a:cs typeface="Calibri" pitchFamily="34" charset="-120"/>
              </a:rPr>
              <a:t>Bids are honest forecasts (the market is not made cheat-proof)</a:t>
            </a:r>
            <a:endParaRPr lang="en-US" sz="1500" dirty="0"/>
          </a:p>
        </p:txBody>
      </p:sp>
      <p:sp>
        <p:nvSpPr>
          <p:cNvPr id="8" name="Shape 6"/>
          <p:cNvSpPr/>
          <p:nvPr/>
        </p:nvSpPr>
        <p:spPr>
          <a:xfrm>
            <a:off x="5760720" y="1371600"/>
            <a:ext cx="5897880" cy="1097280"/>
          </a:xfrm>
          <a:prstGeom prst="roundRect">
            <a:avLst>
              <a:gd name="adj" fmla="val 10000"/>
            </a:avLst>
          </a:prstGeom>
          <a:solidFill>
            <a:srgbClr val="FDF1DC"/>
          </a:solidFill>
          <a:ln w="12700">
            <a:solidFill>
              <a:srgbClr val="FDF1DC"/>
            </a:solidFill>
            <a:prstDash val="solid"/>
          </a:ln>
        </p:spPr>
      </p:sp>
      <p:sp>
        <p:nvSpPr>
          <p:cNvPr id="9" name="Text 7"/>
          <p:cNvSpPr txBox="1"/>
          <p:nvPr/>
        </p:nvSpPr>
        <p:spPr>
          <a:xfrm>
            <a:off x="5943600" y="1499616"/>
            <a:ext cx="5577840" cy="365760"/>
          </a:xfrm>
          <a:prstGeom prst="rect">
            <a:avLst/>
          </a:prstGeom>
          <a:noFill/>
          <a:ln/>
        </p:spPr>
        <p:txBody>
          <a:bodyPr wrap="square" lIns="0" tIns="0" rIns="0" bIns="0" rtlCol="0" anchor="t"/>
          <a:lstStyle/>
          <a:p>
            <a:pPr indent="0" marL="0">
              <a:buNone/>
            </a:pPr>
            <a:r>
              <a:rPr lang="en-US" sz="1350" b="1" dirty="0">
                <a:solidFill>
                  <a:srgbClr val="12263A"/>
                </a:solidFill>
                <a:latin typeface="Calibri" pitchFamily="34" charset="0"/>
                <a:ea typeface="Calibri" pitchFamily="34" charset="-122"/>
                <a:cs typeface="Calibri" pitchFamily="34" charset="-120"/>
              </a:rPr>
              <a:t>Is this machine learning?</a:t>
            </a:r>
            <a:endParaRPr lang="en-US" sz="1350" dirty="0"/>
          </a:p>
        </p:txBody>
      </p:sp>
      <p:sp>
        <p:nvSpPr>
          <p:cNvPr id="10" name="Text 8"/>
          <p:cNvSpPr txBox="1"/>
          <p:nvPr/>
        </p:nvSpPr>
        <p:spPr>
          <a:xfrm>
            <a:off x="5943600" y="1810512"/>
            <a:ext cx="5577840" cy="640080"/>
          </a:xfrm>
          <a:prstGeom prst="rect">
            <a:avLst/>
          </a:prstGeom>
          <a:noFill/>
          <a:ln/>
        </p:spPr>
        <p:txBody>
          <a:bodyPr wrap="square" lIns="0" tIns="0" rIns="0" bIns="0" rtlCol="0" anchor="t"/>
          <a:lstStyle/>
          <a:p>
            <a:pPr indent="0" marL="0">
              <a:buNone/>
            </a:pPr>
            <a:r>
              <a:rPr lang="en-US" sz="1200" dirty="0">
                <a:solidFill>
                  <a:srgbClr val="1B2430"/>
                </a:solidFill>
                <a:latin typeface="Calibri" pitchFamily="34" charset="0"/>
                <a:ea typeface="Calibri" pitchFamily="34" charset="-122"/>
                <a:cs typeface="Calibri" pitchFamily="34" charset="-120"/>
              </a:rPr>
              <a:t>The forecaster is: a supervised model trained per building, tested on held-out data. The market is exact optimisation.</a:t>
            </a:r>
            <a:endParaRPr lang="en-US" sz="1200" dirty="0"/>
          </a:p>
        </p:txBody>
      </p:sp>
      <p:sp>
        <p:nvSpPr>
          <p:cNvPr id="11" name="Shape 9"/>
          <p:cNvSpPr/>
          <p:nvPr/>
        </p:nvSpPr>
        <p:spPr>
          <a:xfrm>
            <a:off x="5760720" y="2587752"/>
            <a:ext cx="5897880" cy="1097280"/>
          </a:xfrm>
          <a:prstGeom prst="roundRect">
            <a:avLst>
              <a:gd name="adj" fmla="val 10000"/>
            </a:avLst>
          </a:prstGeom>
          <a:solidFill>
            <a:srgbClr val="FDF1DC"/>
          </a:solidFill>
          <a:ln w="12700">
            <a:solidFill>
              <a:srgbClr val="FDF1DC"/>
            </a:solidFill>
            <a:prstDash val="solid"/>
          </a:ln>
        </p:spPr>
      </p:sp>
      <p:sp>
        <p:nvSpPr>
          <p:cNvPr id="12" name="Text 10"/>
          <p:cNvSpPr txBox="1"/>
          <p:nvPr/>
        </p:nvSpPr>
        <p:spPr>
          <a:xfrm>
            <a:off x="5943600" y="2715768"/>
            <a:ext cx="5577840" cy="365760"/>
          </a:xfrm>
          <a:prstGeom prst="rect">
            <a:avLst/>
          </a:prstGeom>
          <a:noFill/>
          <a:ln/>
        </p:spPr>
        <p:txBody>
          <a:bodyPr wrap="square" lIns="0" tIns="0" rIns="0" bIns="0" rtlCol="0" anchor="t"/>
          <a:lstStyle/>
          <a:p>
            <a:pPr indent="0" marL="0">
              <a:buNone/>
            </a:pPr>
            <a:r>
              <a:rPr lang="en-US" sz="1350" b="1" dirty="0">
                <a:solidFill>
                  <a:srgbClr val="12263A"/>
                </a:solidFill>
                <a:latin typeface="Calibri" pitchFamily="34" charset="0"/>
                <a:ea typeface="Calibri" pitchFamily="34" charset="-122"/>
                <a:cs typeface="Calibri" pitchFamily="34" charset="-120"/>
              </a:rPr>
              <a:t>Where is the search?</a:t>
            </a:r>
            <a:endParaRPr lang="en-US" sz="1350" dirty="0"/>
          </a:p>
        </p:txBody>
      </p:sp>
      <p:sp>
        <p:nvSpPr>
          <p:cNvPr id="13" name="Text 11"/>
          <p:cNvSpPr txBox="1"/>
          <p:nvPr/>
        </p:nvSpPr>
        <p:spPr>
          <a:xfrm>
            <a:off x="5943600" y="3026664"/>
            <a:ext cx="5577840" cy="640080"/>
          </a:xfrm>
          <a:prstGeom prst="rect">
            <a:avLst/>
          </a:prstGeom>
          <a:noFill/>
          <a:ln/>
        </p:spPr>
        <p:txBody>
          <a:bodyPr wrap="square" lIns="0" tIns="0" rIns="0" bIns="0" rtlCol="0" anchor="t"/>
          <a:lstStyle/>
          <a:p>
            <a:pPr indent="0" marL="0">
              <a:buNone/>
            </a:pPr>
            <a:r>
              <a:rPr lang="en-US" sz="1200" dirty="0">
                <a:solidFill>
                  <a:srgbClr val="1B2430"/>
                </a:solidFill>
                <a:latin typeface="Calibri" pitchFamily="34" charset="0"/>
                <a:ea typeface="Calibri" pitchFamily="34" charset="-122"/>
                <a:cs typeface="Calibri" pitchFamily="34" charset="-120"/>
              </a:rPr>
              <a:t>Market clearing — a welfare-maximising knapsack, exact in O(N log N) — and merit-order dispatch.</a:t>
            </a:r>
            <a:endParaRPr lang="en-US" sz="1200" dirty="0"/>
          </a:p>
        </p:txBody>
      </p:sp>
      <p:sp>
        <p:nvSpPr>
          <p:cNvPr id="14" name="Shape 12"/>
          <p:cNvSpPr/>
          <p:nvPr/>
        </p:nvSpPr>
        <p:spPr>
          <a:xfrm>
            <a:off x="5760720" y="3803904"/>
            <a:ext cx="5897880" cy="1097280"/>
          </a:xfrm>
          <a:prstGeom prst="roundRect">
            <a:avLst>
              <a:gd name="adj" fmla="val 10000"/>
            </a:avLst>
          </a:prstGeom>
          <a:solidFill>
            <a:srgbClr val="FDF1DC"/>
          </a:solidFill>
          <a:ln w="12700">
            <a:solidFill>
              <a:srgbClr val="FDF1DC"/>
            </a:solidFill>
            <a:prstDash val="solid"/>
          </a:ln>
        </p:spPr>
      </p:sp>
      <p:sp>
        <p:nvSpPr>
          <p:cNvPr id="15" name="Text 13"/>
          <p:cNvSpPr txBox="1"/>
          <p:nvPr/>
        </p:nvSpPr>
        <p:spPr>
          <a:xfrm>
            <a:off x="5943600" y="3931920"/>
            <a:ext cx="5577840" cy="365760"/>
          </a:xfrm>
          <a:prstGeom prst="rect">
            <a:avLst/>
          </a:prstGeom>
          <a:noFill/>
          <a:ln/>
        </p:spPr>
        <p:txBody>
          <a:bodyPr wrap="square" lIns="0" tIns="0" rIns="0" bIns="0" rtlCol="0" anchor="t"/>
          <a:lstStyle/>
          <a:p>
            <a:pPr indent="0" marL="0">
              <a:buNone/>
            </a:pPr>
            <a:r>
              <a:rPr lang="en-US" sz="1350" b="1" dirty="0">
                <a:solidFill>
                  <a:srgbClr val="12263A"/>
                </a:solidFill>
                <a:latin typeface="Calibri" pitchFamily="34" charset="0"/>
                <a:ea typeface="Calibri" pitchFamily="34" charset="-122"/>
                <a:cs typeface="Calibri" pitchFamily="34" charset="-120"/>
              </a:rPr>
              <a:t>What guarantees critical load?</a:t>
            </a:r>
            <a:endParaRPr lang="en-US" sz="1350" dirty="0"/>
          </a:p>
        </p:txBody>
      </p:sp>
      <p:sp>
        <p:nvSpPr>
          <p:cNvPr id="16" name="Text 14"/>
          <p:cNvSpPr txBox="1"/>
          <p:nvPr/>
        </p:nvSpPr>
        <p:spPr>
          <a:xfrm>
            <a:off x="5943600" y="4242816"/>
            <a:ext cx="5577840" cy="640080"/>
          </a:xfrm>
          <a:prstGeom prst="rect">
            <a:avLst/>
          </a:prstGeom>
          <a:noFill/>
          <a:ln/>
        </p:spPr>
        <p:txBody>
          <a:bodyPr wrap="square" lIns="0" tIns="0" rIns="0" bIns="0" rtlCol="0" anchor="t"/>
          <a:lstStyle/>
          <a:p>
            <a:pPr indent="0" marL="0">
              <a:buNone/>
            </a:pPr>
            <a:r>
              <a:rPr lang="en-US" sz="1200" dirty="0">
                <a:solidFill>
                  <a:srgbClr val="1B2430"/>
                </a:solidFill>
                <a:latin typeface="Calibri" pitchFamily="34" charset="0"/>
                <a:ea typeface="Calibri" pitchFamily="34" charset="-122"/>
                <a:cs typeface="Calibri" pitchFamily="34" charset="-120"/>
              </a:rPr>
              <a:t>The critical tier serves it fully whenever supply allows; below that it is shared and every shortfall is reported.</a:t>
            </a:r>
            <a:endParaRPr lang="en-US" sz="1200" dirty="0"/>
          </a:p>
        </p:txBody>
      </p:sp>
      <p:sp>
        <p:nvSpPr>
          <p:cNvPr id="17" name="Shape 15"/>
          <p:cNvSpPr/>
          <p:nvPr/>
        </p:nvSpPr>
        <p:spPr>
          <a:xfrm>
            <a:off x="5760720" y="5020056"/>
            <a:ext cx="5897880" cy="1097280"/>
          </a:xfrm>
          <a:prstGeom prst="roundRect">
            <a:avLst>
              <a:gd name="adj" fmla="val 10000"/>
            </a:avLst>
          </a:prstGeom>
          <a:solidFill>
            <a:srgbClr val="FDF1DC"/>
          </a:solidFill>
          <a:ln w="12700">
            <a:solidFill>
              <a:srgbClr val="FDF1DC"/>
            </a:solidFill>
            <a:prstDash val="solid"/>
          </a:ln>
        </p:spPr>
      </p:sp>
      <p:sp>
        <p:nvSpPr>
          <p:cNvPr id="18" name="Text 16"/>
          <p:cNvSpPr txBox="1"/>
          <p:nvPr/>
        </p:nvSpPr>
        <p:spPr>
          <a:xfrm>
            <a:off x="5943600" y="5148072"/>
            <a:ext cx="5577840" cy="365760"/>
          </a:xfrm>
          <a:prstGeom prst="rect">
            <a:avLst/>
          </a:prstGeom>
          <a:noFill/>
          <a:ln/>
        </p:spPr>
        <p:txBody>
          <a:bodyPr wrap="square" lIns="0" tIns="0" rIns="0" bIns="0" rtlCol="0" anchor="t"/>
          <a:lstStyle/>
          <a:p>
            <a:pPr indent="0" marL="0">
              <a:buNone/>
            </a:pPr>
            <a:r>
              <a:rPr lang="en-US" sz="1350" b="1" dirty="0">
                <a:solidFill>
                  <a:srgbClr val="12263A"/>
                </a:solidFill>
                <a:latin typeface="Calibri" pitchFamily="34" charset="0"/>
                <a:ea typeface="Calibri" pitchFamily="34" charset="-122"/>
                <a:cs typeface="Calibri" pitchFamily="34" charset="-120"/>
              </a:rPr>
              <a:t>What if a forecast is wrong?</a:t>
            </a:r>
            <a:endParaRPr lang="en-US" sz="1350" dirty="0"/>
          </a:p>
        </p:txBody>
      </p:sp>
      <p:sp>
        <p:nvSpPr>
          <p:cNvPr id="19" name="Text 17"/>
          <p:cNvSpPr txBox="1"/>
          <p:nvPr/>
        </p:nvSpPr>
        <p:spPr>
          <a:xfrm>
            <a:off x="5943600" y="5458968"/>
            <a:ext cx="5577840" cy="640080"/>
          </a:xfrm>
          <a:prstGeom prst="rect">
            <a:avLst/>
          </a:prstGeom>
          <a:noFill/>
          <a:ln/>
        </p:spPr>
        <p:txBody>
          <a:bodyPr wrap="square" lIns="0" tIns="0" rIns="0" bIns="0" rtlCol="0" anchor="t"/>
          <a:lstStyle/>
          <a:p>
            <a:pPr indent="0" marL="0">
              <a:buNone/>
            </a:pPr>
            <a:r>
              <a:rPr lang="en-US" sz="1200" dirty="0">
                <a:solidFill>
                  <a:srgbClr val="1B2430"/>
                </a:solidFill>
                <a:latin typeface="Calibri" pitchFamily="34" charset="0"/>
                <a:ea typeface="Calibri" pitchFamily="34" charset="-122"/>
                <a:cs typeface="Calibri" pitchFamily="34" charset="-120"/>
              </a:rPr>
              <a:t>Settlement uses real demand: under-forecasts show as shortfall or deferral, over-forecasts as unused allocation.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63A"/>
        </a:solidFill>
      </p:bgPr>
    </p:bg>
    <p:spTree>
      <p:nvGrpSpPr>
        <p:cNvPr id="1" name=""/>
        <p:cNvGrpSpPr/>
        <p:nvPr/>
      </p:nvGrpSpPr>
      <p:grpSpPr>
        <a:xfrm>
          <a:off x="0" y="0"/>
          <a:ext cx="0" cy="0"/>
          <a:chOff x="0" y="0"/>
          <a:chExt cx="0" cy="0"/>
        </a:xfrm>
      </p:grpSpPr>
      <p:sp>
        <p:nvSpPr>
          <p:cNvPr id="2" name="Text 0"/>
          <p:cNvSpPr txBox="1"/>
          <p:nvPr/>
        </p:nvSpPr>
        <p:spPr>
          <a:xfrm>
            <a:off x="731520" y="1463040"/>
            <a:ext cx="10058400" cy="91440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731520" y="2423160"/>
            <a:ext cx="10058400" cy="640080"/>
          </a:xfrm>
          <a:prstGeom prst="rect">
            <a:avLst/>
          </a:prstGeom>
          <a:noFill/>
          <a:ln/>
        </p:spPr>
        <p:txBody>
          <a:bodyPr wrap="square" lIns="0" tIns="0" rIns="0" bIns="0" rtlCol="0" anchor="t"/>
          <a:lstStyle/>
          <a:p>
            <a:pPr indent="0" marL="0">
              <a:buNone/>
            </a:pPr>
            <a:r>
              <a:rPr lang="en-US" sz="2600" dirty="0">
                <a:solidFill>
                  <a:srgbClr val="F2A541"/>
                </a:solidFill>
                <a:latin typeface="Calibri" pitchFamily="34" charset="0"/>
                <a:ea typeface="Calibri" pitchFamily="34" charset="-122"/>
                <a:cs typeface="Calibri" pitchFamily="34" charset="-120"/>
              </a:rPr>
              <a:t>Questions?</a:t>
            </a:r>
            <a:endParaRPr lang="en-US" sz="2600" dirty="0"/>
          </a:p>
        </p:txBody>
      </p:sp>
      <p:sp>
        <p:nvSpPr>
          <p:cNvPr id="4" name="Text 2"/>
          <p:cNvSpPr txBox="1"/>
          <p:nvPr/>
        </p:nvSpPr>
        <p:spPr>
          <a:xfrm>
            <a:off x="731520" y="3474720"/>
            <a:ext cx="10515600" cy="201168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DCE6F2"/>
                </a:solidFill>
                <a:latin typeface="Calibri" pitchFamily="34" charset="0"/>
                <a:ea typeface="Calibri" pitchFamily="34" charset="-122"/>
                <a:cs typeface="Calibri" pitchFamily="34" charset="-120"/>
              </a:rPr>
              <a:t>PEAS for 5 agent types, in a partially observable, stochastic, sequential, multi-agent environment</a:t>
            </a:r>
            <a:endParaRPr lang="en-US" sz="1600" dirty="0"/>
          </a:p>
          <a:p>
            <a:pPr marL="203200" indent="-203200">
              <a:spcAft>
                <a:spcPts val="600"/>
              </a:spcAft>
              <a:buSzPct val="100000"/>
              <a:buChar char="•"/>
            </a:pPr>
            <a:r>
              <a:rPr lang="en-US" sz="1600" dirty="0">
                <a:solidFill>
                  <a:srgbClr val="DCE6F2"/>
                </a:solidFill>
                <a:latin typeface="Calibri" pitchFamily="34" charset="0"/>
                <a:ea typeface="Calibri" pitchFamily="34" charset="-122"/>
                <a:cs typeface="Calibri" pitchFamily="34" charset="-120"/>
              </a:rPr>
              <a:t>Learned forecasting + exact welfare-maximising market clearing + cost-aware battery scheduling</a:t>
            </a:r>
            <a:endParaRPr lang="en-US" sz="1600" dirty="0"/>
          </a:p>
          <a:p>
            <a:pPr marL="203200" indent="-203200">
              <a:spcAft>
                <a:spcPts val="600"/>
              </a:spcAft>
              <a:buSzPct val="100000"/>
              <a:buChar char="•"/>
            </a:pPr>
            <a:r>
              <a:rPr lang="en-US" sz="1600" dirty="0">
                <a:solidFill>
                  <a:srgbClr val="DCE6F2"/>
                </a:solidFill>
                <a:latin typeface="Calibri" pitchFamily="34" charset="0"/>
                <a:ea typeface="Calibri" pitchFamily="34" charset="-122"/>
                <a:cs typeface="Calibri" pitchFamily="34" charset="-120"/>
              </a:rPr>
              <a:t>3.8× less critical load unserved in an outage than an equal-share baseline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GridWeave — Review 1</dc:title>
  <dc:subject>PptxGenJS Presentation</dc:subject>
  <dc:creator>PptxGenJS</dc:creator>
  <cp:lastModifiedBy>PptxGenJS</cp:lastModifiedBy>
  <cp:revision>1</cp:revision>
  <dcterms:created xsi:type="dcterms:W3CDTF">2026-09-30T15:27:24Z</dcterms:created>
  <dcterms:modified xsi:type="dcterms:W3CDTF">2026-09-30T15:27:24Z</dcterms:modified>
</cp:coreProperties>
</file>