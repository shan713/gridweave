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A"/>
                </a:solidFill>
                <a:latin typeface="Calibri"/>
              </a:defRPr>
            </a:pPr>
            <a:r>
              <a:rPr sz="1300" b="0" i="0" u="none" strike="noStrike">
                <a:solidFill>
                  <a:srgbClr val="12263A"/>
                </a:solidFill>
                <a:latin typeface="Calibri"/>
              </a:rPr>
              <a:t>Average next-slot forecast error on unseen data (kW, lower is better)</a:t>
            </a:r>
          </a:p>
        </c:rich>
      </c:tx>
      <c:layout/>
      <c:overlay val="0"/>
    </c:title>
    <c:autoTitleDeleted val="0"/>
    <c:plotArea>
      <c:layout/>
      <c:barChart>
        <c:barDir val="bar"/>
        <c:grouping val="clustered"/>
        <c:varyColors val="0"/>
        <c:ser>
          <c:idx val="0"/>
          <c:order val="0"/>
          <c:tx>
            <c:strRef>
              <c:f>Sheet1!$B$1</c:f>
              <c:strCache>
                <c:ptCount val="1"/>
                <c:pt idx="0">
                  <c:v>Error (kW)</c:v>
                </c:pt>
              </c:strCache>
            </c:strRef>
          </c:tx>
          <c:spPr>
            <a:solidFill>
              <a:srgbClr val="1BAF7A"/>
            </a:solidFill>
            <a:effectLst/>
          </c:spPr>
          <c:invertIfNegative val="0"/>
          <c:dLbls>
            <c:numFmt formatCode="0.0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dPt>
            <c:idx val="0"/>
            <c:invertIfNegative val="0"/>
            <c:bubble3D val="0"/>
            <c:spPr>
              <a:solidFill>
                <a:srgbClr val="1BAF7A"/>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2A78D6"/>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2A78D6"/>
              </a:solidFill>
              <a:effectLst/>
            </c:spPr>
          </c:dPt>
          <c:cat>
            <c:multiLvlStrRef>
              <c:f>Sheet1!$A$2:$A$8</c:f>
              <c:multiLvlStrCache>
                <c:ptCount val="7"/>
                <c:lvl>
                  <c:pt idx="0">
                    <c:v>Learned regression</c:v>
                  </c:pt>
                  <c:pt idx="1">
                    <c:v>Moving average (fast)</c:v>
                  </c:pt>
                  <c:pt idx="2">
                    <c:v>Yesterday-smoothed</c:v>
                  </c:pt>
                  <c:pt idx="3">
                    <c:v>Last-hour average</c:v>
                  </c:pt>
                  <c:pt idx="4">
                    <c:v>Moving average (slow)</c:v>
                  </c:pt>
                  <c:pt idx="5">
                    <c:v>Same as yesterday</c:v>
                  </c:pt>
                  <c:pt idx="6">
                    <c:v>Last-2-hours average</c:v>
                  </c:pt>
                </c:lvl>
              </c:multiLvlStrCache>
            </c:multiLvlStrRef>
          </c:cat>
          <c:val>
            <c:numRef>
              <c:f>Sheet1!$B$2:$B$8</c:f>
              <c:numCache>
                <c:formatCode>General</c:formatCode>
                <c:ptCount val="7"/>
                <c:pt idx="0">
                  <c:v>3.514</c:v>
                </c:pt>
                <c:pt idx="1">
                  <c:v>4.743</c:v>
                </c:pt>
                <c:pt idx="2">
                  <c:v>5.039</c:v>
                </c:pt>
                <c:pt idx="3">
                  <c:v>6.504</c:v>
                </c:pt>
                <c:pt idx="4">
                  <c:v>7.337</c:v>
                </c:pt>
                <c:pt idx="5">
                  <c:v>8.16</c:v>
                </c:pt>
                <c:pt idx="6">
                  <c:v>9.792</c:v>
                </c:pt>
              </c:numCache>
            </c:numRef>
          </c:val>
        </c:ser>
        <c:dLbls>
          <c:numFmt formatCode="0.0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in val="0"/>
        </c:scaling>
        <c:delete val="0"/>
        <c:axPos val="b"/>
        <c:majorGridlines>
          <c:spPr>
            <a:ln w="6350" cap="flat">
              <a:solidFill>
                <a:srgbClr val="E6E9EE"/>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A"/>
                </a:solidFill>
                <a:latin typeface="Calibri"/>
              </a:defRPr>
            </a:pPr>
            <a:r>
              <a:rPr sz="1300" b="0" i="0" u="none" strike="noStrike">
                <a:solidFill>
                  <a:srgbClr val="12263A"/>
                </a:solidFill>
                <a:latin typeface="Calibri"/>
              </a:rPr>
              <a:t>Normal scenario, 3 days (hourly)</a:t>
            </a:r>
          </a:p>
        </c:rich>
      </c:tx>
      <c:layout/>
      <c:overlay val="0"/>
    </c:title>
    <c:autoTitleDeleted val="0"/>
    <c:plotArea>
      <c:layout/>
      <c:lineChart>
        <c:varyColors val="0"/>
        <c:ser>
          <c:idx val="0"/>
          <c:order val="0"/>
          <c:tx>
            <c:strRef>
              <c:f>Sheet1!$B$1</c:f>
              <c:strCache>
                <c:ptCount val="1"/>
                <c:pt idx="0">
                  <c:v>Grid price (per kWh)</c:v>
                </c:pt>
              </c:strCache>
            </c:strRef>
          </c:tx>
          <c:spPr>
            <a:solidFill>
              <a:srgbClr val="8A8985"/>
            </a:solidFill>
            <a:ln w="31750" cap="flat">
              <a:solidFill>
                <a:srgbClr val="8A8985"/>
              </a:solidFill>
              <a:prstDash val="solid"/>
              <a:round/>
            </a:ln>
            <a:effectLst/>
          </c:spPr>
          <c:invertIfNegative val="0"/>
          <c:dLbls>
            <c:numFmt formatCode="#,##0" sourceLinked="0"/>
            <c:txPr>
              <a:bodyPr/>
              <a:lstStyle/>
              <a:p>
                <a:pPr>
                  <a:defRPr b="0" i="0" strike="noStrike" sz="1000" u="none">
                    <a:solidFill>
                      <a:srgbClr val="1B2430"/>
                    </a:solidFill>
                    <a:latin typeface="Arial"/>
                  </a:defRPr>
                </a:pPr>
              </a:p>
            </c:txPr>
            <c:showLegendKey val="0"/>
            <c:showVal val="0"/>
            <c:showCatName val="0"/>
            <c:showSerName val="0"/>
            <c:showPercent val="0"/>
            <c:showBubbleSize val="0"/>
            <c:showLeaderLines val="0"/>
          </c:dLbls>
          <c:marker>
            <c:symbol val="none"/>
            <c:size val="6"/>
            <c:spPr>
              <a:solidFill>
                <a:srgbClr val="8A8985"/>
              </a:solidFill>
              <a:ln w="9525" cap="flat">
                <a:solidFill>
                  <a:srgbClr val="8A8985"/>
                </a:solidFill>
                <a:prstDash val="solid"/>
                <a:round/>
              </a:ln>
              <a:effectLst/>
            </c:spPr>
          </c:marker>
          <c:cat>
            <c:multiLvlStrRef>
              <c:f>Sheet1!$A$2:$A$73</c:f>
              <c:multiLvlStrCache>
                <c:ptCount val="72"/>
                <c:lvl>
                  <c:pt idx="0">
                    <c:v>Mon 00:15</c:v>
                  </c:pt>
                  <c:pt idx="1">
                    <c:v/>
                  </c:pt>
                  <c:pt idx="2">
                    <c:v/>
                  </c:pt>
                  <c:pt idx="3">
                    <c:v/>
                  </c:pt>
                  <c:pt idx="4">
                    <c:v/>
                  </c:pt>
                  <c:pt idx="5">
                    <c:v/>
                  </c:pt>
                  <c:pt idx="6">
                    <c:v>Mon 06:15</c:v>
                  </c:pt>
                  <c:pt idx="7">
                    <c:v/>
                  </c:pt>
                  <c:pt idx="8">
                    <c:v/>
                  </c:pt>
                  <c:pt idx="9">
                    <c:v/>
                  </c:pt>
                  <c:pt idx="10">
                    <c:v/>
                  </c:pt>
                  <c:pt idx="11">
                    <c:v/>
                  </c:pt>
                  <c:pt idx="12">
                    <c:v>Mon 12:15</c:v>
                  </c:pt>
                  <c:pt idx="13">
                    <c:v/>
                  </c:pt>
                  <c:pt idx="14">
                    <c:v/>
                  </c:pt>
                  <c:pt idx="15">
                    <c:v/>
                  </c:pt>
                  <c:pt idx="16">
                    <c:v/>
                  </c:pt>
                  <c:pt idx="17">
                    <c:v/>
                  </c:pt>
                  <c:pt idx="18">
                    <c:v>Mon 18:15</c:v>
                  </c:pt>
                  <c:pt idx="19">
                    <c:v/>
                  </c:pt>
                  <c:pt idx="20">
                    <c:v/>
                  </c:pt>
                  <c:pt idx="21">
                    <c:v/>
                  </c:pt>
                  <c:pt idx="22">
                    <c:v/>
                  </c:pt>
                  <c:pt idx="23">
                    <c:v/>
                  </c:pt>
                  <c:pt idx="24">
                    <c:v>Tue 00:15</c:v>
                  </c:pt>
                  <c:pt idx="25">
                    <c:v/>
                  </c:pt>
                  <c:pt idx="26">
                    <c:v/>
                  </c:pt>
                  <c:pt idx="27">
                    <c:v/>
                  </c:pt>
                  <c:pt idx="28">
                    <c:v/>
                  </c:pt>
                  <c:pt idx="29">
                    <c:v/>
                  </c:pt>
                  <c:pt idx="30">
                    <c:v>Tue 06:15</c:v>
                  </c:pt>
                  <c:pt idx="31">
                    <c:v/>
                  </c:pt>
                  <c:pt idx="32">
                    <c:v/>
                  </c:pt>
                  <c:pt idx="33">
                    <c:v/>
                  </c:pt>
                  <c:pt idx="34">
                    <c:v/>
                  </c:pt>
                  <c:pt idx="35">
                    <c:v/>
                  </c:pt>
                  <c:pt idx="36">
                    <c:v>Tue 12:15</c:v>
                  </c:pt>
                  <c:pt idx="37">
                    <c:v/>
                  </c:pt>
                  <c:pt idx="38">
                    <c:v/>
                  </c:pt>
                  <c:pt idx="39">
                    <c:v/>
                  </c:pt>
                  <c:pt idx="40">
                    <c:v/>
                  </c:pt>
                  <c:pt idx="41">
                    <c:v/>
                  </c:pt>
                  <c:pt idx="42">
                    <c:v>Tue 18:15</c:v>
                  </c:pt>
                  <c:pt idx="43">
                    <c:v/>
                  </c:pt>
                  <c:pt idx="44">
                    <c:v/>
                  </c:pt>
                  <c:pt idx="45">
                    <c:v/>
                  </c:pt>
                  <c:pt idx="46">
                    <c:v/>
                  </c:pt>
                  <c:pt idx="47">
                    <c:v/>
                  </c:pt>
                  <c:pt idx="48">
                    <c:v>Wed 00:15</c:v>
                  </c:pt>
                  <c:pt idx="49">
                    <c:v/>
                  </c:pt>
                  <c:pt idx="50">
                    <c:v/>
                  </c:pt>
                  <c:pt idx="51">
                    <c:v/>
                  </c:pt>
                  <c:pt idx="52">
                    <c:v/>
                  </c:pt>
                  <c:pt idx="53">
                    <c:v/>
                  </c:pt>
                  <c:pt idx="54">
                    <c:v>Wed 06:15</c:v>
                  </c:pt>
                  <c:pt idx="55">
                    <c:v/>
                  </c:pt>
                  <c:pt idx="56">
                    <c:v/>
                  </c:pt>
                  <c:pt idx="57">
                    <c:v/>
                  </c:pt>
                  <c:pt idx="58">
                    <c:v/>
                  </c:pt>
                  <c:pt idx="59">
                    <c:v/>
                  </c:pt>
                  <c:pt idx="60">
                    <c:v>Wed 12:15</c:v>
                  </c:pt>
                  <c:pt idx="61">
                    <c:v/>
                  </c:pt>
                  <c:pt idx="62">
                    <c:v/>
                  </c:pt>
                  <c:pt idx="63">
                    <c:v/>
                  </c:pt>
                  <c:pt idx="64">
                    <c:v/>
                  </c:pt>
                  <c:pt idx="65">
                    <c:v/>
                  </c:pt>
                  <c:pt idx="66">
                    <c:v>Wed 18:15</c:v>
                  </c:pt>
                  <c:pt idx="67">
                    <c:v/>
                  </c:pt>
                  <c:pt idx="68">
                    <c:v/>
                  </c:pt>
                  <c:pt idx="69">
                    <c:v/>
                  </c:pt>
                  <c:pt idx="70">
                    <c:v/>
                  </c:pt>
                  <c:pt idx="71">
                    <c:v/>
                  </c:pt>
                </c:lvl>
              </c:multiLvlStrCache>
            </c:multiLvlStrRef>
          </c:cat>
          <c:val>
            <c:numRef>
              <c:f>Sheet1!$B$2:$B$73</c:f>
              <c:numCache>
                <c:formatCode>General</c:formatCode>
                <c:ptCount val="72"/>
                <c:pt idx="0">
                  <c:v>5</c:v>
                </c:pt>
                <c:pt idx="1">
                  <c:v>5</c:v>
                </c:pt>
                <c:pt idx="2">
                  <c:v>5</c:v>
                </c:pt>
                <c:pt idx="3">
                  <c:v>5</c:v>
                </c:pt>
                <c:pt idx="4">
                  <c:v>5</c:v>
                </c:pt>
                <c:pt idx="5">
                  <c:v>5</c:v>
                </c:pt>
                <c:pt idx="6">
                  <c:v>10</c:v>
                </c:pt>
                <c:pt idx="7">
                  <c:v>10</c:v>
                </c:pt>
                <c:pt idx="8">
                  <c:v>10</c:v>
                </c:pt>
                <c:pt idx="9">
                  <c:v>10</c:v>
                </c:pt>
                <c:pt idx="10">
                  <c:v>10</c:v>
                </c:pt>
                <c:pt idx="11">
                  <c:v>10</c:v>
                </c:pt>
                <c:pt idx="12">
                  <c:v>10</c:v>
                </c:pt>
                <c:pt idx="13">
                  <c:v>10</c:v>
                </c:pt>
                <c:pt idx="14">
                  <c:v>10</c:v>
                </c:pt>
                <c:pt idx="15">
                  <c:v>10</c:v>
                </c:pt>
                <c:pt idx="16">
                  <c:v>10</c:v>
                </c:pt>
                <c:pt idx="17">
                  <c:v>18</c:v>
                </c:pt>
                <c:pt idx="18">
                  <c:v>18</c:v>
                </c:pt>
                <c:pt idx="19">
                  <c:v>18</c:v>
                </c:pt>
                <c:pt idx="20">
                  <c:v>18</c:v>
                </c:pt>
                <c:pt idx="21">
                  <c:v>18</c:v>
                </c:pt>
                <c:pt idx="22">
                  <c:v>10</c:v>
                </c:pt>
                <c:pt idx="23">
                  <c:v>10</c:v>
                </c:pt>
                <c:pt idx="24">
                  <c:v>5</c:v>
                </c:pt>
                <c:pt idx="25">
                  <c:v>5</c:v>
                </c:pt>
                <c:pt idx="26">
                  <c:v>5</c:v>
                </c:pt>
                <c:pt idx="27">
                  <c:v>5</c:v>
                </c:pt>
                <c:pt idx="28">
                  <c:v>5</c:v>
                </c:pt>
                <c:pt idx="29">
                  <c:v>5</c:v>
                </c:pt>
                <c:pt idx="30">
                  <c:v>10</c:v>
                </c:pt>
                <c:pt idx="31">
                  <c:v>10</c:v>
                </c:pt>
                <c:pt idx="32">
                  <c:v>10</c:v>
                </c:pt>
                <c:pt idx="33">
                  <c:v>10</c:v>
                </c:pt>
                <c:pt idx="34">
                  <c:v>10</c:v>
                </c:pt>
                <c:pt idx="35">
                  <c:v>10</c:v>
                </c:pt>
                <c:pt idx="36">
                  <c:v>10</c:v>
                </c:pt>
                <c:pt idx="37">
                  <c:v>10</c:v>
                </c:pt>
                <c:pt idx="38">
                  <c:v>10</c:v>
                </c:pt>
                <c:pt idx="39">
                  <c:v>10</c:v>
                </c:pt>
                <c:pt idx="40">
                  <c:v>10</c:v>
                </c:pt>
                <c:pt idx="41">
                  <c:v>18</c:v>
                </c:pt>
                <c:pt idx="42">
                  <c:v>18</c:v>
                </c:pt>
                <c:pt idx="43">
                  <c:v>18</c:v>
                </c:pt>
                <c:pt idx="44">
                  <c:v>18</c:v>
                </c:pt>
                <c:pt idx="45">
                  <c:v>18</c:v>
                </c:pt>
                <c:pt idx="46">
                  <c:v>10</c:v>
                </c:pt>
                <c:pt idx="47">
                  <c:v>10</c:v>
                </c:pt>
                <c:pt idx="48">
                  <c:v>5</c:v>
                </c:pt>
                <c:pt idx="49">
                  <c:v>5</c:v>
                </c:pt>
                <c:pt idx="50">
                  <c:v>5</c:v>
                </c:pt>
                <c:pt idx="51">
                  <c:v>5</c:v>
                </c:pt>
                <c:pt idx="52">
                  <c:v>5</c:v>
                </c:pt>
                <c:pt idx="53">
                  <c:v>5</c:v>
                </c:pt>
                <c:pt idx="54">
                  <c:v>10</c:v>
                </c:pt>
                <c:pt idx="55">
                  <c:v>10</c:v>
                </c:pt>
                <c:pt idx="56">
                  <c:v>10</c:v>
                </c:pt>
                <c:pt idx="57">
                  <c:v>10</c:v>
                </c:pt>
                <c:pt idx="58">
                  <c:v>10</c:v>
                </c:pt>
                <c:pt idx="59">
                  <c:v>10</c:v>
                </c:pt>
                <c:pt idx="60">
                  <c:v>10</c:v>
                </c:pt>
                <c:pt idx="61">
                  <c:v>10</c:v>
                </c:pt>
                <c:pt idx="62">
                  <c:v>10</c:v>
                </c:pt>
                <c:pt idx="63">
                  <c:v>10</c:v>
                </c:pt>
                <c:pt idx="64">
                  <c:v>10</c:v>
                </c:pt>
                <c:pt idx="65">
                  <c:v>18</c:v>
                </c:pt>
                <c:pt idx="66">
                  <c:v>18</c:v>
                </c:pt>
                <c:pt idx="67">
                  <c:v>18</c:v>
                </c:pt>
                <c:pt idx="68">
                  <c:v>18</c:v>
                </c:pt>
                <c:pt idx="69">
                  <c:v>18</c:v>
                </c:pt>
                <c:pt idx="70">
                  <c:v>10</c:v>
                </c:pt>
                <c:pt idx="71">
                  <c:v>10</c:v>
                </c:pt>
              </c:numCache>
            </c:numRef>
          </c:val>
          <c:smooth val="0"/>
        </c:ser>
        <c:ser>
          <c:idx val="1"/>
          <c:order val="1"/>
          <c:tx>
            <c:strRef>
              <c:f>Sheet1!$C$1</c:f>
              <c:strCache>
                <c:ptCount val="1"/>
                <c:pt idx="0">
                  <c:v>Battery offer price (per kWh)</c:v>
                </c:pt>
              </c:strCache>
            </c:strRef>
          </c:tx>
          <c:spPr>
            <a:solidFill>
              <a:srgbClr val="1BAF7A"/>
            </a:solidFill>
            <a:ln w="31750" cap="flat">
              <a:solidFill>
                <a:srgbClr val="1BAF7A"/>
              </a:solidFill>
              <a:prstDash val="solid"/>
              <a:round/>
            </a:ln>
            <a:effectLst/>
          </c:spPr>
          <c:invertIfNegative val="0"/>
          <c:dLbls>
            <c:numFmt formatCode="#,##0" sourceLinked="0"/>
            <c:txPr>
              <a:bodyPr/>
              <a:lstStyle/>
              <a:p>
                <a:pPr>
                  <a:defRPr b="0" i="0" strike="noStrike" sz="1000" u="none">
                    <a:solidFill>
                      <a:srgbClr val="1B2430"/>
                    </a:solidFill>
                    <a:latin typeface="Arial"/>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Sheet1!$A$2:$A$73</c:f>
              <c:multiLvlStrCache>
                <c:ptCount val="72"/>
                <c:lvl>
                  <c:pt idx="0">
                    <c:v>Mon 00:15</c:v>
                  </c:pt>
                  <c:pt idx="1">
                    <c:v/>
                  </c:pt>
                  <c:pt idx="2">
                    <c:v/>
                  </c:pt>
                  <c:pt idx="3">
                    <c:v/>
                  </c:pt>
                  <c:pt idx="4">
                    <c:v/>
                  </c:pt>
                  <c:pt idx="5">
                    <c:v/>
                  </c:pt>
                  <c:pt idx="6">
                    <c:v>Mon 06:15</c:v>
                  </c:pt>
                  <c:pt idx="7">
                    <c:v/>
                  </c:pt>
                  <c:pt idx="8">
                    <c:v/>
                  </c:pt>
                  <c:pt idx="9">
                    <c:v/>
                  </c:pt>
                  <c:pt idx="10">
                    <c:v/>
                  </c:pt>
                  <c:pt idx="11">
                    <c:v/>
                  </c:pt>
                  <c:pt idx="12">
                    <c:v>Mon 12:15</c:v>
                  </c:pt>
                  <c:pt idx="13">
                    <c:v/>
                  </c:pt>
                  <c:pt idx="14">
                    <c:v/>
                  </c:pt>
                  <c:pt idx="15">
                    <c:v/>
                  </c:pt>
                  <c:pt idx="16">
                    <c:v/>
                  </c:pt>
                  <c:pt idx="17">
                    <c:v/>
                  </c:pt>
                  <c:pt idx="18">
                    <c:v>Mon 18:15</c:v>
                  </c:pt>
                  <c:pt idx="19">
                    <c:v/>
                  </c:pt>
                  <c:pt idx="20">
                    <c:v/>
                  </c:pt>
                  <c:pt idx="21">
                    <c:v/>
                  </c:pt>
                  <c:pt idx="22">
                    <c:v/>
                  </c:pt>
                  <c:pt idx="23">
                    <c:v/>
                  </c:pt>
                  <c:pt idx="24">
                    <c:v>Tue 00:15</c:v>
                  </c:pt>
                  <c:pt idx="25">
                    <c:v/>
                  </c:pt>
                  <c:pt idx="26">
                    <c:v/>
                  </c:pt>
                  <c:pt idx="27">
                    <c:v/>
                  </c:pt>
                  <c:pt idx="28">
                    <c:v/>
                  </c:pt>
                  <c:pt idx="29">
                    <c:v/>
                  </c:pt>
                  <c:pt idx="30">
                    <c:v>Tue 06:15</c:v>
                  </c:pt>
                  <c:pt idx="31">
                    <c:v/>
                  </c:pt>
                  <c:pt idx="32">
                    <c:v/>
                  </c:pt>
                  <c:pt idx="33">
                    <c:v/>
                  </c:pt>
                  <c:pt idx="34">
                    <c:v/>
                  </c:pt>
                  <c:pt idx="35">
                    <c:v/>
                  </c:pt>
                  <c:pt idx="36">
                    <c:v>Tue 12:15</c:v>
                  </c:pt>
                  <c:pt idx="37">
                    <c:v/>
                  </c:pt>
                  <c:pt idx="38">
                    <c:v/>
                  </c:pt>
                  <c:pt idx="39">
                    <c:v/>
                  </c:pt>
                  <c:pt idx="40">
                    <c:v/>
                  </c:pt>
                  <c:pt idx="41">
                    <c:v/>
                  </c:pt>
                  <c:pt idx="42">
                    <c:v>Tue 18:15</c:v>
                  </c:pt>
                  <c:pt idx="43">
                    <c:v/>
                  </c:pt>
                  <c:pt idx="44">
                    <c:v/>
                  </c:pt>
                  <c:pt idx="45">
                    <c:v/>
                  </c:pt>
                  <c:pt idx="46">
                    <c:v/>
                  </c:pt>
                  <c:pt idx="47">
                    <c:v/>
                  </c:pt>
                  <c:pt idx="48">
                    <c:v>Wed 00:15</c:v>
                  </c:pt>
                  <c:pt idx="49">
                    <c:v/>
                  </c:pt>
                  <c:pt idx="50">
                    <c:v/>
                  </c:pt>
                  <c:pt idx="51">
                    <c:v/>
                  </c:pt>
                  <c:pt idx="52">
                    <c:v/>
                  </c:pt>
                  <c:pt idx="53">
                    <c:v/>
                  </c:pt>
                  <c:pt idx="54">
                    <c:v>Wed 06:15</c:v>
                  </c:pt>
                  <c:pt idx="55">
                    <c:v/>
                  </c:pt>
                  <c:pt idx="56">
                    <c:v/>
                  </c:pt>
                  <c:pt idx="57">
                    <c:v/>
                  </c:pt>
                  <c:pt idx="58">
                    <c:v/>
                  </c:pt>
                  <c:pt idx="59">
                    <c:v/>
                  </c:pt>
                  <c:pt idx="60">
                    <c:v>Wed 12:15</c:v>
                  </c:pt>
                  <c:pt idx="61">
                    <c:v/>
                  </c:pt>
                  <c:pt idx="62">
                    <c:v/>
                  </c:pt>
                  <c:pt idx="63">
                    <c:v/>
                  </c:pt>
                  <c:pt idx="64">
                    <c:v/>
                  </c:pt>
                  <c:pt idx="65">
                    <c:v/>
                  </c:pt>
                  <c:pt idx="66">
                    <c:v>Wed 18:15</c:v>
                  </c:pt>
                  <c:pt idx="67">
                    <c:v/>
                  </c:pt>
                  <c:pt idx="68">
                    <c:v/>
                  </c:pt>
                  <c:pt idx="69">
                    <c:v/>
                  </c:pt>
                  <c:pt idx="70">
                    <c:v/>
                  </c:pt>
                  <c:pt idx="71">
                    <c:v/>
                  </c:pt>
                </c:lvl>
              </c:multiLvlStrCache>
            </c:multiLvlStrRef>
          </c:cat>
          <c:val>
            <c:numRef>
              <c:f>Sheet1!$C$2:$C$73</c:f>
              <c:numCache>
                <c:formatCode>General</c:formatCode>
                <c:ptCount val="72"/>
                <c:pt idx="0">
                  <c:v>7</c:v>
                </c:pt>
                <c:pt idx="1">
                  <c:v>8.63</c:v>
                </c:pt>
                <c:pt idx="2">
                  <c:v>8.63</c:v>
                </c:pt>
                <c:pt idx="3">
                  <c:v>8.63</c:v>
                </c:pt>
                <c:pt idx="4">
                  <c:v>8.63</c:v>
                </c:pt>
                <c:pt idx="5">
                  <c:v>8.63</c:v>
                </c:pt>
                <c:pt idx="6">
                  <c:v>8.63</c:v>
                </c:pt>
                <c:pt idx="7">
                  <c:v>8.63</c:v>
                </c:pt>
                <c:pt idx="8">
                  <c:v>8.63</c:v>
                </c:pt>
                <c:pt idx="9">
                  <c:v>8.63</c:v>
                </c:pt>
                <c:pt idx="10">
                  <c:v>8.63</c:v>
                </c:pt>
                <c:pt idx="11">
                  <c:v>8.63</c:v>
                </c:pt>
                <c:pt idx="12">
                  <c:v>8.63</c:v>
                </c:pt>
                <c:pt idx="13">
                  <c:v>8.63</c:v>
                </c:pt>
                <c:pt idx="14">
                  <c:v>8.63</c:v>
                </c:pt>
                <c:pt idx="15">
                  <c:v>8.63</c:v>
                </c:pt>
                <c:pt idx="16">
                  <c:v>8.63</c:v>
                </c:pt>
                <c:pt idx="17">
                  <c:v>8.63</c:v>
                </c:pt>
                <c:pt idx="18">
                  <c:v>8.63</c:v>
                </c:pt>
                <c:pt idx="19">
                  <c:v>8.63</c:v>
                </c:pt>
                <c:pt idx="20">
                  <c:v>8.63</c:v>
                </c:pt>
                <c:pt idx="21">
                  <c:v>8.63</c:v>
                </c:pt>
                <c:pt idx="22">
                  <c:v>8.63</c:v>
                </c:pt>
                <c:pt idx="23">
                  <c:v>8.63</c:v>
                </c:pt>
                <c:pt idx="24">
                  <c:v>10.36</c:v>
                </c:pt>
                <c:pt idx="25">
                  <c:v>11.75</c:v>
                </c:pt>
                <c:pt idx="26">
                  <c:v>12.05</c:v>
                </c:pt>
                <c:pt idx="27">
                  <c:v>12.08</c:v>
                </c:pt>
                <c:pt idx="28">
                  <c:v>12.08</c:v>
                </c:pt>
                <c:pt idx="29">
                  <c:v>12.08</c:v>
                </c:pt>
                <c:pt idx="30">
                  <c:v>12.08</c:v>
                </c:pt>
                <c:pt idx="31">
                  <c:v>12.08</c:v>
                </c:pt>
                <c:pt idx="32">
                  <c:v>12.08</c:v>
                </c:pt>
                <c:pt idx="33">
                  <c:v>12.08</c:v>
                </c:pt>
                <c:pt idx="34">
                  <c:v>12.08</c:v>
                </c:pt>
                <c:pt idx="35">
                  <c:v>12.08</c:v>
                </c:pt>
                <c:pt idx="36">
                  <c:v>12.08</c:v>
                </c:pt>
                <c:pt idx="37">
                  <c:v>12.08</c:v>
                </c:pt>
                <c:pt idx="38">
                  <c:v>12.08</c:v>
                </c:pt>
                <c:pt idx="39">
                  <c:v>12.08</c:v>
                </c:pt>
                <c:pt idx="40">
                  <c:v>12.08</c:v>
                </c:pt>
                <c:pt idx="41">
                  <c:v>12.08</c:v>
                </c:pt>
                <c:pt idx="42">
                  <c:v>12.08</c:v>
                </c:pt>
                <c:pt idx="43">
                  <c:v>12.08</c:v>
                </c:pt>
                <c:pt idx="44">
                  <c:v>12.08</c:v>
                </c:pt>
                <c:pt idx="45">
                  <c:v>12.08</c:v>
                </c:pt>
                <c:pt idx="46">
                  <c:v>12.08</c:v>
                </c:pt>
                <c:pt idx="47">
                  <c:v>12.08</c:v>
                </c:pt>
                <c:pt idx="48">
                  <c:v>12.28</c:v>
                </c:pt>
                <c:pt idx="49">
                  <c:v>12.45</c:v>
                </c:pt>
                <c:pt idx="50">
                  <c:v>12.48</c:v>
                </c:pt>
                <c:pt idx="51">
                  <c:v>12.49</c:v>
                </c:pt>
                <c:pt idx="52">
                  <c:v>12.49</c:v>
                </c:pt>
                <c:pt idx="53">
                  <c:v>12.49</c:v>
                </c:pt>
                <c:pt idx="54">
                  <c:v>12.49</c:v>
                </c:pt>
                <c:pt idx="55">
                  <c:v>12.49</c:v>
                </c:pt>
                <c:pt idx="56">
                  <c:v>12.49</c:v>
                </c:pt>
                <c:pt idx="57">
                  <c:v>12.49</c:v>
                </c:pt>
                <c:pt idx="58">
                  <c:v>12.49</c:v>
                </c:pt>
                <c:pt idx="59">
                  <c:v>12.49</c:v>
                </c:pt>
                <c:pt idx="60">
                  <c:v>12.49</c:v>
                </c:pt>
                <c:pt idx="61">
                  <c:v>12.49</c:v>
                </c:pt>
                <c:pt idx="62">
                  <c:v>12.49</c:v>
                </c:pt>
                <c:pt idx="63">
                  <c:v>12.49</c:v>
                </c:pt>
                <c:pt idx="64">
                  <c:v>12.49</c:v>
                </c:pt>
                <c:pt idx="65">
                  <c:v>12.49</c:v>
                </c:pt>
                <c:pt idx="66">
                  <c:v>12.49</c:v>
                </c:pt>
                <c:pt idx="67">
                  <c:v>12.49</c:v>
                </c:pt>
                <c:pt idx="68">
                  <c:v>12.49</c:v>
                </c:pt>
                <c:pt idx="69">
                  <c:v>12.49</c:v>
                </c:pt>
                <c:pt idx="70">
                  <c:v>12.49</c:v>
                </c:pt>
                <c:pt idx="71">
                  <c:v>12.49</c:v>
                </c:pt>
              </c:numCache>
            </c:numRef>
          </c:val>
          <c:smooth val="0"/>
        </c:ser>
        <c:dLbls>
          <c:numFmt formatCode="#,##0" sourceLinked="0"/>
          <c:txPr>
            <a:bodyPr/>
            <a:lstStyle/>
            <a:p>
              <a:pPr>
                <a:defRPr b="0" i="0" strike="noStrike" sz="1000" u="none">
                  <a:solidFill>
                    <a:srgbClr val="1B243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6E9E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B2430"/>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A"/>
                </a:solidFill>
                <a:latin typeface="Calibri"/>
              </a:defRPr>
            </a:pPr>
            <a:r>
              <a:rPr sz="1300" b="0" i="0" u="none" strike="noStrike">
                <a:solidFill>
                  <a:srgbClr val="12263A"/>
                </a:solidFill>
                <a:latin typeface="Calibri"/>
              </a:rPr>
              <a:t>Critical load NOT served (kWh) — lower is better</a:t>
            </a:r>
          </a:p>
        </c:rich>
      </c:tx>
      <c:layout/>
      <c:overlay val="0"/>
    </c:title>
    <c:autoTitleDeleted val="0"/>
    <c:plotArea>
      <c:layout/>
      <c:barChart>
        <c:barDir val="col"/>
        <c:grouping val="clustered"/>
        <c:varyColors val="0"/>
        <c:ser>
          <c:idx val="0"/>
          <c:order val="0"/>
          <c:tx>
            <c:strRef>
              <c:f>Sheet1!$B$1</c:f>
              <c:strCache>
                <c:ptCount val="1"/>
                <c:pt idx="0">
                  <c:v>Equal share (baseline)</c:v>
                </c:pt>
              </c:strCache>
            </c:strRef>
          </c:tx>
          <c:spPr>
            <a:solidFill>
              <a:srgbClr val="2A78D6"/>
            </a:solidFill>
            <a:effectLst/>
          </c:spPr>
          <c:invertIfNegative val="0"/>
          <c:dLbls>
            <c:numFmt formatCode="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cat>
            <c:multiLvlStrRef>
              <c:f>Sheet1!$A$2:$A$4</c:f>
              <c:multiLvlStrCache>
                <c:ptCount val="3"/>
                <c:lvl>
                  <c:pt idx="0">
                    <c:v>Daytime grid outage</c:v>
                  </c:pt>
                  <c:pt idx="1">
                    <c:v>Cloud + outage + price spike</c:v>
                  </c:pt>
                  <c:pt idx="2">
                    <c:v>Supply ≈ half of demand</c:v>
                  </c:pt>
                </c:lvl>
              </c:multiLvlStrCache>
            </c:multiLvlStrRef>
          </c:cat>
          <c:val>
            <c:numRef>
              <c:f>Sheet1!$B$2:$B$4</c:f>
              <c:numCache>
                <c:formatCode>General</c:formatCode>
                <c:ptCount val="3"/>
                <c:pt idx="0">
                  <c:v>112.5</c:v>
                </c:pt>
                <c:pt idx="1">
                  <c:v>160.9</c:v>
                </c:pt>
                <c:pt idx="2">
                  <c:v>386.9</c:v>
                </c:pt>
              </c:numCache>
            </c:numRef>
          </c:val>
        </c:ser>
        <c:ser>
          <c:idx val="1"/>
          <c:order val="1"/>
          <c:tx>
            <c:strRef>
              <c:f>Sheet1!$C$1</c:f>
              <c:strCache>
                <c:ptCount val="1"/>
                <c:pt idx="0">
                  <c:v>Critical first</c:v>
                </c:pt>
              </c:strCache>
            </c:strRef>
          </c:tx>
          <c:spPr>
            <a:solidFill>
              <a:srgbClr val="EB6834"/>
            </a:solidFill>
            <a:effectLst/>
          </c:spPr>
          <c:invertIfNegative val="0"/>
          <c:dLbls>
            <c:numFmt formatCode="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cat>
            <c:multiLvlStrRef>
              <c:f>Sheet1!$A$2:$A$4</c:f>
              <c:multiLvlStrCache>
                <c:ptCount val="3"/>
                <c:lvl>
                  <c:pt idx="0">
                    <c:v>Daytime grid outage</c:v>
                  </c:pt>
                  <c:pt idx="1">
                    <c:v>Cloud + outage + price spike</c:v>
                  </c:pt>
                  <c:pt idx="2">
                    <c:v>Supply ≈ half of demand</c:v>
                  </c:pt>
                </c:lvl>
              </c:multiLvlStrCache>
            </c:multiLvlStrRef>
          </c:cat>
          <c:val>
            <c:numRef>
              <c:f>Sheet1!$C$2:$C$4</c:f>
              <c:numCache>
                <c:formatCode>General</c:formatCode>
                <c:ptCount val="3"/>
                <c:pt idx="0">
                  <c:v>31.7</c:v>
                </c:pt>
                <c:pt idx="1">
                  <c:v>54.7</c:v>
                </c:pt>
                <c:pt idx="2">
                  <c:v>53.7</c:v>
                </c:pt>
              </c:numCache>
            </c:numRef>
          </c:val>
        </c:ser>
        <c:ser>
          <c:idx val="2"/>
          <c:order val="2"/>
          <c:tx>
            <c:strRef>
              <c:f>Sheet1!$D$1</c:f>
              <c:strCache>
                <c:ptCount val="1"/>
                <c:pt idx="0">
                  <c:v>GridWeave (full)</c:v>
                </c:pt>
              </c:strCache>
            </c:strRef>
          </c:tx>
          <c:spPr>
            <a:solidFill>
              <a:srgbClr val="1BAF7A"/>
            </a:solidFill>
            <a:effectLst/>
          </c:spPr>
          <c:invertIfNegative val="0"/>
          <c:dLbls>
            <c:numFmt formatCode="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cat>
            <c:multiLvlStrRef>
              <c:f>Sheet1!$A$2:$A$4</c:f>
              <c:multiLvlStrCache>
                <c:ptCount val="3"/>
                <c:lvl>
                  <c:pt idx="0">
                    <c:v>Daytime grid outage</c:v>
                  </c:pt>
                  <c:pt idx="1">
                    <c:v>Cloud + outage + price spike</c:v>
                  </c:pt>
                  <c:pt idx="2">
                    <c:v>Supply ≈ half of demand</c:v>
                  </c:pt>
                </c:lvl>
              </c:multiLvlStrCache>
            </c:multiLvlStrRef>
          </c:cat>
          <c:val>
            <c:numRef>
              <c:f>Sheet1!$D$2:$D$4</c:f>
              <c:numCache>
                <c:formatCode>General</c:formatCode>
                <c:ptCount val="3"/>
                <c:pt idx="0">
                  <c:v>29.9</c:v>
                </c:pt>
                <c:pt idx="1">
                  <c:v>51.5</c:v>
                </c:pt>
                <c:pt idx="2">
                  <c:v>46.8</c:v>
                </c:pt>
              </c:numCache>
            </c:numRef>
          </c:val>
        </c:ser>
        <c:dLbls>
          <c:numFmt formatCode="0" sourceLinked="0"/>
          <c:txPr>
            <a:bodyPr/>
            <a:lstStyle/>
            <a:p>
              <a:pPr>
                <a:defRPr b="0" i="0" strike="noStrike" sz="1000" u="none">
                  <a:solidFill>
                    <a:srgbClr val="1B243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9E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B243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GridWeave: a multi-agent simulation of a campus that has less electricity than it sometimes needs. Buildings are agents that forecast and bid; a market decides who gets power; supply agents offer grid, solar and battery power; a coordinator runs the campus in 15-minute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come from our synthetic 5-building campus. The grid alone cannot carry the daytime peak, so the campus depends on solar and a battery, and when any of them fails the market must 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as four questions: how do we judge the building, what is around it, what can it do, and what can it see. Performance is measured against the demand that actually happened, not against the bid, so forecasting mistakes show up in the score. Keeping critical load on is the most important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questions for the other agent types. The market is the only one that optimises a goal directly. The battery is the smartest supply agent because it remembers what its stored energy cost and prices itself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Partial observability is why the building needs a forecasting model: it must predict its own next 15 minutes to bid. The environment is sequential because postponed energy and battery charge link one slot to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building agent is model-based: it holds internal state and uses a learned model of its demand. The market is the utility-based part. Explain why a simple reflex agent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loop the coordinator runs 96 times a day. Every message between agents is a typed, validated object, and the coordinator checks each clearing and dispatch before anything is applied.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formula left to right: the prediction is a weighted sum of recent demand, which gives momentum, and yesterday's demand at the same time, which gives the daily pattern. The weights are learned by ridge regression, least squares with a small penalty on large weights. This is supervised learning: the target is the next slot's actual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 absolute error for the next 15-minute slot, averaged over 25 building series on held-out seeds. The learned model gets close to the noise floor, which is the best any model could do on this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bid carries an explanation of how its priority and price were computed, so each decision can be traced. Demand response only ever gives up flexible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search and optimisation happens: a constrained welfare maximisation. Because the utilities are concave and piecewise linear, sorting the utility segments and filling greedily gives the optimal solution in O(N log N). Dispatch is a merit-order search over supply offers.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battery agent chooses when to be used through its price. Because its offer reflects the true cost of its stored energy, the market's merit-order dispatch only picks it when the grid is more expensive, which is the evening peak, or when the grid 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gain comes from protecting critical load first. The full GridWeave mode, the welfare-maximising market plus demand response, improves on that by another 6 to 13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assumptions before being asked. The full list of viva one-liners is in docs/DESIGN.md section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restating the three contributions.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731520" y="1097280"/>
            <a:ext cx="5486400" cy="365760"/>
          </a:xfrm>
          <a:prstGeom prst="rect">
            <a:avLst/>
          </a:prstGeom>
          <a:noFill/>
          <a:ln/>
        </p:spPr>
        <p:txBody>
          <a:bodyPr wrap="square" lIns="0" tIns="0" rIns="0" bIns="0" rtlCol="0" anchor="t"/>
          <a:lstStyle/>
          <a:p>
            <a:pPr indent="0" marL="0">
              <a:buNone/>
            </a:pPr>
            <a:r>
              <a:rPr lang="en-US" sz="1600" b="1" spc="400" kern="0" dirty="0">
                <a:solidFill>
                  <a:srgbClr val="F2A541"/>
                </a:solidFill>
                <a:latin typeface="Calibri" pitchFamily="34" charset="0"/>
                <a:ea typeface="Calibri" pitchFamily="34" charset="-122"/>
                <a:cs typeface="Calibri" pitchFamily="34" charset="-120"/>
              </a:rPr>
              <a:t>REVIEW 1</a:t>
            </a:r>
            <a:endParaRPr lang="en-US" sz="1600" dirty="0"/>
          </a:p>
        </p:txBody>
      </p:sp>
      <p:sp>
        <p:nvSpPr>
          <p:cNvPr id="3" name="Text 1"/>
          <p:cNvSpPr txBox="1"/>
          <p:nvPr/>
        </p:nvSpPr>
        <p:spPr>
          <a:xfrm>
            <a:off x="731520" y="1554480"/>
            <a:ext cx="10058400" cy="1097280"/>
          </a:xfrm>
          <a:prstGeom prst="rect">
            <a:avLst/>
          </a:prstGeom>
          <a:noFill/>
          <a:ln/>
        </p:spPr>
        <p:txBody>
          <a:bodyPr wrap="square" lIns="0" tIns="0" rIns="0" bIns="0" rtlCol="0" anchor="t"/>
          <a:lstStyle/>
          <a:p>
            <a:pPr indent="0" marL="0">
              <a:buNone/>
            </a:pPr>
            <a:r>
              <a:rPr lang="en-US" sz="6000" b="1" dirty="0">
                <a:solidFill>
                  <a:srgbClr val="FFFFFF"/>
                </a:solidFill>
                <a:latin typeface="Cambria" pitchFamily="34" charset="0"/>
                <a:ea typeface="Cambria" pitchFamily="34" charset="-122"/>
                <a:cs typeface="Cambria" pitchFamily="34" charset="-120"/>
              </a:rPr>
              <a:t>GridWeave</a:t>
            </a:r>
            <a:endParaRPr lang="en-US" sz="6000" dirty="0"/>
          </a:p>
        </p:txBody>
      </p:sp>
      <p:sp>
        <p:nvSpPr>
          <p:cNvPr id="4" name="Text 2"/>
          <p:cNvSpPr txBox="1"/>
          <p:nvPr/>
        </p:nvSpPr>
        <p:spPr>
          <a:xfrm>
            <a:off x="731520" y="2697480"/>
            <a:ext cx="10241280" cy="822960"/>
          </a:xfrm>
          <a:prstGeom prst="rect">
            <a:avLst/>
          </a:prstGeom>
          <a:noFill/>
          <a:ln/>
        </p:spPr>
        <p:txBody>
          <a:bodyPr wrap="square" lIns="0" tIns="0" rIns="0" bIns="0" rtlCol="0" anchor="t"/>
          <a:lstStyle/>
          <a:p>
            <a:pPr indent="0" marL="0">
              <a:buNone/>
            </a:pPr>
            <a:r>
              <a:rPr lang="en-US" sz="2400" dirty="0">
                <a:solidFill>
                  <a:srgbClr val="CADCFC"/>
                </a:solidFill>
                <a:latin typeface="Calibri" pitchFamily="34" charset="0"/>
                <a:ea typeface="Calibri" pitchFamily="34" charset="-122"/>
                <a:cs typeface="Calibri" pitchFamily="34" charset="-120"/>
              </a:rPr>
              <a:t>Multi-Agent Auction-Based Campus Energy Management &amp; Demand Response</a:t>
            </a:r>
            <a:endParaRPr lang="en-US" sz="2400" dirty="0"/>
          </a:p>
        </p:txBody>
      </p:sp>
      <p:sp>
        <p:nvSpPr>
          <p:cNvPr id="5" name="Text 3"/>
          <p:cNvSpPr txBox="1"/>
          <p:nvPr/>
        </p:nvSpPr>
        <p:spPr>
          <a:xfrm>
            <a:off x="731520" y="3749040"/>
            <a:ext cx="10515600" cy="457200"/>
          </a:xfrm>
          <a:prstGeom prst="rect">
            <a:avLst/>
          </a:prstGeom>
          <a:noFill/>
          <a:ln/>
        </p:spPr>
        <p:txBody>
          <a:bodyPr wrap="square" lIns="0" tIns="0" rIns="0" bIns="0" rtlCol="0" anchor="t"/>
          <a:lstStyle/>
          <a:p>
            <a:pPr indent="0" marL="0">
              <a:buNone/>
            </a:pPr>
            <a:r>
              <a:rPr lang="en-US" sz="1500" dirty="0">
                <a:solidFill>
                  <a:srgbClr val="F2A541"/>
                </a:solidFill>
                <a:latin typeface="Calibri" pitchFamily="34" charset="0"/>
                <a:ea typeface="Calibri" pitchFamily="34" charset="-122"/>
                <a:cs typeface="Calibri" pitchFamily="34" charset="-120"/>
              </a:rPr>
              <a:t>PEAS Formulation  ·  Environment &amp; Agent Analysis  ·  Algorithmic Modeling &amp; Search Strategy</a:t>
            </a:r>
            <a:endParaRPr lang="en-US" sz="1500" dirty="0"/>
          </a:p>
        </p:txBody>
      </p:sp>
      <p:sp>
        <p:nvSpPr>
          <p:cNvPr id="6" name="Text 4"/>
          <p:cNvSpPr txBox="1"/>
          <p:nvPr/>
        </p:nvSpPr>
        <p:spPr>
          <a:xfrm>
            <a:off x="731520" y="5760720"/>
            <a:ext cx="10515600" cy="365760"/>
          </a:xfrm>
          <a:prstGeom prst="rect">
            <a:avLst/>
          </a:prstGeom>
          <a:noFill/>
          <a:ln/>
        </p:spPr>
        <p:txBody>
          <a:bodyPr wrap="square" lIns="0" tIns="0" rIns="0" bIns="0" rtlCol="0" anchor="t"/>
          <a:lstStyle/>
          <a:p>
            <a:pPr indent="0" marL="0">
              <a:buNone/>
            </a:pPr>
            <a:r>
              <a:rPr lang="en-US" sz="1300" dirty="0">
                <a:solidFill>
                  <a:srgbClr val="AFC3DA"/>
                </a:solidFill>
                <a:latin typeface="Calibri" pitchFamily="34" charset="0"/>
                <a:ea typeface="Calibri" pitchFamily="34" charset="-122"/>
                <a:cs typeface="Calibri" pitchFamily="34" charset="-120"/>
              </a:rPr>
              <a:t>Shantharam P   ·   Gauri Nandana S Pai   ·   Akshitha   ·   akolla646</a:t>
            </a:r>
            <a:endParaRPr lang="en-US" sz="1300" dirty="0"/>
          </a:p>
        </p:txBody>
      </p:sp>
      <p:sp>
        <p:nvSpPr>
          <p:cNvPr id="7" name="Shape 5"/>
          <p:cNvSpPr/>
          <p:nvPr/>
        </p:nvSpPr>
        <p:spPr>
          <a:xfrm>
            <a:off x="10332720" y="1097280"/>
            <a:ext cx="1097280" cy="1097280"/>
          </a:xfrm>
          <a:prstGeom prst="ellipse">
            <a:avLst/>
          </a:prstGeom>
          <a:solidFill>
            <a:srgbClr val="F2A541"/>
          </a:solidFill>
          <a:ln w="12700">
            <a:solidFill>
              <a:srgbClr val="F2A541"/>
            </a:solidFill>
            <a:prstDash val="solid"/>
          </a:ln>
        </p:spPr>
      </p:sp>
      <p:pic>
        <p:nvPicPr>
          <p:cNvPr id="8" name="Image 0" descr="preencoded.png">    </p:cNvPr>
          <p:cNvPicPr>
            <a:picLocks noChangeAspect="1"/>
          </p:cNvPicPr>
          <p:nvPr/>
        </p:nvPicPr>
        <p:blipFill>
          <a:blip r:embed="rId1"/>
          <a:stretch>
            <a:fillRect/>
          </a:stretch>
        </p:blipFill>
        <p:spPr>
          <a:xfrm>
            <a:off x="10596067" y="136062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The Problem &amp; Our Approach</a:t>
            </a:r>
            <a:endParaRPr lang="en-US" sz="30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A campus whose supply cannot always meet demand — who gets power, and how is it decided?</a:t>
            </a:r>
            <a:endParaRPr lang="en-US" sz="1400" dirty="0"/>
          </a:p>
        </p:txBody>
      </p:sp>
      <p:sp>
        <p:nvSpPr>
          <p:cNvPr id="4" name="Text 2"/>
          <p:cNvSpPr txBox="1"/>
          <p:nvPr/>
        </p:nvSpPr>
        <p:spPr>
          <a:xfrm>
            <a:off x="548640" y="1600200"/>
            <a:ext cx="2377440" cy="685800"/>
          </a:xfrm>
          <a:prstGeom prst="rect">
            <a:avLst/>
          </a:prstGeom>
          <a:noFill/>
          <a:ln/>
        </p:spPr>
        <p:txBody>
          <a:bodyPr wrap="square" lIns="0" tIns="0" rIns="0" bIns="0" rtlCol="0" anchor="t"/>
          <a:lstStyle/>
          <a:p>
            <a:pPr indent="0" marL="0">
              <a:buNone/>
            </a:pPr>
            <a:r>
              <a:rPr lang="en-US" sz="3800" b="1" dirty="0">
                <a:solidFill>
                  <a:srgbClr val="12263A"/>
                </a:solidFill>
                <a:latin typeface="Cambria" pitchFamily="34" charset="0"/>
                <a:ea typeface="Cambria" pitchFamily="34" charset="-122"/>
                <a:cs typeface="Cambria" pitchFamily="34" charset="-120"/>
              </a:rPr>
              <a:t>420 kW</a:t>
            </a:r>
            <a:endParaRPr lang="en-US" sz="3800" dirty="0"/>
          </a:p>
        </p:txBody>
      </p:sp>
      <p:sp>
        <p:nvSpPr>
          <p:cNvPr id="5" name="Text 3"/>
          <p:cNvSpPr txBox="1"/>
          <p:nvPr/>
        </p:nvSpPr>
        <p:spPr>
          <a:xfrm>
            <a:off x="548640" y="2313432"/>
            <a:ext cx="237744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peak campus demand (09:00–17:00)</a:t>
            </a:r>
            <a:endParaRPr lang="en-US" sz="1250" dirty="0"/>
          </a:p>
        </p:txBody>
      </p:sp>
      <p:sp>
        <p:nvSpPr>
          <p:cNvPr id="6" name="Text 4"/>
          <p:cNvSpPr txBox="1"/>
          <p:nvPr/>
        </p:nvSpPr>
        <p:spPr>
          <a:xfrm>
            <a:off x="3063240" y="1600200"/>
            <a:ext cx="2651760" cy="685800"/>
          </a:xfrm>
          <a:prstGeom prst="rect">
            <a:avLst/>
          </a:prstGeom>
          <a:noFill/>
          <a:ln/>
        </p:spPr>
        <p:txBody>
          <a:bodyPr wrap="square" lIns="0" tIns="0" rIns="0" bIns="0" rtlCol="0" anchor="t"/>
          <a:lstStyle/>
          <a:p>
            <a:pPr indent="0" marL="0">
              <a:buNone/>
            </a:pPr>
            <a:r>
              <a:rPr lang="en-US" sz="3800" b="1" dirty="0">
                <a:solidFill>
                  <a:srgbClr val="1F7A8C"/>
                </a:solidFill>
                <a:latin typeface="Cambria" pitchFamily="34" charset="0"/>
                <a:ea typeface="Cambria" pitchFamily="34" charset="-122"/>
                <a:cs typeface="Cambria" pitchFamily="34" charset="-120"/>
              </a:rPr>
              <a:t>250 kW</a:t>
            </a:r>
            <a:endParaRPr lang="en-US" sz="3800" dirty="0"/>
          </a:p>
        </p:txBody>
      </p:sp>
      <p:sp>
        <p:nvSpPr>
          <p:cNvPr id="7" name="Text 5"/>
          <p:cNvSpPr txBox="1"/>
          <p:nvPr/>
        </p:nvSpPr>
        <p:spPr>
          <a:xfrm>
            <a:off x="3063240" y="2313432"/>
            <a:ext cx="265176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grid connection — the rest must come from solar + battery</a:t>
            </a:r>
            <a:endParaRPr lang="en-US" sz="1250" dirty="0"/>
          </a:p>
        </p:txBody>
      </p:sp>
      <p:sp>
        <p:nvSpPr>
          <p:cNvPr id="8" name="Text 6"/>
          <p:cNvSpPr txBox="1"/>
          <p:nvPr/>
        </p:nvSpPr>
        <p:spPr>
          <a:xfrm>
            <a:off x="5806440" y="1600200"/>
            <a:ext cx="2560320" cy="685800"/>
          </a:xfrm>
          <a:prstGeom prst="rect">
            <a:avLst/>
          </a:prstGeom>
          <a:noFill/>
          <a:ln/>
        </p:spPr>
        <p:txBody>
          <a:bodyPr wrap="square" lIns="0" tIns="0" rIns="0" bIns="0" rtlCol="0" anchor="t"/>
          <a:lstStyle/>
          <a:p>
            <a:pPr indent="0" marL="0">
              <a:buNone/>
            </a:pPr>
            <a:r>
              <a:rPr lang="en-US" sz="3800" b="1" dirty="0">
                <a:solidFill>
                  <a:srgbClr val="D64545"/>
                </a:solidFill>
                <a:latin typeface="Cambria" pitchFamily="34" charset="0"/>
                <a:ea typeface="Cambria" pitchFamily="34" charset="-122"/>
                <a:cs typeface="Cambria" pitchFamily="34" charset="-120"/>
              </a:rPr>
              <a:t>185 kW</a:t>
            </a:r>
            <a:endParaRPr lang="en-US" sz="3800" dirty="0"/>
          </a:p>
        </p:txBody>
      </p:sp>
      <p:sp>
        <p:nvSpPr>
          <p:cNvPr id="9" name="Text 7"/>
          <p:cNvSpPr txBox="1"/>
          <p:nvPr/>
        </p:nvSpPr>
        <p:spPr>
          <a:xfrm>
            <a:off x="5806440" y="2313432"/>
            <a:ext cx="256032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critical load (labs, safety) that must stay on</a:t>
            </a:r>
            <a:endParaRPr lang="en-US" sz="1250" dirty="0"/>
          </a:p>
        </p:txBody>
      </p:sp>
      <p:sp>
        <p:nvSpPr>
          <p:cNvPr id="10" name="Shape 8"/>
          <p:cNvSpPr/>
          <p:nvPr/>
        </p:nvSpPr>
        <p:spPr>
          <a:xfrm>
            <a:off x="548640" y="3063240"/>
            <a:ext cx="7863840" cy="3246120"/>
          </a:xfrm>
          <a:prstGeom prst="roundRect">
            <a:avLst>
              <a:gd name="adj" fmla="val 3380"/>
            </a:avLst>
          </a:prstGeom>
          <a:solidFill>
            <a:srgbClr val="F3F6F9"/>
          </a:solidFill>
          <a:ln w="12700">
            <a:solidFill>
              <a:srgbClr val="F3F6F9"/>
            </a:solidFill>
            <a:prstDash val="solid"/>
          </a:ln>
        </p:spPr>
      </p:sp>
      <p:sp>
        <p:nvSpPr>
          <p:cNvPr id="11" name="Text 9"/>
          <p:cNvSpPr txBox="1"/>
          <p:nvPr/>
        </p:nvSpPr>
        <p:spPr>
          <a:xfrm>
            <a:off x="777240" y="3200400"/>
            <a:ext cx="7498080" cy="365760"/>
          </a:xfrm>
          <a:prstGeom prst="rect">
            <a:avLst/>
          </a:prstGeom>
          <a:noFill/>
          <a:ln/>
        </p:spPr>
        <p:txBody>
          <a:bodyPr wrap="square" lIns="0" tIns="0" rIns="0" bIns="0" rtlCol="0" anchor="t"/>
          <a:lstStyle/>
          <a:p>
            <a:pPr indent="0" marL="0">
              <a:buNone/>
            </a:pPr>
            <a:r>
              <a:rPr lang="en-US" sz="1600" b="1" dirty="0">
                <a:solidFill>
                  <a:srgbClr val="12263A"/>
                </a:solidFill>
                <a:latin typeface="Cambria" pitchFamily="34" charset="0"/>
                <a:ea typeface="Cambria" pitchFamily="34" charset="-122"/>
                <a:cs typeface="Cambria" pitchFamily="34" charset="-120"/>
              </a:rPr>
              <a:t>Our approach: a market of autonomous agents</a:t>
            </a:r>
            <a:endParaRPr lang="en-US" sz="1600" dirty="0"/>
          </a:p>
        </p:txBody>
      </p:sp>
      <p:sp>
        <p:nvSpPr>
          <p:cNvPr id="12" name="Text 10"/>
          <p:cNvSpPr txBox="1"/>
          <p:nvPr/>
        </p:nvSpPr>
        <p:spPr>
          <a:xfrm>
            <a:off x="777240" y="3703320"/>
            <a:ext cx="7452360" cy="2560320"/>
          </a:xfrm>
          <a:prstGeom prst="rect">
            <a:avLst/>
          </a:prstGeom>
          <a:noFill/>
          <a:ln/>
        </p:spPr>
        <p:txBody>
          <a:bodyPr wrap="square" lIns="0" tIns="0" rIns="0" bIns="0" rtlCol="0" anchor="t"/>
          <a:lstStyle/>
          <a:p>
            <a:pPr marL="203200" indent="-203200">
              <a:spcAft>
                <a:spcPts val="600"/>
              </a:spcAft>
              <a:buSzPct val="100000"/>
              <a:buChar char="•"/>
            </a:pPr>
            <a:r>
              <a:rPr lang="en-US" sz="1550" dirty="0">
                <a:solidFill>
                  <a:srgbClr val="1B2430"/>
                </a:solidFill>
                <a:latin typeface="Calibri" pitchFamily="34" charset="0"/>
                <a:ea typeface="Calibri" pitchFamily="34" charset="-122"/>
                <a:cs typeface="Calibri" pitchFamily="34" charset="-120"/>
              </a:rPr>
              <a:t>Each building forecasts its own demand and bids for power, separating critical from flexible load</a:t>
            </a:r>
            <a:endParaRPr lang="en-US" sz="1550" dirty="0"/>
          </a:p>
          <a:p>
            <a:pPr marL="203200" indent="-203200">
              <a:spcAft>
                <a:spcPts val="600"/>
              </a:spcAft>
              <a:buSzPct val="100000"/>
              <a:buChar char="•"/>
            </a:pPr>
            <a:r>
              <a:rPr lang="en-US" sz="1550" dirty="0">
                <a:solidFill>
                  <a:srgbClr val="1B2430"/>
                </a:solidFill>
                <a:latin typeface="Calibri" pitchFamily="34" charset="0"/>
                <a:ea typeface="Calibri" pitchFamily="34" charset="-122"/>
                <a:cs typeface="Calibri" pitchFamily="34" charset="-120"/>
              </a:rPr>
              <a:t>Grid, solar and battery agents offer power with limits and prices</a:t>
            </a:r>
            <a:endParaRPr lang="en-US" sz="1550" dirty="0"/>
          </a:p>
          <a:p>
            <a:pPr marL="203200" indent="-203200">
              <a:spcAft>
                <a:spcPts val="600"/>
              </a:spcAft>
              <a:buSzPct val="100000"/>
              <a:buChar char="•"/>
            </a:pPr>
            <a:r>
              <a:rPr lang="en-US" sz="1550" dirty="0">
                <a:solidFill>
                  <a:srgbClr val="1B2430"/>
                </a:solidFill>
                <a:latin typeface="Calibri" pitchFamily="34" charset="0"/>
                <a:ea typeface="Calibri" pitchFamily="34" charset="-122"/>
                <a:cs typeface="Calibri" pitchFamily="34" charset="-120"/>
              </a:rPr>
              <a:t>A market allocates supply: critical load first, cheapest sources first</a:t>
            </a:r>
            <a:endParaRPr lang="en-US" sz="1550" dirty="0"/>
          </a:p>
          <a:p>
            <a:pPr marL="203200" indent="-203200">
              <a:spcAft>
                <a:spcPts val="600"/>
              </a:spcAft>
              <a:buSzPct val="100000"/>
              <a:buChar char="•"/>
            </a:pPr>
            <a:r>
              <a:rPr lang="en-US" sz="1550" dirty="0">
                <a:solidFill>
                  <a:srgbClr val="1B2430"/>
                </a:solidFill>
                <a:latin typeface="Calibri" pitchFamily="34" charset="0"/>
                <a:ea typeface="Calibri" pitchFamily="34" charset="-122"/>
                <a:cs typeface="Calibri" pitchFamily="34" charset="-120"/>
              </a:rPr>
              <a:t>When supply is short, buildings re-bid and give up flexible load (demand response)</a:t>
            </a:r>
            <a:endParaRPr lang="en-US" sz="1550" dirty="0"/>
          </a:p>
          <a:p>
            <a:pPr marL="203200" indent="-203200">
              <a:spcAft>
                <a:spcPts val="600"/>
              </a:spcAft>
              <a:buSzPct val="100000"/>
              <a:buChar char="•"/>
            </a:pPr>
            <a:r>
              <a:rPr lang="en-US" sz="1550" dirty="0">
                <a:solidFill>
                  <a:srgbClr val="1B2430"/>
                </a:solidFill>
                <a:latin typeface="Calibri" pitchFamily="34" charset="0"/>
                <a:ea typeface="Calibri" pitchFamily="34" charset="-122"/>
                <a:cs typeface="Calibri" pitchFamily="34" charset="-120"/>
              </a:rPr>
              <a:t>After each 15-minute slot, buildings settle against what they really needed</a:t>
            </a:r>
            <a:endParaRPr lang="en-US" sz="1550" dirty="0"/>
          </a:p>
        </p:txBody>
      </p:sp>
      <p:sp>
        <p:nvSpPr>
          <p:cNvPr id="13" name="Shape 11"/>
          <p:cNvSpPr/>
          <p:nvPr/>
        </p:nvSpPr>
        <p:spPr>
          <a:xfrm>
            <a:off x="8732520" y="1600200"/>
            <a:ext cx="2926080" cy="868680"/>
          </a:xfrm>
          <a:prstGeom prst="roundRect">
            <a:avLst>
              <a:gd name="adj" fmla="val 12632"/>
            </a:avLst>
          </a:prstGeom>
          <a:solidFill>
            <a:srgbClr val="2A78D6"/>
          </a:solidFill>
          <a:ln w="12700">
            <a:solidFill>
              <a:srgbClr val="2A78D6"/>
            </a:solidFill>
            <a:prstDash val="solid"/>
          </a:ln>
        </p:spPr>
      </p:sp>
      <p:pic>
        <p:nvPicPr>
          <p:cNvPr id="14" name="Image 0" descr="preencoded.png">    </p:cNvPr>
          <p:cNvPicPr>
            <a:picLocks noChangeAspect="1"/>
          </p:cNvPicPr>
          <p:nvPr/>
        </p:nvPicPr>
        <p:blipFill>
          <a:blip r:embed="rId1"/>
          <a:stretch>
            <a:fillRect/>
          </a:stretch>
        </p:blipFill>
        <p:spPr>
          <a:xfrm>
            <a:off x="8915400" y="1819656"/>
            <a:ext cx="420624" cy="420624"/>
          </a:xfrm>
          <a:prstGeom prst="rect">
            <a:avLst/>
          </a:prstGeom>
        </p:spPr>
      </p:pic>
      <p:sp>
        <p:nvSpPr>
          <p:cNvPr id="15" name="Text 12"/>
          <p:cNvSpPr txBox="1"/>
          <p:nvPr/>
        </p:nvSpPr>
        <p:spPr>
          <a:xfrm>
            <a:off x="9464040" y="1600200"/>
            <a:ext cx="210312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Building agents ×5</a:t>
            </a:r>
            <a:endParaRPr lang="en-US" sz="1400" dirty="0"/>
          </a:p>
        </p:txBody>
      </p:sp>
      <p:sp>
        <p:nvSpPr>
          <p:cNvPr id="16" name="Text 13"/>
          <p:cNvSpPr txBox="1"/>
          <p:nvPr/>
        </p:nvSpPr>
        <p:spPr>
          <a:xfrm>
            <a:off x="8732520" y="2468880"/>
            <a:ext cx="2926080" cy="320040"/>
          </a:xfrm>
          <a:prstGeom prst="rect">
            <a:avLst/>
          </a:prstGeom>
          <a:noFill/>
          <a:ln/>
        </p:spPr>
        <p:txBody>
          <a:bodyPr wrap="square" lIns="0" tIns="0" rIns="0" bIns="0" rtlCol="0" anchor="ctr"/>
          <a:lstStyle/>
          <a:p>
            <a:pPr algn="ctr" indent="0" marL="0">
              <a:buNone/>
            </a:pPr>
            <a:r>
              <a:rPr lang="en-US" sz="1050" dirty="0">
                <a:solidFill>
                  <a:srgbClr val="5B6675"/>
                </a:solidFill>
                <a:latin typeface="Calibri" pitchFamily="34" charset="0"/>
                <a:ea typeface="Calibri" pitchFamily="34" charset="-122"/>
                <a:cs typeface="Calibri" pitchFamily="34" charset="-120"/>
              </a:rPr>
              <a:t>bids ↓</a:t>
            </a:r>
            <a:endParaRPr lang="en-US" sz="1050" dirty="0"/>
          </a:p>
        </p:txBody>
      </p:sp>
      <p:sp>
        <p:nvSpPr>
          <p:cNvPr id="17" name="Shape 14"/>
          <p:cNvSpPr/>
          <p:nvPr/>
        </p:nvSpPr>
        <p:spPr>
          <a:xfrm>
            <a:off x="8732520" y="2788920"/>
            <a:ext cx="2926080" cy="868680"/>
          </a:xfrm>
          <a:prstGeom prst="roundRect">
            <a:avLst>
              <a:gd name="adj" fmla="val 12632"/>
            </a:avLst>
          </a:prstGeom>
          <a:solidFill>
            <a:srgbClr val="12263A"/>
          </a:solidFill>
          <a:ln w="12700">
            <a:solidFill>
              <a:srgbClr val="12263A"/>
            </a:solidFill>
            <a:prstDash val="solid"/>
          </a:ln>
        </p:spPr>
      </p:sp>
      <p:pic>
        <p:nvPicPr>
          <p:cNvPr id="18" name="Image 1" descr="preencoded.png">    </p:cNvPr>
          <p:cNvPicPr>
            <a:picLocks noChangeAspect="1"/>
          </p:cNvPicPr>
          <p:nvPr/>
        </p:nvPicPr>
        <p:blipFill>
          <a:blip r:embed="rId2"/>
          <a:stretch>
            <a:fillRect/>
          </a:stretch>
        </p:blipFill>
        <p:spPr>
          <a:xfrm>
            <a:off x="8915400" y="3008376"/>
            <a:ext cx="420624" cy="420624"/>
          </a:xfrm>
          <a:prstGeom prst="rect">
            <a:avLst/>
          </a:prstGeom>
        </p:spPr>
      </p:pic>
      <p:sp>
        <p:nvSpPr>
          <p:cNvPr id="19" name="Text 15"/>
          <p:cNvSpPr txBox="1"/>
          <p:nvPr/>
        </p:nvSpPr>
        <p:spPr>
          <a:xfrm>
            <a:off x="9464040" y="2788920"/>
            <a:ext cx="210312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Market (auction)</a:t>
            </a:r>
            <a:endParaRPr lang="en-US" sz="1400" dirty="0"/>
          </a:p>
        </p:txBody>
      </p:sp>
      <p:sp>
        <p:nvSpPr>
          <p:cNvPr id="20" name="Text 16"/>
          <p:cNvSpPr txBox="1"/>
          <p:nvPr/>
        </p:nvSpPr>
        <p:spPr>
          <a:xfrm>
            <a:off x="8732520" y="3657600"/>
            <a:ext cx="2926080" cy="320040"/>
          </a:xfrm>
          <a:prstGeom prst="rect">
            <a:avLst/>
          </a:prstGeom>
          <a:noFill/>
          <a:ln/>
        </p:spPr>
        <p:txBody>
          <a:bodyPr wrap="square" lIns="0" tIns="0" rIns="0" bIns="0" rtlCol="0" anchor="ctr"/>
          <a:lstStyle/>
          <a:p>
            <a:pPr algn="ctr" indent="0" marL="0">
              <a:buNone/>
            </a:pPr>
            <a:r>
              <a:rPr lang="en-US" sz="1050" dirty="0">
                <a:solidFill>
                  <a:srgbClr val="5B6675"/>
                </a:solidFill>
                <a:latin typeface="Calibri" pitchFamily="34" charset="0"/>
                <a:ea typeface="Calibri" pitchFamily="34" charset="-122"/>
                <a:cs typeface="Calibri" pitchFamily="34" charset="-120"/>
              </a:rPr>
              <a:t>allocations &amp; dispatch ↓</a:t>
            </a:r>
            <a:endParaRPr lang="en-US" sz="1050" dirty="0"/>
          </a:p>
        </p:txBody>
      </p:sp>
      <p:sp>
        <p:nvSpPr>
          <p:cNvPr id="21" name="Shape 17"/>
          <p:cNvSpPr/>
          <p:nvPr/>
        </p:nvSpPr>
        <p:spPr>
          <a:xfrm>
            <a:off x="8732520" y="3977640"/>
            <a:ext cx="2926080" cy="868680"/>
          </a:xfrm>
          <a:prstGeom prst="roundRect">
            <a:avLst>
              <a:gd name="adj" fmla="val 12632"/>
            </a:avLst>
          </a:prstGeom>
          <a:solidFill>
            <a:srgbClr val="1F7A8C"/>
          </a:solidFill>
          <a:ln w="12700">
            <a:solidFill>
              <a:srgbClr val="1F7A8C"/>
            </a:solidFill>
            <a:prstDash val="solid"/>
          </a:ln>
        </p:spPr>
      </p:sp>
      <p:pic>
        <p:nvPicPr>
          <p:cNvPr id="22" name="Image 2" descr="preencoded.png">    </p:cNvPr>
          <p:cNvPicPr>
            <a:picLocks noChangeAspect="1"/>
          </p:cNvPicPr>
          <p:nvPr/>
        </p:nvPicPr>
        <p:blipFill>
          <a:blip r:embed="rId3"/>
          <a:stretch>
            <a:fillRect/>
          </a:stretch>
        </p:blipFill>
        <p:spPr>
          <a:xfrm>
            <a:off x="8915400" y="4197096"/>
            <a:ext cx="420624" cy="420624"/>
          </a:xfrm>
          <a:prstGeom prst="rect">
            <a:avLst/>
          </a:prstGeom>
        </p:spPr>
      </p:pic>
      <p:sp>
        <p:nvSpPr>
          <p:cNvPr id="23" name="Text 18"/>
          <p:cNvSpPr txBox="1"/>
          <p:nvPr/>
        </p:nvSpPr>
        <p:spPr>
          <a:xfrm>
            <a:off x="9464040" y="3977640"/>
            <a:ext cx="210312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Grid · Solar · Battery</a:t>
            </a:r>
            <a:endParaRPr lang="en-US" sz="1400" dirty="0"/>
          </a:p>
        </p:txBody>
      </p:sp>
      <p:sp>
        <p:nvSpPr>
          <p:cNvPr id="24" name="Text 19"/>
          <p:cNvSpPr txBox="1"/>
          <p:nvPr/>
        </p:nvSpPr>
        <p:spPr>
          <a:xfrm>
            <a:off x="8732520" y="4846320"/>
            <a:ext cx="2926080" cy="320040"/>
          </a:xfrm>
          <a:prstGeom prst="rect">
            <a:avLst/>
          </a:prstGeom>
          <a:noFill/>
          <a:ln/>
        </p:spPr>
        <p:txBody>
          <a:bodyPr wrap="square" lIns="0" tIns="0" rIns="0" bIns="0" rtlCol="0" anchor="ctr"/>
          <a:lstStyle/>
          <a:p>
            <a:pPr algn="ctr" indent="0" marL="0">
              <a:buNone/>
            </a:pPr>
            <a:r>
              <a:rPr lang="en-US" sz="1050" dirty="0">
                <a:solidFill>
                  <a:srgbClr val="5B6675"/>
                </a:solidFill>
                <a:latin typeface="Calibri" pitchFamily="34" charset="0"/>
                <a:ea typeface="Calibri" pitchFamily="34" charset="-122"/>
                <a:cs typeface="Calibri" pitchFamily="34" charset="-120"/>
              </a:rPr>
              <a:t>settlement &amp; events ↓</a:t>
            </a:r>
            <a:endParaRPr lang="en-US" sz="1050" dirty="0"/>
          </a:p>
        </p:txBody>
      </p:sp>
      <p:sp>
        <p:nvSpPr>
          <p:cNvPr id="25" name="Shape 20"/>
          <p:cNvSpPr/>
          <p:nvPr/>
        </p:nvSpPr>
        <p:spPr>
          <a:xfrm>
            <a:off x="8732520" y="5166360"/>
            <a:ext cx="2926080" cy="868680"/>
          </a:xfrm>
          <a:prstGeom prst="roundRect">
            <a:avLst>
              <a:gd name="adj" fmla="val 12632"/>
            </a:avLst>
          </a:prstGeom>
          <a:solidFill>
            <a:srgbClr val="EB6834"/>
          </a:solidFill>
          <a:ln w="12700">
            <a:solidFill>
              <a:srgbClr val="EB6834"/>
            </a:solidFill>
            <a:prstDash val="solid"/>
          </a:ln>
        </p:spPr>
      </p:sp>
      <p:pic>
        <p:nvPicPr>
          <p:cNvPr id="26" name="Image 3" descr="preencoded.png">    </p:cNvPr>
          <p:cNvPicPr>
            <a:picLocks noChangeAspect="1"/>
          </p:cNvPicPr>
          <p:nvPr/>
        </p:nvPicPr>
        <p:blipFill>
          <a:blip r:embed="rId4"/>
          <a:stretch>
            <a:fillRect/>
          </a:stretch>
        </p:blipFill>
        <p:spPr>
          <a:xfrm>
            <a:off x="8915400" y="5385816"/>
            <a:ext cx="420624" cy="420624"/>
          </a:xfrm>
          <a:prstGeom prst="rect">
            <a:avLst/>
          </a:prstGeom>
        </p:spPr>
      </p:pic>
      <p:sp>
        <p:nvSpPr>
          <p:cNvPr id="27" name="Text 21"/>
          <p:cNvSpPr txBox="1"/>
          <p:nvPr/>
        </p:nvSpPr>
        <p:spPr>
          <a:xfrm>
            <a:off x="9464040" y="5166360"/>
            <a:ext cx="210312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Coordinator (15-min loop)</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PEAS — Building Agent</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PEAS Formulation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Every building (hostel, lab, library, classroom, office) runs one of these agents</a:t>
            </a:r>
            <a:endParaRPr lang="en-US" sz="1400" dirty="0"/>
          </a:p>
        </p:txBody>
      </p:sp>
      <p:sp>
        <p:nvSpPr>
          <p:cNvPr id="6" name="Shape 4"/>
          <p:cNvSpPr/>
          <p:nvPr/>
        </p:nvSpPr>
        <p:spPr>
          <a:xfrm>
            <a:off x="548640" y="1508760"/>
            <a:ext cx="11109960" cy="1078992"/>
          </a:xfrm>
          <a:prstGeom prst="roundRect">
            <a:avLst>
              <a:gd name="adj" fmla="val 10169"/>
            </a:avLst>
          </a:prstGeom>
          <a:solidFill>
            <a:srgbClr val="F3F6F9"/>
          </a:solidFill>
          <a:ln w="12700">
            <a:solidFill>
              <a:srgbClr val="F3F6F9"/>
            </a:solidFill>
            <a:prstDash val="solid"/>
          </a:ln>
        </p:spPr>
      </p:sp>
      <p:sp>
        <p:nvSpPr>
          <p:cNvPr id="7" name="Shape 5"/>
          <p:cNvSpPr/>
          <p:nvPr/>
        </p:nvSpPr>
        <p:spPr>
          <a:xfrm>
            <a:off x="749808" y="1755648"/>
            <a:ext cx="585216" cy="585216"/>
          </a:xfrm>
          <a:prstGeom prst="ellipse">
            <a:avLst/>
          </a:prstGeom>
          <a:solidFill>
            <a:srgbClr val="F2A541"/>
          </a:solidFill>
          <a:ln w="12700">
            <a:solidFill>
              <a:srgbClr val="F2A541"/>
            </a:solidFill>
            <a:prstDash val="solid"/>
          </a:ln>
        </p:spPr>
      </p:sp>
      <p:pic>
        <p:nvPicPr>
          <p:cNvPr id="8" name="Image 0" descr="preencoded.png">    </p:cNvPr>
          <p:cNvPicPr>
            <a:picLocks noChangeAspect="1"/>
          </p:cNvPicPr>
          <p:nvPr/>
        </p:nvPicPr>
        <p:blipFill>
          <a:blip r:embed="rId1"/>
          <a:stretch>
            <a:fillRect/>
          </a:stretch>
        </p:blipFill>
        <p:spPr>
          <a:xfrm>
            <a:off x="890260" y="1896100"/>
            <a:ext cx="304312" cy="304312"/>
          </a:xfrm>
          <a:prstGeom prst="rect">
            <a:avLst/>
          </a:prstGeom>
        </p:spPr>
      </p:pic>
      <p:sp>
        <p:nvSpPr>
          <p:cNvPr id="9" name="Text 6"/>
          <p:cNvSpPr txBox="1"/>
          <p:nvPr/>
        </p:nvSpPr>
        <p:spPr>
          <a:xfrm>
            <a:off x="1508760" y="1691640"/>
            <a:ext cx="2103120" cy="411480"/>
          </a:xfrm>
          <a:prstGeom prst="rect">
            <a:avLst/>
          </a:prstGeom>
          <a:noFill/>
          <a:ln/>
        </p:spPr>
        <p:txBody>
          <a:bodyPr wrap="square" lIns="0" tIns="0" rIns="0" bIns="0" rtlCol="0" anchor="t"/>
          <a:lstStyle/>
          <a:p>
            <a:pPr indent="0" marL="0">
              <a:buNone/>
            </a:pPr>
            <a:r>
              <a:rPr lang="en-US" sz="1800" b="1" dirty="0">
                <a:solidFill>
                  <a:srgbClr val="12263A"/>
                </a:solidFill>
                <a:latin typeface="Cambria" pitchFamily="34" charset="0"/>
                <a:ea typeface="Cambria" pitchFamily="34" charset="-122"/>
                <a:cs typeface="Cambria" pitchFamily="34" charset="-120"/>
              </a:rPr>
              <a:t>Performance</a:t>
            </a:r>
            <a:endParaRPr lang="en-US" sz="1800" dirty="0"/>
          </a:p>
        </p:txBody>
      </p:sp>
      <p:sp>
        <p:nvSpPr>
          <p:cNvPr id="10" name="Text 7"/>
          <p:cNvSpPr txBox="1"/>
          <p:nvPr/>
        </p:nvSpPr>
        <p:spPr>
          <a:xfrm>
            <a:off x="1508760" y="2093976"/>
            <a:ext cx="2103120" cy="320040"/>
          </a:xfrm>
          <a:prstGeom prst="rect">
            <a:avLst/>
          </a:prstGeom>
          <a:noFill/>
          <a:ln/>
        </p:spPr>
        <p:txBody>
          <a:bodyPr wrap="square" lIns="0" tIns="0" rIns="0" bIns="0" rtlCol="0" anchor="t"/>
          <a:lstStyle/>
          <a:p>
            <a:pPr indent="0" marL="0">
              <a:buNone/>
            </a:pPr>
            <a:r>
              <a:rPr lang="en-US" sz="1250" i="1" dirty="0">
                <a:solidFill>
                  <a:srgbClr val="1F7A8C"/>
                </a:solidFill>
                <a:latin typeface="Calibri" pitchFamily="34" charset="0"/>
                <a:ea typeface="Calibri" pitchFamily="34" charset="-122"/>
                <a:cs typeface="Calibri" pitchFamily="34" charset="-120"/>
              </a:rPr>
              <a:t>How we judge it</a:t>
            </a:r>
            <a:endParaRPr lang="en-US" sz="1250" dirty="0"/>
          </a:p>
        </p:txBody>
      </p:sp>
      <p:sp>
        <p:nvSpPr>
          <p:cNvPr id="11" name="Text 8"/>
          <p:cNvSpPr txBox="1"/>
          <p:nvPr/>
        </p:nvSpPr>
        <p:spPr>
          <a:xfrm>
            <a:off x="3657600" y="1600200"/>
            <a:ext cx="7818120" cy="896112"/>
          </a:xfrm>
          <a:prstGeom prst="rect">
            <a:avLst/>
          </a:prstGeom>
          <a:noFill/>
          <a:ln/>
        </p:spPr>
        <p:txBody>
          <a:bodyPr wrap="square" lIns="0" tIns="0" rIns="0" bIns="0" rtlCol="0" anchor="ctr"/>
          <a:lstStyle/>
          <a:p>
            <a:pPr indent="0" marL="0">
              <a:buNone/>
            </a:pPr>
            <a:r>
              <a:rPr lang="en-US" sz="1450" dirty="0">
                <a:solidFill>
                  <a:srgbClr val="1B2430"/>
                </a:solidFill>
                <a:latin typeface="Calibri" pitchFamily="34" charset="0"/>
                <a:ea typeface="Calibri" pitchFamily="34" charset="-122"/>
                <a:cs typeface="Calibri" pitchFamily="34" charset="-120"/>
              </a:rPr>
              <a:t>Did the building get the power it actually needed — above all, did its critical load (labs, safety systems) stay on? We also count energy postponed or dropped, how close its forecast was, and what the energy cost.</a:t>
            </a:r>
            <a:endParaRPr lang="en-US" sz="1450" dirty="0"/>
          </a:p>
        </p:txBody>
      </p:sp>
      <p:sp>
        <p:nvSpPr>
          <p:cNvPr id="12" name="Shape 9"/>
          <p:cNvSpPr/>
          <p:nvPr/>
        </p:nvSpPr>
        <p:spPr>
          <a:xfrm>
            <a:off x="548640" y="2724912"/>
            <a:ext cx="11109960" cy="1078992"/>
          </a:xfrm>
          <a:prstGeom prst="roundRect">
            <a:avLst>
              <a:gd name="adj" fmla="val 10169"/>
            </a:avLst>
          </a:prstGeom>
          <a:solidFill>
            <a:srgbClr val="F3F6F9"/>
          </a:solidFill>
          <a:ln w="12700">
            <a:solidFill>
              <a:srgbClr val="F3F6F9"/>
            </a:solidFill>
            <a:prstDash val="solid"/>
          </a:ln>
        </p:spPr>
      </p:sp>
      <p:sp>
        <p:nvSpPr>
          <p:cNvPr id="13" name="Shape 10"/>
          <p:cNvSpPr/>
          <p:nvPr/>
        </p:nvSpPr>
        <p:spPr>
          <a:xfrm>
            <a:off x="749808" y="2971800"/>
            <a:ext cx="585216" cy="585216"/>
          </a:xfrm>
          <a:prstGeom prst="ellipse">
            <a:avLst/>
          </a:prstGeom>
          <a:solidFill>
            <a:srgbClr val="F2A541"/>
          </a:solidFill>
          <a:ln w="12700">
            <a:solidFill>
              <a:srgbClr val="F2A541"/>
            </a:solidFill>
            <a:prstDash val="solid"/>
          </a:ln>
        </p:spPr>
      </p:sp>
      <p:pic>
        <p:nvPicPr>
          <p:cNvPr id="14" name="Image 1" descr="preencoded.png">    </p:cNvPr>
          <p:cNvPicPr>
            <a:picLocks noChangeAspect="1"/>
          </p:cNvPicPr>
          <p:nvPr/>
        </p:nvPicPr>
        <p:blipFill>
          <a:blip r:embed="rId2"/>
          <a:stretch>
            <a:fillRect/>
          </a:stretch>
        </p:blipFill>
        <p:spPr>
          <a:xfrm>
            <a:off x="890260" y="3112252"/>
            <a:ext cx="304312" cy="304312"/>
          </a:xfrm>
          <a:prstGeom prst="rect">
            <a:avLst/>
          </a:prstGeom>
        </p:spPr>
      </p:pic>
      <p:sp>
        <p:nvSpPr>
          <p:cNvPr id="15" name="Text 11"/>
          <p:cNvSpPr txBox="1"/>
          <p:nvPr/>
        </p:nvSpPr>
        <p:spPr>
          <a:xfrm>
            <a:off x="1508760" y="2907792"/>
            <a:ext cx="2103120" cy="411480"/>
          </a:xfrm>
          <a:prstGeom prst="rect">
            <a:avLst/>
          </a:prstGeom>
          <a:noFill/>
          <a:ln/>
        </p:spPr>
        <p:txBody>
          <a:bodyPr wrap="square" lIns="0" tIns="0" rIns="0" bIns="0" rtlCol="0" anchor="t"/>
          <a:lstStyle/>
          <a:p>
            <a:pPr indent="0" marL="0">
              <a:buNone/>
            </a:pPr>
            <a:r>
              <a:rPr lang="en-US" sz="1800" b="1" dirty="0">
                <a:solidFill>
                  <a:srgbClr val="12263A"/>
                </a:solidFill>
                <a:latin typeface="Cambria" pitchFamily="34" charset="0"/>
                <a:ea typeface="Cambria" pitchFamily="34" charset="-122"/>
                <a:cs typeface="Cambria" pitchFamily="34" charset="-120"/>
              </a:rPr>
              <a:t>Environment</a:t>
            </a:r>
            <a:endParaRPr lang="en-US" sz="1800" dirty="0"/>
          </a:p>
        </p:txBody>
      </p:sp>
      <p:sp>
        <p:nvSpPr>
          <p:cNvPr id="16" name="Text 12"/>
          <p:cNvSpPr txBox="1"/>
          <p:nvPr/>
        </p:nvSpPr>
        <p:spPr>
          <a:xfrm>
            <a:off x="1508760" y="3310128"/>
            <a:ext cx="2103120" cy="320040"/>
          </a:xfrm>
          <a:prstGeom prst="rect">
            <a:avLst/>
          </a:prstGeom>
          <a:noFill/>
          <a:ln/>
        </p:spPr>
        <p:txBody>
          <a:bodyPr wrap="square" lIns="0" tIns="0" rIns="0" bIns="0" rtlCol="0" anchor="t"/>
          <a:lstStyle/>
          <a:p>
            <a:pPr indent="0" marL="0">
              <a:buNone/>
            </a:pPr>
            <a:r>
              <a:rPr lang="en-US" sz="1250" i="1" dirty="0">
                <a:solidFill>
                  <a:srgbClr val="1F7A8C"/>
                </a:solidFill>
                <a:latin typeface="Calibri" pitchFamily="34" charset="0"/>
                <a:ea typeface="Calibri" pitchFamily="34" charset="-122"/>
                <a:cs typeface="Calibri" pitchFamily="34" charset="-120"/>
              </a:rPr>
              <a:t>What it lives in</a:t>
            </a:r>
            <a:endParaRPr lang="en-US" sz="1250" dirty="0"/>
          </a:p>
        </p:txBody>
      </p:sp>
      <p:sp>
        <p:nvSpPr>
          <p:cNvPr id="17" name="Text 13"/>
          <p:cNvSpPr txBox="1"/>
          <p:nvPr/>
        </p:nvSpPr>
        <p:spPr>
          <a:xfrm>
            <a:off x="3657600" y="2816352"/>
            <a:ext cx="7818120" cy="896112"/>
          </a:xfrm>
          <a:prstGeom prst="rect">
            <a:avLst/>
          </a:prstGeom>
          <a:noFill/>
          <a:ln/>
        </p:spPr>
        <p:txBody>
          <a:bodyPr wrap="square" lIns="0" tIns="0" rIns="0" bIns="0" rtlCol="0" anchor="ctr"/>
          <a:lstStyle/>
          <a:p>
            <a:pPr indent="0" marL="0">
              <a:buNone/>
            </a:pPr>
            <a:r>
              <a:rPr lang="en-US" sz="1450" dirty="0">
                <a:solidFill>
                  <a:srgbClr val="1B2430"/>
                </a:solidFill>
                <a:latin typeface="Calibri" pitchFamily="34" charset="0"/>
                <a:ea typeface="Calibri" pitchFamily="34" charset="-122"/>
                <a:cs typeface="Calibri" pitchFamily="34" charset="-120"/>
              </a:rPr>
              <a:t>Its own electricity use, which rises and falls with the daily routine and has random spikes; the campus market it bids into; and shortage warnings from the coordinator. Time moves in 15-minute steps.</a:t>
            </a:r>
            <a:endParaRPr lang="en-US" sz="1450" dirty="0"/>
          </a:p>
        </p:txBody>
      </p:sp>
      <p:sp>
        <p:nvSpPr>
          <p:cNvPr id="18" name="Shape 14"/>
          <p:cNvSpPr/>
          <p:nvPr/>
        </p:nvSpPr>
        <p:spPr>
          <a:xfrm>
            <a:off x="548640" y="3941064"/>
            <a:ext cx="11109960" cy="1078992"/>
          </a:xfrm>
          <a:prstGeom prst="roundRect">
            <a:avLst>
              <a:gd name="adj" fmla="val 10169"/>
            </a:avLst>
          </a:prstGeom>
          <a:solidFill>
            <a:srgbClr val="F3F6F9"/>
          </a:solidFill>
          <a:ln w="12700">
            <a:solidFill>
              <a:srgbClr val="F3F6F9"/>
            </a:solidFill>
            <a:prstDash val="solid"/>
          </a:ln>
        </p:spPr>
      </p:sp>
      <p:sp>
        <p:nvSpPr>
          <p:cNvPr id="19" name="Shape 15"/>
          <p:cNvSpPr/>
          <p:nvPr/>
        </p:nvSpPr>
        <p:spPr>
          <a:xfrm>
            <a:off x="749808" y="4187952"/>
            <a:ext cx="585216" cy="585216"/>
          </a:xfrm>
          <a:prstGeom prst="ellipse">
            <a:avLst/>
          </a:prstGeom>
          <a:solidFill>
            <a:srgbClr val="F2A541"/>
          </a:solidFill>
          <a:ln w="12700">
            <a:solidFill>
              <a:srgbClr val="F2A541"/>
            </a:solidFill>
            <a:prstDash val="solid"/>
          </a:ln>
        </p:spPr>
      </p:sp>
      <p:pic>
        <p:nvPicPr>
          <p:cNvPr id="20" name="Image 2" descr="preencoded.png">    </p:cNvPr>
          <p:cNvPicPr>
            <a:picLocks noChangeAspect="1"/>
          </p:cNvPicPr>
          <p:nvPr/>
        </p:nvPicPr>
        <p:blipFill>
          <a:blip r:embed="rId3"/>
          <a:stretch>
            <a:fillRect/>
          </a:stretch>
        </p:blipFill>
        <p:spPr>
          <a:xfrm>
            <a:off x="890260" y="4328404"/>
            <a:ext cx="304312" cy="304312"/>
          </a:xfrm>
          <a:prstGeom prst="rect">
            <a:avLst/>
          </a:prstGeom>
        </p:spPr>
      </p:pic>
      <p:sp>
        <p:nvSpPr>
          <p:cNvPr id="21" name="Text 16"/>
          <p:cNvSpPr txBox="1"/>
          <p:nvPr/>
        </p:nvSpPr>
        <p:spPr>
          <a:xfrm>
            <a:off x="1508760" y="4123944"/>
            <a:ext cx="2103120" cy="411480"/>
          </a:xfrm>
          <a:prstGeom prst="rect">
            <a:avLst/>
          </a:prstGeom>
          <a:noFill/>
          <a:ln/>
        </p:spPr>
        <p:txBody>
          <a:bodyPr wrap="square" lIns="0" tIns="0" rIns="0" bIns="0" rtlCol="0" anchor="t"/>
          <a:lstStyle/>
          <a:p>
            <a:pPr indent="0" marL="0">
              <a:buNone/>
            </a:pPr>
            <a:r>
              <a:rPr lang="en-US" sz="1800" b="1" dirty="0">
                <a:solidFill>
                  <a:srgbClr val="12263A"/>
                </a:solidFill>
                <a:latin typeface="Cambria" pitchFamily="34" charset="0"/>
                <a:ea typeface="Cambria" pitchFamily="34" charset="-122"/>
                <a:cs typeface="Cambria" pitchFamily="34" charset="-120"/>
              </a:rPr>
              <a:t>Actuators</a:t>
            </a:r>
            <a:endParaRPr lang="en-US" sz="1800" dirty="0"/>
          </a:p>
        </p:txBody>
      </p:sp>
      <p:sp>
        <p:nvSpPr>
          <p:cNvPr id="22" name="Text 17"/>
          <p:cNvSpPr txBox="1"/>
          <p:nvPr/>
        </p:nvSpPr>
        <p:spPr>
          <a:xfrm>
            <a:off x="1508760" y="4526280"/>
            <a:ext cx="2103120" cy="320040"/>
          </a:xfrm>
          <a:prstGeom prst="rect">
            <a:avLst/>
          </a:prstGeom>
          <a:noFill/>
          <a:ln/>
        </p:spPr>
        <p:txBody>
          <a:bodyPr wrap="square" lIns="0" tIns="0" rIns="0" bIns="0" rtlCol="0" anchor="t"/>
          <a:lstStyle/>
          <a:p>
            <a:pPr indent="0" marL="0">
              <a:buNone/>
            </a:pPr>
            <a:r>
              <a:rPr lang="en-US" sz="1250" i="1" dirty="0">
                <a:solidFill>
                  <a:srgbClr val="1F7A8C"/>
                </a:solidFill>
                <a:latin typeface="Calibri" pitchFamily="34" charset="0"/>
                <a:ea typeface="Calibri" pitchFamily="34" charset="-122"/>
                <a:cs typeface="Calibri" pitchFamily="34" charset="-120"/>
              </a:rPr>
              <a:t>What it can do</a:t>
            </a:r>
            <a:endParaRPr lang="en-US" sz="1250" dirty="0"/>
          </a:p>
        </p:txBody>
      </p:sp>
      <p:sp>
        <p:nvSpPr>
          <p:cNvPr id="23" name="Text 18"/>
          <p:cNvSpPr txBox="1"/>
          <p:nvPr/>
        </p:nvSpPr>
        <p:spPr>
          <a:xfrm>
            <a:off x="3657600" y="4032504"/>
            <a:ext cx="7818120" cy="896112"/>
          </a:xfrm>
          <a:prstGeom prst="rect">
            <a:avLst/>
          </a:prstGeom>
          <a:noFill/>
          <a:ln/>
        </p:spPr>
        <p:txBody>
          <a:bodyPr wrap="square" lIns="0" tIns="0" rIns="0" bIns="0" rtlCol="0" anchor="ctr"/>
          <a:lstStyle/>
          <a:p>
            <a:pPr indent="0" marL="0">
              <a:buNone/>
            </a:pPr>
            <a:r>
              <a:rPr lang="en-US" sz="1450" dirty="0">
                <a:solidFill>
                  <a:srgbClr val="1B2430"/>
                </a:solidFill>
                <a:latin typeface="Calibri" pitchFamily="34" charset="0"/>
                <a:ea typeface="Calibri" pitchFamily="34" charset="-122"/>
                <a:cs typeface="Calibri" pitchFamily="34" charset="-120"/>
              </a:rPr>
              <a:t>Place a bid split into must-have, should-have and nice-to-have power. When power is short, lower the bid by giving up flexible load. After each slot, power critical load first and postpone or drop the rest.</a:t>
            </a:r>
            <a:endParaRPr lang="en-US" sz="1450" dirty="0"/>
          </a:p>
        </p:txBody>
      </p:sp>
      <p:sp>
        <p:nvSpPr>
          <p:cNvPr id="24" name="Shape 19"/>
          <p:cNvSpPr/>
          <p:nvPr/>
        </p:nvSpPr>
        <p:spPr>
          <a:xfrm>
            <a:off x="548640" y="5157216"/>
            <a:ext cx="11109960" cy="1078992"/>
          </a:xfrm>
          <a:prstGeom prst="roundRect">
            <a:avLst>
              <a:gd name="adj" fmla="val 10169"/>
            </a:avLst>
          </a:prstGeom>
          <a:solidFill>
            <a:srgbClr val="F3F6F9"/>
          </a:solidFill>
          <a:ln w="12700">
            <a:solidFill>
              <a:srgbClr val="F3F6F9"/>
            </a:solidFill>
            <a:prstDash val="solid"/>
          </a:ln>
        </p:spPr>
      </p:sp>
      <p:sp>
        <p:nvSpPr>
          <p:cNvPr id="25" name="Shape 20"/>
          <p:cNvSpPr/>
          <p:nvPr/>
        </p:nvSpPr>
        <p:spPr>
          <a:xfrm>
            <a:off x="749808" y="5404104"/>
            <a:ext cx="585216" cy="585216"/>
          </a:xfrm>
          <a:prstGeom prst="ellipse">
            <a:avLst/>
          </a:prstGeom>
          <a:solidFill>
            <a:srgbClr val="F2A541"/>
          </a:solidFill>
          <a:ln w="12700">
            <a:solidFill>
              <a:srgbClr val="F2A541"/>
            </a:solidFill>
            <a:prstDash val="solid"/>
          </a:ln>
        </p:spPr>
      </p:sp>
      <p:pic>
        <p:nvPicPr>
          <p:cNvPr id="26" name="Image 3" descr="preencoded.png">    </p:cNvPr>
          <p:cNvPicPr>
            <a:picLocks noChangeAspect="1"/>
          </p:cNvPicPr>
          <p:nvPr/>
        </p:nvPicPr>
        <p:blipFill>
          <a:blip r:embed="rId4"/>
          <a:stretch>
            <a:fillRect/>
          </a:stretch>
        </p:blipFill>
        <p:spPr>
          <a:xfrm>
            <a:off x="890260" y="5544556"/>
            <a:ext cx="304312" cy="304312"/>
          </a:xfrm>
          <a:prstGeom prst="rect">
            <a:avLst/>
          </a:prstGeom>
        </p:spPr>
      </p:pic>
      <p:sp>
        <p:nvSpPr>
          <p:cNvPr id="27" name="Text 21"/>
          <p:cNvSpPr txBox="1"/>
          <p:nvPr/>
        </p:nvSpPr>
        <p:spPr>
          <a:xfrm>
            <a:off x="1508760" y="5340096"/>
            <a:ext cx="2103120" cy="411480"/>
          </a:xfrm>
          <a:prstGeom prst="rect">
            <a:avLst/>
          </a:prstGeom>
          <a:noFill/>
          <a:ln/>
        </p:spPr>
        <p:txBody>
          <a:bodyPr wrap="square" lIns="0" tIns="0" rIns="0" bIns="0" rtlCol="0" anchor="t"/>
          <a:lstStyle/>
          <a:p>
            <a:pPr indent="0" marL="0">
              <a:buNone/>
            </a:pPr>
            <a:r>
              <a:rPr lang="en-US" sz="1800" b="1" dirty="0">
                <a:solidFill>
                  <a:srgbClr val="12263A"/>
                </a:solidFill>
                <a:latin typeface="Cambria" pitchFamily="34" charset="0"/>
                <a:ea typeface="Cambria" pitchFamily="34" charset="-122"/>
                <a:cs typeface="Cambria" pitchFamily="34" charset="-120"/>
              </a:rPr>
              <a:t>Sensors</a:t>
            </a:r>
            <a:endParaRPr lang="en-US" sz="1800" dirty="0"/>
          </a:p>
        </p:txBody>
      </p:sp>
      <p:sp>
        <p:nvSpPr>
          <p:cNvPr id="28" name="Text 22"/>
          <p:cNvSpPr txBox="1"/>
          <p:nvPr/>
        </p:nvSpPr>
        <p:spPr>
          <a:xfrm>
            <a:off x="1508760" y="5742432"/>
            <a:ext cx="2103120" cy="320040"/>
          </a:xfrm>
          <a:prstGeom prst="rect">
            <a:avLst/>
          </a:prstGeom>
          <a:noFill/>
          <a:ln/>
        </p:spPr>
        <p:txBody>
          <a:bodyPr wrap="square" lIns="0" tIns="0" rIns="0" bIns="0" rtlCol="0" anchor="t"/>
          <a:lstStyle/>
          <a:p>
            <a:pPr indent="0" marL="0">
              <a:buNone/>
            </a:pPr>
            <a:r>
              <a:rPr lang="en-US" sz="1250" i="1" dirty="0">
                <a:solidFill>
                  <a:srgbClr val="1F7A8C"/>
                </a:solidFill>
                <a:latin typeface="Calibri" pitchFamily="34" charset="0"/>
                <a:ea typeface="Calibri" pitchFamily="34" charset="-122"/>
                <a:cs typeface="Calibri" pitchFamily="34" charset="-120"/>
              </a:rPr>
              <a:t>What it can see</a:t>
            </a:r>
            <a:endParaRPr lang="en-US" sz="1250" dirty="0"/>
          </a:p>
        </p:txBody>
      </p:sp>
      <p:sp>
        <p:nvSpPr>
          <p:cNvPr id="29" name="Text 23"/>
          <p:cNvSpPr txBox="1"/>
          <p:nvPr/>
        </p:nvSpPr>
        <p:spPr>
          <a:xfrm>
            <a:off x="3657600" y="5248656"/>
            <a:ext cx="7818120" cy="896112"/>
          </a:xfrm>
          <a:prstGeom prst="rect">
            <a:avLst/>
          </a:prstGeom>
          <a:noFill/>
          <a:ln/>
        </p:spPr>
        <p:txBody>
          <a:bodyPr wrap="square" lIns="0" tIns="0" rIns="0" bIns="0" rtlCol="0" anchor="ctr"/>
          <a:lstStyle/>
          <a:p>
            <a:pPr indent="0" marL="0">
              <a:buNone/>
            </a:pPr>
            <a:r>
              <a:rPr lang="en-US" sz="1450" dirty="0">
                <a:solidFill>
                  <a:srgbClr val="1B2430"/>
                </a:solidFill>
                <a:latin typeface="Calibri" pitchFamily="34" charset="0"/>
                <a:ea typeface="Calibri" pitchFamily="34" charset="-122"/>
                <a:cs typeface="Calibri" pitchFamily="34" charset="-120"/>
              </a:rPr>
              <a:t>Its own electricity meter, the shortage warning, and how much power it was granted. It cannot see other buildings' bids or its own future demand — so it has to forecast.</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PEAS — The Other Agents</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PEAS Formulation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The market decides who gets power; three supply agents provide it; the coordinator keeps time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109960" cy="914400"/>
        </p:xfrm>
        <a:graphic>
          <a:graphicData uri="http://schemas.openxmlformats.org/drawingml/2006/table">
            <a:tbl>
              <a:tblPr/>
              <a:tblGrid>
                <a:gridCol w="1691640"/>
                <a:gridCol w="1883664"/>
                <a:gridCol w="1883664"/>
                <a:gridCol w="1883664"/>
                <a:gridCol w="1883664"/>
                <a:gridCol w="1883664"/>
              </a:tblGrid>
              <a:tr h="502920">
                <a:tc>
                  <a:txBody>
                    <a:bodyPr/>
                    <a:lstStyle/>
                    <a:p>
                      <a:pPr indent="0" marL="0">
                        <a:buNone/>
                      </a:pP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Market</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Grid</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Solar</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Battery</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Coordinator</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r>
              <a:tr h="1143000">
                <a:tc>
                  <a:txBody>
                    <a:bodyPr/>
                    <a:lstStyle/>
                    <a:p>
                      <a:pPr indent="0" marL="0">
                        <a:buNone/>
                      </a:pPr>
                      <a:r>
                        <a:rPr lang="en-US" sz="1350" b="1" dirty="0">
                          <a:solidFill>
                            <a:srgbClr val="12263A"/>
                          </a:solidFill>
                          <a:latin typeface="Calibri" pitchFamily="34" charset="0"/>
                          <a:ea typeface="Calibri" pitchFamily="34" charset="-122"/>
                          <a:cs typeface="Calibri" pitchFamily="34" charset="-120"/>
                        </a:rPr>
                        <a:t>Performance</a:t>
                      </a:r>
                      <a:endParaRPr lang="en-US" sz="1350" dirty="0">
                        <a:latin typeface="Calibri" charset="0"/>
                        <a:ea typeface="Calibri" charset="0"/>
                        <a:cs typeface="Calibri" charset="0"/>
                      </a:endParaRPr>
                    </a:p>
                    <a:p>
                      <a:pPr indent="0" marL="0">
                        <a:buNone/>
                      </a:pPr>
                      <a:r>
                        <a:rPr lang="en-US" sz="1350" b="1" dirty="0">
                          <a:solidFill>
                            <a:srgbClr val="12263A"/>
                          </a:solidFill>
                          <a:latin typeface="Calibri" pitchFamily="34" charset="0"/>
                          <a:ea typeface="Calibri" pitchFamily="34" charset="-122"/>
                          <a:cs typeface="Calibri" pitchFamily="34" charset="-120"/>
                        </a:rPr>
                        <a:t>(its goal)</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Keep critical load on, then share the rest fairly and efficiently</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Supply power reliably at the going price</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Use as much free sunlight as possible</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Be available when power is expensive or the grid fails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Keep the campus running: no energy lost, no agent left waiting</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1051560">
                <a:tc>
                  <a:txBody>
                    <a:bodyPr/>
                    <a:lstStyle/>
                    <a:p>
                      <a:pPr indent="0" marL="0">
                        <a:buNone/>
                      </a:pPr>
                      <a:r>
                        <a:rPr lang="en-US" sz="1350" b="1" dirty="0">
                          <a:solidFill>
                            <a:srgbClr val="12263A"/>
                          </a:solidFill>
                          <a:latin typeface="Calibri" pitchFamily="34" charset="0"/>
                          <a:ea typeface="Calibri" pitchFamily="34" charset="-122"/>
                          <a:cs typeface="Calibri" pitchFamily="34" charset="-120"/>
                        </a:rPr>
                        <a:t>Environment</a:t>
                      </a:r>
                      <a:endParaRPr lang="en-US" sz="1350" dirty="0">
                        <a:latin typeface="Calibri" charset="0"/>
                        <a:ea typeface="Calibri" charset="0"/>
                        <a:cs typeface="Calibri" charset="0"/>
                      </a:endParaRPr>
                    </a:p>
                    <a:p>
                      <a:pPr indent="0" marL="0">
                        <a:buNone/>
                      </a:pPr>
                      <a:r>
                        <a:rPr lang="en-US" sz="1350" b="1" dirty="0">
                          <a:solidFill>
                            <a:srgbClr val="12263A"/>
                          </a:solidFill>
                          <a:latin typeface="Calibri" pitchFamily="34" charset="0"/>
                          <a:ea typeface="Calibri" pitchFamily="34" charset="-122"/>
                          <a:cs typeface="Calibri" pitchFamily="34" charset="-120"/>
                        </a:rPr>
                        <a:t>(its world)</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All bids and supply offers for the current slot</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Time-of-day tariff; possible outages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Sunlight and cloud cover</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Its own charge; electricity prices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Every agent, plus planned events (outages, clouds, price spikes)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1234440">
                <a:tc>
                  <a:txBody>
                    <a:bodyPr/>
                    <a:lstStyle/>
                    <a:p>
                      <a:pPr indent="0" marL="0">
                        <a:buNone/>
                      </a:pPr>
                      <a:r>
                        <a:rPr lang="en-US" sz="1350" b="1" dirty="0">
                          <a:solidFill>
                            <a:srgbClr val="12263A"/>
                          </a:solidFill>
                          <a:latin typeface="Calibri" pitchFamily="34" charset="0"/>
                          <a:ea typeface="Calibri" pitchFamily="34" charset="-122"/>
                          <a:cs typeface="Calibri" pitchFamily="34" charset="-120"/>
                        </a:rPr>
                        <a:t>Actuators</a:t>
                      </a:r>
                      <a:endParaRPr lang="en-US" sz="1350" dirty="0">
                        <a:latin typeface="Calibri" charset="0"/>
                        <a:ea typeface="Calibri" charset="0"/>
                        <a:cs typeface="Calibri" charset="0"/>
                      </a:endParaRPr>
                    </a:p>
                    <a:p>
                      <a:pPr indent="0" marL="0">
                        <a:buNone/>
                      </a:pPr>
                      <a:r>
                        <a:rPr lang="en-US" sz="1350" b="1" dirty="0">
                          <a:solidFill>
                            <a:srgbClr val="12263A"/>
                          </a:solidFill>
                          <a:latin typeface="Calibri" pitchFamily="34" charset="0"/>
                          <a:ea typeface="Calibri" pitchFamily="34" charset="-122"/>
                          <a:cs typeface="Calibri" pitchFamily="34" charset="-120"/>
                        </a:rPr>
                        <a:t>(what it can do)</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Decide who gets how much power, and from which source</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Offer power and a price; deliver it</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Offer free solar power; deliver it</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Offer power priced by what its charge cost; charge at night; discharge</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Move the clock, trigger events, run bidding rounds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1051560">
                <a:tc>
                  <a:txBody>
                    <a:bodyPr/>
                    <a:lstStyle/>
                    <a:p>
                      <a:pPr indent="0" marL="0">
                        <a:buNone/>
                      </a:pPr>
                      <a:r>
                        <a:rPr lang="en-US" sz="1350" b="1" dirty="0">
                          <a:solidFill>
                            <a:srgbClr val="12263A"/>
                          </a:solidFill>
                          <a:latin typeface="Calibri" pitchFamily="34" charset="0"/>
                          <a:ea typeface="Calibri" pitchFamily="34" charset="-122"/>
                          <a:cs typeface="Calibri" pitchFamily="34" charset="-120"/>
                        </a:rPr>
                        <a:t>Sensors</a:t>
                      </a:r>
                      <a:endParaRPr lang="en-US" sz="1350" dirty="0">
                        <a:latin typeface="Calibri" charset="0"/>
                        <a:ea typeface="Calibri" charset="0"/>
                        <a:cs typeface="Calibri" charset="0"/>
                      </a:endParaRPr>
                    </a:p>
                    <a:p>
                      <a:pPr indent="0" marL="0">
                        <a:buNone/>
                      </a:pPr>
                      <a:r>
                        <a:rPr lang="en-US" sz="1350" b="1" dirty="0">
                          <a:solidFill>
                            <a:srgbClr val="12263A"/>
                          </a:solidFill>
                          <a:latin typeface="Calibri" pitchFamily="34" charset="0"/>
                          <a:ea typeface="Calibri" pitchFamily="34" charset="-122"/>
                          <a:cs typeface="Calibri" pitchFamily="34" charset="-120"/>
                        </a:rPr>
                        <a:t>(what it sees)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The bids and offers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The clock, outage events, delivery requests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The clock, weather events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Its charge level, cost of stored energy, delivery requests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Every message and every failure</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Environment Analysis</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Environment &amp; Agent Analysis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Classifying the task environment the agents operate in</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109960" cy="914400"/>
        </p:xfrm>
        <a:graphic>
          <a:graphicData uri="http://schemas.openxmlformats.org/drawingml/2006/table">
            <a:tbl>
              <a:tblPr/>
              <a:tblGrid>
                <a:gridCol w="1828800"/>
                <a:gridCol w="2926080"/>
                <a:gridCol w="6355080"/>
              </a:tblGrid>
              <a:tr h="62179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Property</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GridWeave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Observable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Partially observable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A building sees only its own meter and the scarcity signal — never other bids or its future demand</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Deterministic</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Stochastic</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Demand has noise and spikes; supply has outages and cloud; outcomes depend on other agents</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Episodic</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Sequential</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Deferred energy, battery charge and each building's deprivation carry consequences forward</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Static</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Dynamic</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Demand, solar and tariffs change every slot; outages happen mid-run</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Discrete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Discrete time, continuous values</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15-minute slots; power (kW) and energy (kWh) are real numbers</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Agents</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Multi-agent: competitive + cooperative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Buildings compete through the market; the market maximises campus welfare</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621792">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Known</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Known rules</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latin typeface="Calibri" pitchFamily="34" charset="0"/>
                          <a:ea typeface="Calibri" pitchFamily="34" charset="-122"/>
                          <a:cs typeface="Calibri" pitchFamily="34" charset="-120"/>
                        </a:rPr>
                        <a:t>Market, settlement and physics rules are fixed and documented</a:t>
                      </a:r>
                      <a:endParaRPr lang="en-US" sz="14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Agent Analysis — Types &amp; Why Multi-Agent</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Environment &amp; Agent Analysis · 3M</a:t>
            </a:r>
            <a:endParaRPr lang="en-US" sz="1150" dirty="0"/>
          </a:p>
        </p:txBody>
      </p:sp>
      <p:sp>
        <p:nvSpPr>
          <p:cNvPr id="5" name="Shape 3"/>
          <p:cNvSpPr/>
          <p:nvPr/>
        </p:nvSpPr>
        <p:spPr>
          <a:xfrm>
            <a:off x="548640" y="1325880"/>
            <a:ext cx="6949440" cy="868680"/>
          </a:xfrm>
          <a:prstGeom prst="roundRect">
            <a:avLst>
              <a:gd name="adj" fmla="val 12632"/>
            </a:avLst>
          </a:prstGeom>
          <a:solidFill>
            <a:srgbClr val="F3F6F9"/>
          </a:solidFill>
          <a:ln w="12700">
            <a:solidFill>
              <a:srgbClr val="F3F6F9"/>
            </a:solidFill>
            <a:prstDash val="solid"/>
          </a:ln>
        </p:spPr>
      </p:sp>
      <p:sp>
        <p:nvSpPr>
          <p:cNvPr id="6" name="Shape 4"/>
          <p:cNvSpPr/>
          <p:nvPr/>
        </p:nvSpPr>
        <p:spPr>
          <a:xfrm>
            <a:off x="713232" y="1481328"/>
            <a:ext cx="548640" cy="548640"/>
          </a:xfrm>
          <a:prstGeom prst="ellipse">
            <a:avLst/>
          </a:prstGeom>
          <a:solidFill>
            <a:srgbClr val="F2A541"/>
          </a:solidFill>
          <a:ln w="12700">
            <a:solidFill>
              <a:srgbClr val="F2A541"/>
            </a:solidFill>
            <a:prstDash val="solid"/>
          </a:ln>
        </p:spPr>
      </p:sp>
      <p:pic>
        <p:nvPicPr>
          <p:cNvPr id="7" name="Image 0" descr="preencoded.png">    </p:cNvPr>
          <p:cNvPicPr>
            <a:picLocks noChangeAspect="1"/>
          </p:cNvPicPr>
          <p:nvPr/>
        </p:nvPicPr>
        <p:blipFill>
          <a:blip r:embed="rId1"/>
          <a:stretch>
            <a:fillRect/>
          </a:stretch>
        </p:blipFill>
        <p:spPr>
          <a:xfrm>
            <a:off x="844906" y="1613002"/>
            <a:ext cx="285293" cy="285293"/>
          </a:xfrm>
          <a:prstGeom prst="rect">
            <a:avLst/>
          </a:prstGeom>
        </p:spPr>
      </p:pic>
      <p:sp>
        <p:nvSpPr>
          <p:cNvPr id="8" name="Text 5"/>
          <p:cNvSpPr txBox="1"/>
          <p:nvPr/>
        </p:nvSpPr>
        <p:spPr>
          <a:xfrm>
            <a:off x="1417320" y="1417320"/>
            <a:ext cx="1463040" cy="685800"/>
          </a:xfrm>
          <a:prstGeom prst="rect">
            <a:avLst/>
          </a:prstGeom>
          <a:noFill/>
          <a:ln/>
        </p:spPr>
        <p:txBody>
          <a:bodyPr wrap="square" lIns="0" tIns="0" rIns="0" bIns="0" rtlCol="0" anchor="ctr"/>
          <a:lstStyle/>
          <a:p>
            <a:pPr indent="0" marL="0">
              <a:buNone/>
            </a:pPr>
            <a:r>
              <a:rPr lang="en-US" sz="1500" b="1" dirty="0">
                <a:solidFill>
                  <a:srgbClr val="12263A"/>
                </a:solidFill>
                <a:latin typeface="Cambria" pitchFamily="34" charset="0"/>
                <a:ea typeface="Cambria" pitchFamily="34" charset="-122"/>
                <a:cs typeface="Cambria" pitchFamily="34" charset="-120"/>
              </a:rPr>
              <a:t>Building</a:t>
            </a:r>
            <a:endParaRPr lang="en-US" sz="1500" dirty="0"/>
          </a:p>
        </p:txBody>
      </p:sp>
      <p:sp>
        <p:nvSpPr>
          <p:cNvPr id="9" name="Text 6"/>
          <p:cNvSpPr txBox="1"/>
          <p:nvPr/>
        </p:nvSpPr>
        <p:spPr>
          <a:xfrm>
            <a:off x="2880360" y="1399032"/>
            <a:ext cx="4480560" cy="329184"/>
          </a:xfrm>
          <a:prstGeom prst="rect">
            <a:avLst/>
          </a:prstGeom>
          <a:noFill/>
          <a:ln/>
        </p:spPr>
        <p:txBody>
          <a:bodyPr wrap="square" lIns="0" tIns="0" rIns="0" bIns="0" rtlCol="0" anchor="t"/>
          <a:lstStyle/>
          <a:p>
            <a:pPr indent="0" marL="0">
              <a:buNone/>
            </a:pPr>
            <a:r>
              <a:rPr lang="en-US" sz="1300" b="1" dirty="0">
                <a:solidFill>
                  <a:srgbClr val="1F7A8C"/>
                </a:solidFill>
                <a:latin typeface="Calibri" pitchFamily="34" charset="0"/>
                <a:ea typeface="Calibri" pitchFamily="34" charset="-122"/>
                <a:cs typeface="Calibri" pitchFamily="34" charset="-120"/>
              </a:rPr>
              <a:t>Model-based agent with a learned model</a:t>
            </a:r>
            <a:endParaRPr lang="en-US" sz="1300" dirty="0"/>
          </a:p>
        </p:txBody>
      </p:sp>
      <p:sp>
        <p:nvSpPr>
          <p:cNvPr id="10" name="Text 7"/>
          <p:cNvSpPr txBox="1"/>
          <p:nvPr/>
        </p:nvSpPr>
        <p:spPr>
          <a:xfrm>
            <a:off x="2880360" y="1728216"/>
            <a:ext cx="4526280" cy="45720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Keeps history, deferred-energy queue and deprivation state; predicts demand with a trained model</a:t>
            </a:r>
            <a:endParaRPr lang="en-US" sz="1150" dirty="0"/>
          </a:p>
        </p:txBody>
      </p:sp>
      <p:sp>
        <p:nvSpPr>
          <p:cNvPr id="11" name="Shape 8"/>
          <p:cNvSpPr/>
          <p:nvPr/>
        </p:nvSpPr>
        <p:spPr>
          <a:xfrm>
            <a:off x="548640" y="2313432"/>
            <a:ext cx="6949440" cy="868680"/>
          </a:xfrm>
          <a:prstGeom prst="roundRect">
            <a:avLst>
              <a:gd name="adj" fmla="val 12632"/>
            </a:avLst>
          </a:prstGeom>
          <a:solidFill>
            <a:srgbClr val="F3F6F9"/>
          </a:solidFill>
          <a:ln w="12700">
            <a:solidFill>
              <a:srgbClr val="F3F6F9"/>
            </a:solidFill>
            <a:prstDash val="solid"/>
          </a:ln>
        </p:spPr>
      </p:sp>
      <p:sp>
        <p:nvSpPr>
          <p:cNvPr id="12" name="Shape 9"/>
          <p:cNvSpPr/>
          <p:nvPr/>
        </p:nvSpPr>
        <p:spPr>
          <a:xfrm>
            <a:off x="713232" y="2468880"/>
            <a:ext cx="548640" cy="548640"/>
          </a:xfrm>
          <a:prstGeom prst="ellipse">
            <a:avLst/>
          </a:prstGeom>
          <a:solidFill>
            <a:srgbClr val="F2A541"/>
          </a:solidFill>
          <a:ln w="12700">
            <a:solidFill>
              <a:srgbClr val="F2A541"/>
            </a:solidFill>
            <a:prstDash val="solid"/>
          </a:ln>
        </p:spPr>
      </p:sp>
      <p:pic>
        <p:nvPicPr>
          <p:cNvPr id="13" name="Image 1" descr="preencoded.png">    </p:cNvPr>
          <p:cNvPicPr>
            <a:picLocks noChangeAspect="1"/>
          </p:cNvPicPr>
          <p:nvPr/>
        </p:nvPicPr>
        <p:blipFill>
          <a:blip r:embed="rId2"/>
          <a:stretch>
            <a:fillRect/>
          </a:stretch>
        </p:blipFill>
        <p:spPr>
          <a:xfrm>
            <a:off x="844906" y="2600554"/>
            <a:ext cx="285293" cy="285293"/>
          </a:xfrm>
          <a:prstGeom prst="rect">
            <a:avLst/>
          </a:prstGeom>
        </p:spPr>
      </p:pic>
      <p:sp>
        <p:nvSpPr>
          <p:cNvPr id="14" name="Text 10"/>
          <p:cNvSpPr txBox="1"/>
          <p:nvPr/>
        </p:nvSpPr>
        <p:spPr>
          <a:xfrm>
            <a:off x="1417320" y="2404872"/>
            <a:ext cx="1463040" cy="685800"/>
          </a:xfrm>
          <a:prstGeom prst="rect">
            <a:avLst/>
          </a:prstGeom>
          <a:noFill/>
          <a:ln/>
        </p:spPr>
        <p:txBody>
          <a:bodyPr wrap="square" lIns="0" tIns="0" rIns="0" bIns="0" rtlCol="0" anchor="ctr"/>
          <a:lstStyle/>
          <a:p>
            <a:pPr indent="0" marL="0">
              <a:buNone/>
            </a:pPr>
            <a:r>
              <a:rPr lang="en-US" sz="1500" b="1" dirty="0">
                <a:solidFill>
                  <a:srgbClr val="12263A"/>
                </a:solidFill>
                <a:latin typeface="Cambria" pitchFamily="34" charset="0"/>
                <a:ea typeface="Cambria" pitchFamily="34" charset="-122"/>
                <a:cs typeface="Cambria" pitchFamily="34" charset="-120"/>
              </a:rPr>
              <a:t>Market</a:t>
            </a:r>
            <a:endParaRPr lang="en-US" sz="1500" dirty="0"/>
          </a:p>
        </p:txBody>
      </p:sp>
      <p:sp>
        <p:nvSpPr>
          <p:cNvPr id="15" name="Text 11"/>
          <p:cNvSpPr txBox="1"/>
          <p:nvPr/>
        </p:nvSpPr>
        <p:spPr>
          <a:xfrm>
            <a:off x="2880360" y="2386584"/>
            <a:ext cx="4480560" cy="329184"/>
          </a:xfrm>
          <a:prstGeom prst="rect">
            <a:avLst/>
          </a:prstGeom>
          <a:noFill/>
          <a:ln/>
        </p:spPr>
        <p:txBody>
          <a:bodyPr wrap="square" lIns="0" tIns="0" rIns="0" bIns="0" rtlCol="0" anchor="t"/>
          <a:lstStyle/>
          <a:p>
            <a:pPr indent="0" marL="0">
              <a:buNone/>
            </a:pPr>
            <a:r>
              <a:rPr lang="en-US" sz="1300" b="1" dirty="0">
                <a:solidFill>
                  <a:srgbClr val="1F7A8C"/>
                </a:solidFill>
                <a:latin typeface="Calibri" pitchFamily="34" charset="0"/>
                <a:ea typeface="Calibri" pitchFamily="34" charset="-122"/>
                <a:cs typeface="Calibri" pitchFamily="34" charset="-120"/>
              </a:rPr>
              <a:t>Utility-based agent</a:t>
            </a:r>
            <a:endParaRPr lang="en-US" sz="1300" dirty="0"/>
          </a:p>
        </p:txBody>
      </p:sp>
      <p:sp>
        <p:nvSpPr>
          <p:cNvPr id="16" name="Text 12"/>
          <p:cNvSpPr txBox="1"/>
          <p:nvPr/>
        </p:nvSpPr>
        <p:spPr>
          <a:xfrm>
            <a:off x="2880360" y="2715768"/>
            <a:ext cx="4526280" cy="45720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Maximises campus welfare under supply and bid constraints</a:t>
            </a:r>
            <a:endParaRPr lang="en-US" sz="1150" dirty="0"/>
          </a:p>
        </p:txBody>
      </p:sp>
      <p:sp>
        <p:nvSpPr>
          <p:cNvPr id="17" name="Shape 13"/>
          <p:cNvSpPr/>
          <p:nvPr/>
        </p:nvSpPr>
        <p:spPr>
          <a:xfrm>
            <a:off x="548640" y="3300984"/>
            <a:ext cx="6949440" cy="868680"/>
          </a:xfrm>
          <a:prstGeom prst="roundRect">
            <a:avLst>
              <a:gd name="adj" fmla="val 12632"/>
            </a:avLst>
          </a:prstGeom>
          <a:solidFill>
            <a:srgbClr val="F3F6F9"/>
          </a:solidFill>
          <a:ln w="12700">
            <a:solidFill>
              <a:srgbClr val="F3F6F9"/>
            </a:solidFill>
            <a:prstDash val="solid"/>
          </a:ln>
        </p:spPr>
      </p:sp>
      <p:sp>
        <p:nvSpPr>
          <p:cNvPr id="18" name="Shape 14"/>
          <p:cNvSpPr/>
          <p:nvPr/>
        </p:nvSpPr>
        <p:spPr>
          <a:xfrm>
            <a:off x="713232" y="3456432"/>
            <a:ext cx="548640" cy="548640"/>
          </a:xfrm>
          <a:prstGeom prst="ellipse">
            <a:avLst/>
          </a:prstGeom>
          <a:solidFill>
            <a:srgbClr val="F2A541"/>
          </a:solidFill>
          <a:ln w="12700">
            <a:solidFill>
              <a:srgbClr val="F2A541"/>
            </a:solidFill>
            <a:prstDash val="solid"/>
          </a:ln>
        </p:spPr>
      </p:sp>
      <p:pic>
        <p:nvPicPr>
          <p:cNvPr id="19" name="Image 2" descr="preencoded.png">    </p:cNvPr>
          <p:cNvPicPr>
            <a:picLocks noChangeAspect="1"/>
          </p:cNvPicPr>
          <p:nvPr/>
        </p:nvPicPr>
        <p:blipFill>
          <a:blip r:embed="rId3"/>
          <a:stretch>
            <a:fillRect/>
          </a:stretch>
        </p:blipFill>
        <p:spPr>
          <a:xfrm>
            <a:off x="844906" y="3588106"/>
            <a:ext cx="285293" cy="285293"/>
          </a:xfrm>
          <a:prstGeom prst="rect">
            <a:avLst/>
          </a:prstGeom>
        </p:spPr>
      </p:pic>
      <p:sp>
        <p:nvSpPr>
          <p:cNvPr id="20" name="Text 15"/>
          <p:cNvSpPr txBox="1"/>
          <p:nvPr/>
        </p:nvSpPr>
        <p:spPr>
          <a:xfrm>
            <a:off x="1417320" y="3392424"/>
            <a:ext cx="1463040" cy="685800"/>
          </a:xfrm>
          <a:prstGeom prst="rect">
            <a:avLst/>
          </a:prstGeom>
          <a:noFill/>
          <a:ln/>
        </p:spPr>
        <p:txBody>
          <a:bodyPr wrap="square" lIns="0" tIns="0" rIns="0" bIns="0" rtlCol="0" anchor="ctr"/>
          <a:lstStyle/>
          <a:p>
            <a:pPr indent="0" marL="0">
              <a:buNone/>
            </a:pPr>
            <a:r>
              <a:rPr lang="en-US" sz="1500" b="1" dirty="0">
                <a:solidFill>
                  <a:srgbClr val="12263A"/>
                </a:solidFill>
                <a:latin typeface="Cambria" pitchFamily="34" charset="0"/>
                <a:ea typeface="Cambria" pitchFamily="34" charset="-122"/>
                <a:cs typeface="Cambria" pitchFamily="34" charset="-120"/>
              </a:rPr>
              <a:t>Battery</a:t>
            </a:r>
            <a:endParaRPr lang="en-US" sz="1500" dirty="0"/>
          </a:p>
        </p:txBody>
      </p:sp>
      <p:sp>
        <p:nvSpPr>
          <p:cNvPr id="21" name="Text 16"/>
          <p:cNvSpPr txBox="1"/>
          <p:nvPr/>
        </p:nvSpPr>
        <p:spPr>
          <a:xfrm>
            <a:off x="2880360" y="3374136"/>
            <a:ext cx="4480560" cy="329184"/>
          </a:xfrm>
          <a:prstGeom prst="rect">
            <a:avLst/>
          </a:prstGeom>
          <a:noFill/>
          <a:ln/>
        </p:spPr>
        <p:txBody>
          <a:bodyPr wrap="square" lIns="0" tIns="0" rIns="0" bIns="0" rtlCol="0" anchor="t"/>
          <a:lstStyle/>
          <a:p>
            <a:pPr indent="0" marL="0">
              <a:buNone/>
            </a:pPr>
            <a:r>
              <a:rPr lang="en-US" sz="1300" b="1" dirty="0">
                <a:solidFill>
                  <a:srgbClr val="1F7A8C"/>
                </a:solidFill>
                <a:latin typeface="Calibri" pitchFamily="34" charset="0"/>
                <a:ea typeface="Calibri" pitchFamily="34" charset="-122"/>
                <a:cs typeface="Calibri" pitchFamily="34" charset="-120"/>
              </a:rPr>
              <a:t>Model-based agent</a:t>
            </a:r>
            <a:endParaRPr lang="en-US" sz="1300" dirty="0"/>
          </a:p>
        </p:txBody>
      </p:sp>
      <p:sp>
        <p:nvSpPr>
          <p:cNvPr id="22" name="Text 17"/>
          <p:cNvSpPr txBox="1"/>
          <p:nvPr/>
        </p:nvSpPr>
        <p:spPr>
          <a:xfrm>
            <a:off x="2880360" y="3703320"/>
            <a:ext cx="4526280" cy="45720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Tracks charge level and the cost of stored energy; prices offers from it</a:t>
            </a:r>
            <a:endParaRPr lang="en-US" sz="1150" dirty="0"/>
          </a:p>
        </p:txBody>
      </p:sp>
      <p:sp>
        <p:nvSpPr>
          <p:cNvPr id="23" name="Shape 18"/>
          <p:cNvSpPr/>
          <p:nvPr/>
        </p:nvSpPr>
        <p:spPr>
          <a:xfrm>
            <a:off x="548640" y="4288536"/>
            <a:ext cx="6949440" cy="868680"/>
          </a:xfrm>
          <a:prstGeom prst="roundRect">
            <a:avLst>
              <a:gd name="adj" fmla="val 12632"/>
            </a:avLst>
          </a:prstGeom>
          <a:solidFill>
            <a:srgbClr val="F3F6F9"/>
          </a:solidFill>
          <a:ln w="12700">
            <a:solidFill>
              <a:srgbClr val="F3F6F9"/>
            </a:solidFill>
            <a:prstDash val="solid"/>
          </a:ln>
        </p:spPr>
      </p:sp>
      <p:sp>
        <p:nvSpPr>
          <p:cNvPr id="24" name="Shape 19"/>
          <p:cNvSpPr/>
          <p:nvPr/>
        </p:nvSpPr>
        <p:spPr>
          <a:xfrm>
            <a:off x="713232" y="4443984"/>
            <a:ext cx="548640" cy="548640"/>
          </a:xfrm>
          <a:prstGeom prst="ellipse">
            <a:avLst/>
          </a:prstGeom>
          <a:solidFill>
            <a:srgbClr val="F2A541"/>
          </a:solidFill>
          <a:ln w="12700">
            <a:solidFill>
              <a:srgbClr val="F2A541"/>
            </a:solidFill>
            <a:prstDash val="solid"/>
          </a:ln>
        </p:spPr>
      </p:sp>
      <p:pic>
        <p:nvPicPr>
          <p:cNvPr id="25" name="Image 3" descr="preencoded.png">    </p:cNvPr>
          <p:cNvPicPr>
            <a:picLocks noChangeAspect="1"/>
          </p:cNvPicPr>
          <p:nvPr/>
        </p:nvPicPr>
        <p:blipFill>
          <a:blip r:embed="rId4"/>
          <a:stretch>
            <a:fillRect/>
          </a:stretch>
        </p:blipFill>
        <p:spPr>
          <a:xfrm>
            <a:off x="844906" y="4575658"/>
            <a:ext cx="285293" cy="285293"/>
          </a:xfrm>
          <a:prstGeom prst="rect">
            <a:avLst/>
          </a:prstGeom>
        </p:spPr>
      </p:pic>
      <p:sp>
        <p:nvSpPr>
          <p:cNvPr id="26" name="Text 20"/>
          <p:cNvSpPr txBox="1"/>
          <p:nvPr/>
        </p:nvSpPr>
        <p:spPr>
          <a:xfrm>
            <a:off x="1417320" y="4379976"/>
            <a:ext cx="1463040" cy="685800"/>
          </a:xfrm>
          <a:prstGeom prst="rect">
            <a:avLst/>
          </a:prstGeom>
          <a:noFill/>
          <a:ln/>
        </p:spPr>
        <p:txBody>
          <a:bodyPr wrap="square" lIns="0" tIns="0" rIns="0" bIns="0" rtlCol="0" anchor="ctr"/>
          <a:lstStyle/>
          <a:p>
            <a:pPr indent="0" marL="0">
              <a:buNone/>
            </a:pPr>
            <a:r>
              <a:rPr lang="en-US" sz="1500" b="1" dirty="0">
                <a:solidFill>
                  <a:srgbClr val="12263A"/>
                </a:solidFill>
                <a:latin typeface="Cambria" pitchFamily="34" charset="0"/>
                <a:ea typeface="Cambria" pitchFamily="34" charset="-122"/>
                <a:cs typeface="Cambria" pitchFamily="34" charset="-120"/>
              </a:rPr>
              <a:t>Grid / Solar</a:t>
            </a:r>
            <a:endParaRPr lang="en-US" sz="1500" dirty="0"/>
          </a:p>
        </p:txBody>
      </p:sp>
      <p:sp>
        <p:nvSpPr>
          <p:cNvPr id="27" name="Text 21"/>
          <p:cNvSpPr txBox="1"/>
          <p:nvPr/>
        </p:nvSpPr>
        <p:spPr>
          <a:xfrm>
            <a:off x="2880360" y="4361688"/>
            <a:ext cx="4480560" cy="329184"/>
          </a:xfrm>
          <a:prstGeom prst="rect">
            <a:avLst/>
          </a:prstGeom>
          <a:noFill/>
          <a:ln/>
        </p:spPr>
        <p:txBody>
          <a:bodyPr wrap="square" lIns="0" tIns="0" rIns="0" bIns="0" rtlCol="0" anchor="t"/>
          <a:lstStyle/>
          <a:p>
            <a:pPr indent="0" marL="0">
              <a:buNone/>
            </a:pPr>
            <a:r>
              <a:rPr lang="en-US" sz="1300" b="1" dirty="0">
                <a:solidFill>
                  <a:srgbClr val="1F7A8C"/>
                </a:solidFill>
                <a:latin typeface="Calibri" pitchFamily="34" charset="0"/>
                <a:ea typeface="Calibri" pitchFamily="34" charset="-122"/>
                <a:cs typeface="Calibri" pitchFamily="34" charset="-120"/>
              </a:rPr>
              <a:t>Simple rule-based agents</a:t>
            </a:r>
            <a:endParaRPr lang="en-US" sz="1300" dirty="0"/>
          </a:p>
        </p:txBody>
      </p:sp>
      <p:sp>
        <p:nvSpPr>
          <p:cNvPr id="28" name="Text 22"/>
          <p:cNvSpPr txBox="1"/>
          <p:nvPr/>
        </p:nvSpPr>
        <p:spPr>
          <a:xfrm>
            <a:off x="2880360" y="4690872"/>
            <a:ext cx="4526280" cy="45720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Offer what is physically available at the current price</a:t>
            </a:r>
            <a:endParaRPr lang="en-US" sz="1150" dirty="0"/>
          </a:p>
        </p:txBody>
      </p:sp>
      <p:sp>
        <p:nvSpPr>
          <p:cNvPr id="29" name="Shape 23"/>
          <p:cNvSpPr/>
          <p:nvPr/>
        </p:nvSpPr>
        <p:spPr>
          <a:xfrm>
            <a:off x="548640" y="5276088"/>
            <a:ext cx="6949440" cy="868680"/>
          </a:xfrm>
          <a:prstGeom prst="roundRect">
            <a:avLst>
              <a:gd name="adj" fmla="val 12632"/>
            </a:avLst>
          </a:prstGeom>
          <a:solidFill>
            <a:srgbClr val="F3F6F9"/>
          </a:solidFill>
          <a:ln w="12700">
            <a:solidFill>
              <a:srgbClr val="F3F6F9"/>
            </a:solidFill>
            <a:prstDash val="solid"/>
          </a:ln>
        </p:spPr>
      </p:sp>
      <p:sp>
        <p:nvSpPr>
          <p:cNvPr id="30" name="Shape 24"/>
          <p:cNvSpPr/>
          <p:nvPr/>
        </p:nvSpPr>
        <p:spPr>
          <a:xfrm>
            <a:off x="713232" y="5431536"/>
            <a:ext cx="548640" cy="548640"/>
          </a:xfrm>
          <a:prstGeom prst="ellipse">
            <a:avLst/>
          </a:prstGeom>
          <a:solidFill>
            <a:srgbClr val="F2A541"/>
          </a:solidFill>
          <a:ln w="12700">
            <a:solidFill>
              <a:srgbClr val="F2A541"/>
            </a:solidFill>
            <a:prstDash val="solid"/>
          </a:ln>
        </p:spPr>
      </p:sp>
      <p:pic>
        <p:nvPicPr>
          <p:cNvPr id="31" name="Image 4" descr="preencoded.png">    </p:cNvPr>
          <p:cNvPicPr>
            <a:picLocks noChangeAspect="1"/>
          </p:cNvPicPr>
          <p:nvPr/>
        </p:nvPicPr>
        <p:blipFill>
          <a:blip r:embed="rId5"/>
          <a:stretch>
            <a:fillRect/>
          </a:stretch>
        </p:blipFill>
        <p:spPr>
          <a:xfrm>
            <a:off x="844906" y="5563210"/>
            <a:ext cx="285293" cy="285293"/>
          </a:xfrm>
          <a:prstGeom prst="rect">
            <a:avLst/>
          </a:prstGeom>
        </p:spPr>
      </p:pic>
      <p:sp>
        <p:nvSpPr>
          <p:cNvPr id="32" name="Text 25"/>
          <p:cNvSpPr txBox="1"/>
          <p:nvPr/>
        </p:nvSpPr>
        <p:spPr>
          <a:xfrm>
            <a:off x="1417320" y="5367528"/>
            <a:ext cx="1463040" cy="685800"/>
          </a:xfrm>
          <a:prstGeom prst="rect">
            <a:avLst/>
          </a:prstGeom>
          <a:noFill/>
          <a:ln/>
        </p:spPr>
        <p:txBody>
          <a:bodyPr wrap="square" lIns="0" tIns="0" rIns="0" bIns="0" rtlCol="0" anchor="ctr"/>
          <a:lstStyle/>
          <a:p>
            <a:pPr indent="0" marL="0">
              <a:buNone/>
            </a:pPr>
            <a:r>
              <a:rPr lang="en-US" sz="1500" b="1" dirty="0">
                <a:solidFill>
                  <a:srgbClr val="12263A"/>
                </a:solidFill>
                <a:latin typeface="Cambria" pitchFamily="34" charset="0"/>
                <a:ea typeface="Cambria" pitchFamily="34" charset="-122"/>
                <a:cs typeface="Cambria" pitchFamily="34" charset="-120"/>
              </a:rPr>
              <a:t>Coordinator</a:t>
            </a:r>
            <a:endParaRPr lang="en-US" sz="1500" dirty="0"/>
          </a:p>
        </p:txBody>
      </p:sp>
      <p:sp>
        <p:nvSpPr>
          <p:cNvPr id="33" name="Text 26"/>
          <p:cNvSpPr txBox="1"/>
          <p:nvPr/>
        </p:nvSpPr>
        <p:spPr>
          <a:xfrm>
            <a:off x="2880360" y="5349240"/>
            <a:ext cx="4480560" cy="329184"/>
          </a:xfrm>
          <a:prstGeom prst="rect">
            <a:avLst/>
          </a:prstGeom>
          <a:noFill/>
          <a:ln/>
        </p:spPr>
        <p:txBody>
          <a:bodyPr wrap="square" lIns="0" tIns="0" rIns="0" bIns="0" rtlCol="0" anchor="t"/>
          <a:lstStyle/>
          <a:p>
            <a:pPr indent="0" marL="0">
              <a:buNone/>
            </a:pPr>
            <a:r>
              <a:rPr lang="en-US" sz="1300" b="1" dirty="0">
                <a:solidFill>
                  <a:srgbClr val="1F7A8C"/>
                </a:solidFill>
                <a:latin typeface="Calibri" pitchFamily="34" charset="0"/>
                <a:ea typeface="Calibri" pitchFamily="34" charset="-122"/>
                <a:cs typeface="Calibri" pitchFamily="34" charset="-120"/>
              </a:rPr>
              <a:t>Orchestrator</a:t>
            </a:r>
            <a:endParaRPr lang="en-US" sz="1300" dirty="0"/>
          </a:p>
        </p:txBody>
      </p:sp>
      <p:sp>
        <p:nvSpPr>
          <p:cNvPr id="34" name="Text 27"/>
          <p:cNvSpPr txBox="1"/>
          <p:nvPr/>
        </p:nvSpPr>
        <p:spPr>
          <a:xfrm>
            <a:off x="2880360" y="5678424"/>
            <a:ext cx="4526280" cy="45720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Runs the loop, applies events, validates every message</a:t>
            </a:r>
            <a:endParaRPr lang="en-US" sz="1150" dirty="0"/>
          </a:p>
        </p:txBody>
      </p:sp>
      <p:sp>
        <p:nvSpPr>
          <p:cNvPr id="35" name="Shape 28"/>
          <p:cNvSpPr/>
          <p:nvPr/>
        </p:nvSpPr>
        <p:spPr>
          <a:xfrm>
            <a:off x="7818120" y="1325880"/>
            <a:ext cx="3840480" cy="4846320"/>
          </a:xfrm>
          <a:prstGeom prst="roundRect">
            <a:avLst>
              <a:gd name="adj" fmla="val 2857"/>
            </a:avLst>
          </a:prstGeom>
          <a:solidFill>
            <a:srgbClr val="FDF1DC"/>
          </a:solidFill>
          <a:ln w="12700">
            <a:solidFill>
              <a:srgbClr val="FDF1DC"/>
            </a:solidFill>
            <a:prstDash val="solid"/>
          </a:ln>
        </p:spPr>
      </p:sp>
      <p:sp>
        <p:nvSpPr>
          <p:cNvPr id="36" name="Text 29"/>
          <p:cNvSpPr txBox="1"/>
          <p:nvPr/>
        </p:nvSpPr>
        <p:spPr>
          <a:xfrm>
            <a:off x="8046720" y="1481328"/>
            <a:ext cx="3474720" cy="731520"/>
          </a:xfrm>
          <a:prstGeom prst="rect">
            <a:avLst/>
          </a:prstGeom>
          <a:noFill/>
          <a:ln/>
        </p:spPr>
        <p:txBody>
          <a:bodyPr wrap="square" lIns="0" tIns="0" rIns="0" bIns="0" rtlCol="0" anchor="t"/>
          <a:lstStyle/>
          <a:p>
            <a:pPr indent="0" marL="0">
              <a:buNone/>
            </a:pPr>
            <a:r>
              <a:rPr lang="en-US" sz="1500" b="1" dirty="0">
                <a:solidFill>
                  <a:srgbClr val="12263A"/>
                </a:solidFill>
                <a:latin typeface="Cambria" pitchFamily="34" charset="0"/>
                <a:ea typeface="Cambria" pitchFamily="34" charset="-122"/>
                <a:cs typeface="Cambria" pitchFamily="34" charset="-120"/>
              </a:rPr>
              <a:t>Why multi-agent, not one central optimiser?</a:t>
            </a:r>
            <a:endParaRPr lang="en-US" sz="1500" dirty="0"/>
          </a:p>
        </p:txBody>
      </p:sp>
      <p:sp>
        <p:nvSpPr>
          <p:cNvPr id="37" name="Text 30"/>
          <p:cNvSpPr txBox="1"/>
          <p:nvPr/>
        </p:nvSpPr>
        <p:spPr>
          <a:xfrm>
            <a:off x="8046720" y="2286000"/>
            <a:ext cx="3429000" cy="37490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B2430"/>
                </a:solidFill>
                <a:latin typeface="Calibri" pitchFamily="34" charset="0"/>
                <a:ea typeface="Calibri" pitchFamily="34" charset="-122"/>
                <a:cs typeface="Calibri" pitchFamily="34" charset="-120"/>
              </a:rPr>
              <a:t>Private information: only a building knows its own demand and can forecast it</a:t>
            </a:r>
            <a:endParaRPr lang="en-US" sz="1250" dirty="0"/>
          </a:p>
          <a:p>
            <a:pPr marL="203200" indent="-203200">
              <a:spcAft>
                <a:spcPts val="600"/>
              </a:spcAft>
              <a:buSzPct val="100000"/>
              <a:buChar char="•"/>
            </a:pPr>
            <a:r>
              <a:rPr lang="en-US" sz="1250" dirty="0">
                <a:solidFill>
                  <a:srgbClr val="1B2430"/>
                </a:solidFill>
                <a:latin typeface="Calibri" pitchFamily="34" charset="0"/>
                <a:ea typeface="Calibri" pitchFamily="34" charset="-122"/>
                <a:cs typeface="Calibri" pitchFamily="34" charset="-120"/>
              </a:rPr>
              <a:t>Decentralised decisions scale: adding a building adds an agent, not complexity</a:t>
            </a:r>
            <a:endParaRPr lang="en-US" sz="1250" dirty="0"/>
          </a:p>
          <a:p>
            <a:pPr marL="203200" indent="-203200">
              <a:spcAft>
                <a:spcPts val="600"/>
              </a:spcAft>
              <a:buSzPct val="100000"/>
              <a:buChar char="•"/>
            </a:pPr>
            <a:r>
              <a:rPr lang="en-US" sz="1250" dirty="0">
                <a:solidFill>
                  <a:srgbClr val="1B2430"/>
                </a:solidFill>
                <a:latin typeface="Calibri" pitchFamily="34" charset="0"/>
                <a:ea typeface="Calibri" pitchFamily="34" charset="-122"/>
                <a:cs typeface="Calibri" pitchFamily="34" charset="-120"/>
              </a:rPr>
              <a:t>Each part can be replaced behind a contract (market, supply, coordinator)</a:t>
            </a:r>
            <a:endParaRPr lang="en-US" sz="1250" dirty="0"/>
          </a:p>
          <a:p>
            <a:pPr marL="203200" indent="-203200">
              <a:spcAft>
                <a:spcPts val="600"/>
              </a:spcAft>
              <a:buSzPct val="100000"/>
              <a:buChar char="•"/>
            </a:pPr>
            <a:r>
              <a:rPr lang="en-US" sz="1250" dirty="0">
                <a:solidFill>
                  <a:srgbClr val="1B2430"/>
                </a:solidFill>
                <a:latin typeface="Calibri" pitchFamily="34" charset="0"/>
                <a:ea typeface="Calibri" pitchFamily="34" charset="-122"/>
                <a:cs typeface="Calibri" pitchFamily="34" charset="-120"/>
              </a:rPr>
              <a:t>A simple reflex building (bid its current reading) fails: it under-bids before the morning ramp and cannot carry postponed energy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How the Agents Interact — One 15-Minute Slot</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Environment &amp; Agent Analysis · 3M</a:t>
            </a:r>
            <a:endParaRPr lang="en-US" sz="1150" dirty="0"/>
          </a:p>
        </p:txBody>
      </p:sp>
      <p:sp>
        <p:nvSpPr>
          <p:cNvPr id="5" name="Shape 3"/>
          <p:cNvSpPr/>
          <p:nvPr/>
        </p:nvSpPr>
        <p:spPr>
          <a:xfrm>
            <a:off x="548640" y="1371600"/>
            <a:ext cx="3593592" cy="1505712"/>
          </a:xfrm>
          <a:prstGeom prst="roundRect">
            <a:avLst>
              <a:gd name="adj" fmla="val 7287"/>
            </a:avLst>
          </a:prstGeom>
          <a:solidFill>
            <a:srgbClr val="F3F6F9"/>
          </a:solidFill>
          <a:ln w="12700">
            <a:solidFill>
              <a:srgbClr val="F3F6F9"/>
            </a:solidFill>
            <a:prstDash val="solid"/>
          </a:ln>
        </p:spPr>
      </p:sp>
      <p:sp>
        <p:nvSpPr>
          <p:cNvPr id="6" name="Shape 4"/>
          <p:cNvSpPr/>
          <p:nvPr/>
        </p:nvSpPr>
        <p:spPr>
          <a:xfrm>
            <a:off x="658368" y="1481328"/>
            <a:ext cx="384048" cy="384048"/>
          </a:xfrm>
          <a:prstGeom prst="ellipse">
            <a:avLst/>
          </a:prstGeom>
          <a:solidFill>
            <a:srgbClr val="F2A541"/>
          </a:solidFill>
          <a:ln w="12700">
            <a:solidFill>
              <a:srgbClr val="F2A541"/>
            </a:solidFill>
            <a:prstDash val="solid"/>
          </a:ln>
        </p:spPr>
      </p:sp>
      <p:sp>
        <p:nvSpPr>
          <p:cNvPr id="7" name="Text 5"/>
          <p:cNvSpPr txBox="1"/>
          <p:nvPr/>
        </p:nvSpPr>
        <p:spPr>
          <a:xfrm>
            <a:off x="658368" y="1481328"/>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133856" y="1481328"/>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Events</a:t>
            </a:r>
            <a:endParaRPr lang="en-US" sz="1300" dirty="0"/>
          </a:p>
        </p:txBody>
      </p:sp>
      <p:sp>
        <p:nvSpPr>
          <p:cNvPr id="9" name="Text 7"/>
          <p:cNvSpPr txBox="1"/>
          <p:nvPr/>
        </p:nvSpPr>
        <p:spPr>
          <a:xfrm>
            <a:off x="676656" y="1938528"/>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Coordinator applies scheduled events (outage, cloud, price spike)</a:t>
            </a:r>
            <a:endParaRPr lang="en-US" sz="1150" dirty="0"/>
          </a:p>
        </p:txBody>
      </p:sp>
      <p:sp>
        <p:nvSpPr>
          <p:cNvPr id="10" name="Shape 8"/>
          <p:cNvSpPr/>
          <p:nvPr/>
        </p:nvSpPr>
        <p:spPr>
          <a:xfrm>
            <a:off x="4306824" y="1371600"/>
            <a:ext cx="3593592" cy="1505712"/>
          </a:xfrm>
          <a:prstGeom prst="roundRect">
            <a:avLst>
              <a:gd name="adj" fmla="val 7287"/>
            </a:avLst>
          </a:prstGeom>
          <a:solidFill>
            <a:srgbClr val="F3F6F9"/>
          </a:solidFill>
          <a:ln w="12700">
            <a:solidFill>
              <a:srgbClr val="F3F6F9"/>
            </a:solidFill>
            <a:prstDash val="solid"/>
          </a:ln>
        </p:spPr>
      </p:sp>
      <p:sp>
        <p:nvSpPr>
          <p:cNvPr id="11" name="Shape 9"/>
          <p:cNvSpPr/>
          <p:nvPr/>
        </p:nvSpPr>
        <p:spPr>
          <a:xfrm>
            <a:off x="4416552" y="1481328"/>
            <a:ext cx="384048" cy="384048"/>
          </a:xfrm>
          <a:prstGeom prst="ellipse">
            <a:avLst/>
          </a:prstGeom>
          <a:solidFill>
            <a:srgbClr val="F2A541"/>
          </a:solidFill>
          <a:ln w="12700">
            <a:solidFill>
              <a:srgbClr val="F2A541"/>
            </a:solidFill>
            <a:prstDash val="solid"/>
          </a:ln>
        </p:spPr>
      </p:sp>
      <p:sp>
        <p:nvSpPr>
          <p:cNvPr id="12" name="Text 10"/>
          <p:cNvSpPr txBox="1"/>
          <p:nvPr/>
        </p:nvSpPr>
        <p:spPr>
          <a:xfrm>
            <a:off x="4416552" y="1481328"/>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4892040" y="1481328"/>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Offers</a:t>
            </a:r>
            <a:endParaRPr lang="en-US" sz="1300" dirty="0"/>
          </a:p>
        </p:txBody>
      </p:sp>
      <p:sp>
        <p:nvSpPr>
          <p:cNvPr id="14" name="Text 12"/>
          <p:cNvSpPr txBox="1"/>
          <p:nvPr/>
        </p:nvSpPr>
        <p:spPr>
          <a:xfrm>
            <a:off x="4434840" y="1938528"/>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Grid, solar and battery offer kW and a price</a:t>
            </a:r>
            <a:endParaRPr lang="en-US" sz="1150" dirty="0"/>
          </a:p>
        </p:txBody>
      </p:sp>
      <p:sp>
        <p:nvSpPr>
          <p:cNvPr id="15" name="Shape 13"/>
          <p:cNvSpPr/>
          <p:nvPr/>
        </p:nvSpPr>
        <p:spPr>
          <a:xfrm>
            <a:off x="8065008" y="1371600"/>
            <a:ext cx="3593592" cy="1505712"/>
          </a:xfrm>
          <a:prstGeom prst="roundRect">
            <a:avLst>
              <a:gd name="adj" fmla="val 7287"/>
            </a:avLst>
          </a:prstGeom>
          <a:solidFill>
            <a:srgbClr val="F3F6F9"/>
          </a:solidFill>
          <a:ln w="12700">
            <a:solidFill>
              <a:srgbClr val="F3F6F9"/>
            </a:solidFill>
            <a:prstDash val="solid"/>
          </a:ln>
        </p:spPr>
      </p:sp>
      <p:sp>
        <p:nvSpPr>
          <p:cNvPr id="16" name="Shape 14"/>
          <p:cNvSpPr/>
          <p:nvPr/>
        </p:nvSpPr>
        <p:spPr>
          <a:xfrm>
            <a:off x="8174736" y="1481328"/>
            <a:ext cx="384048" cy="384048"/>
          </a:xfrm>
          <a:prstGeom prst="ellipse">
            <a:avLst/>
          </a:prstGeom>
          <a:solidFill>
            <a:srgbClr val="F2A541"/>
          </a:solidFill>
          <a:ln w="12700">
            <a:solidFill>
              <a:srgbClr val="F2A541"/>
            </a:solidFill>
            <a:prstDash val="solid"/>
          </a:ln>
        </p:spPr>
      </p:sp>
      <p:sp>
        <p:nvSpPr>
          <p:cNvPr id="17" name="Text 15"/>
          <p:cNvSpPr txBox="1"/>
          <p:nvPr/>
        </p:nvSpPr>
        <p:spPr>
          <a:xfrm>
            <a:off x="8174736" y="1481328"/>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8650224" y="1481328"/>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Bids</a:t>
            </a:r>
            <a:endParaRPr lang="en-US" sz="1300" dirty="0"/>
          </a:p>
        </p:txBody>
      </p:sp>
      <p:sp>
        <p:nvSpPr>
          <p:cNvPr id="19" name="Text 17"/>
          <p:cNvSpPr txBox="1"/>
          <p:nvPr/>
        </p:nvSpPr>
        <p:spPr>
          <a:xfrm>
            <a:off x="8193024" y="1938528"/>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Each building forecasts and bids (critical / minimum / flexible kW)</a:t>
            </a:r>
            <a:endParaRPr lang="en-US" sz="1150" dirty="0"/>
          </a:p>
        </p:txBody>
      </p:sp>
      <p:sp>
        <p:nvSpPr>
          <p:cNvPr id="20" name="Shape 18"/>
          <p:cNvSpPr/>
          <p:nvPr/>
        </p:nvSpPr>
        <p:spPr>
          <a:xfrm>
            <a:off x="548640" y="3041904"/>
            <a:ext cx="3593592" cy="1505712"/>
          </a:xfrm>
          <a:prstGeom prst="roundRect">
            <a:avLst>
              <a:gd name="adj" fmla="val 7287"/>
            </a:avLst>
          </a:prstGeom>
          <a:solidFill>
            <a:srgbClr val="F3F6F9"/>
          </a:solidFill>
          <a:ln w="12700">
            <a:solidFill>
              <a:srgbClr val="F3F6F9"/>
            </a:solidFill>
            <a:prstDash val="solid"/>
          </a:ln>
        </p:spPr>
      </p:sp>
      <p:sp>
        <p:nvSpPr>
          <p:cNvPr id="21" name="Shape 19"/>
          <p:cNvSpPr/>
          <p:nvPr/>
        </p:nvSpPr>
        <p:spPr>
          <a:xfrm>
            <a:off x="658368" y="3151632"/>
            <a:ext cx="384048" cy="384048"/>
          </a:xfrm>
          <a:prstGeom prst="ellipse">
            <a:avLst/>
          </a:prstGeom>
          <a:solidFill>
            <a:srgbClr val="F2A541"/>
          </a:solidFill>
          <a:ln w="12700">
            <a:solidFill>
              <a:srgbClr val="F2A541"/>
            </a:solidFill>
            <a:prstDash val="solid"/>
          </a:ln>
        </p:spPr>
      </p:sp>
      <p:sp>
        <p:nvSpPr>
          <p:cNvPr id="22" name="Text 20"/>
          <p:cNvSpPr txBox="1"/>
          <p:nvPr/>
        </p:nvSpPr>
        <p:spPr>
          <a:xfrm>
            <a:off x="658368" y="3151632"/>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133856" y="3151632"/>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Re-bid</a:t>
            </a:r>
            <a:endParaRPr lang="en-US" sz="1300" dirty="0"/>
          </a:p>
        </p:txBody>
      </p:sp>
      <p:sp>
        <p:nvSpPr>
          <p:cNvPr id="24" name="Text 22"/>
          <p:cNvSpPr txBox="1"/>
          <p:nvPr/>
        </p:nvSpPr>
        <p:spPr>
          <a:xfrm>
            <a:off x="676656" y="3608832"/>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If requests exceed supply, scarcity is announced and buildings trim flexible load</a:t>
            </a:r>
            <a:endParaRPr lang="en-US" sz="1150" dirty="0"/>
          </a:p>
        </p:txBody>
      </p:sp>
      <p:sp>
        <p:nvSpPr>
          <p:cNvPr id="25" name="Shape 23"/>
          <p:cNvSpPr/>
          <p:nvPr/>
        </p:nvSpPr>
        <p:spPr>
          <a:xfrm>
            <a:off x="4306824" y="3041904"/>
            <a:ext cx="3593592" cy="1505712"/>
          </a:xfrm>
          <a:prstGeom prst="roundRect">
            <a:avLst>
              <a:gd name="adj" fmla="val 7287"/>
            </a:avLst>
          </a:prstGeom>
          <a:solidFill>
            <a:srgbClr val="F3F6F9"/>
          </a:solidFill>
          <a:ln w="12700">
            <a:solidFill>
              <a:srgbClr val="F3F6F9"/>
            </a:solidFill>
            <a:prstDash val="solid"/>
          </a:ln>
        </p:spPr>
      </p:sp>
      <p:sp>
        <p:nvSpPr>
          <p:cNvPr id="26" name="Shape 24"/>
          <p:cNvSpPr/>
          <p:nvPr/>
        </p:nvSpPr>
        <p:spPr>
          <a:xfrm>
            <a:off x="4416552" y="3151632"/>
            <a:ext cx="384048" cy="384048"/>
          </a:xfrm>
          <a:prstGeom prst="ellipse">
            <a:avLst/>
          </a:prstGeom>
          <a:solidFill>
            <a:srgbClr val="F2A541"/>
          </a:solidFill>
          <a:ln w="12700">
            <a:solidFill>
              <a:srgbClr val="F2A541"/>
            </a:solidFill>
            <a:prstDash val="solid"/>
          </a:ln>
        </p:spPr>
      </p:sp>
      <p:sp>
        <p:nvSpPr>
          <p:cNvPr id="27" name="Text 25"/>
          <p:cNvSpPr txBox="1"/>
          <p:nvPr/>
        </p:nvSpPr>
        <p:spPr>
          <a:xfrm>
            <a:off x="4416552" y="3151632"/>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5</a:t>
            </a:r>
            <a:endParaRPr lang="en-US" sz="1300" dirty="0"/>
          </a:p>
        </p:txBody>
      </p:sp>
      <p:sp>
        <p:nvSpPr>
          <p:cNvPr id="28" name="Text 26"/>
          <p:cNvSpPr txBox="1"/>
          <p:nvPr/>
        </p:nvSpPr>
        <p:spPr>
          <a:xfrm>
            <a:off x="4892040" y="3151632"/>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Clear</a:t>
            </a:r>
            <a:endParaRPr lang="en-US" sz="1300" dirty="0"/>
          </a:p>
        </p:txBody>
      </p:sp>
      <p:sp>
        <p:nvSpPr>
          <p:cNvPr id="29" name="Text 27"/>
          <p:cNvSpPr txBox="1"/>
          <p:nvPr/>
        </p:nvSpPr>
        <p:spPr>
          <a:xfrm>
            <a:off x="4434840" y="3608832"/>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Market allocates power to buildings and dispatch to sources</a:t>
            </a:r>
            <a:endParaRPr lang="en-US" sz="1150" dirty="0"/>
          </a:p>
        </p:txBody>
      </p:sp>
      <p:sp>
        <p:nvSpPr>
          <p:cNvPr id="30" name="Shape 28"/>
          <p:cNvSpPr/>
          <p:nvPr/>
        </p:nvSpPr>
        <p:spPr>
          <a:xfrm>
            <a:off x="8065008" y="3041904"/>
            <a:ext cx="3593592" cy="1505712"/>
          </a:xfrm>
          <a:prstGeom prst="roundRect">
            <a:avLst>
              <a:gd name="adj" fmla="val 7287"/>
            </a:avLst>
          </a:prstGeom>
          <a:solidFill>
            <a:srgbClr val="F3F6F9"/>
          </a:solidFill>
          <a:ln w="12700">
            <a:solidFill>
              <a:srgbClr val="F3F6F9"/>
            </a:solidFill>
            <a:prstDash val="solid"/>
          </a:ln>
        </p:spPr>
      </p:sp>
      <p:sp>
        <p:nvSpPr>
          <p:cNvPr id="31" name="Shape 29"/>
          <p:cNvSpPr/>
          <p:nvPr/>
        </p:nvSpPr>
        <p:spPr>
          <a:xfrm>
            <a:off x="8174736" y="3151632"/>
            <a:ext cx="384048" cy="384048"/>
          </a:xfrm>
          <a:prstGeom prst="ellipse">
            <a:avLst/>
          </a:prstGeom>
          <a:solidFill>
            <a:srgbClr val="F2A541"/>
          </a:solidFill>
          <a:ln w="12700">
            <a:solidFill>
              <a:srgbClr val="F2A541"/>
            </a:solidFill>
            <a:prstDash val="solid"/>
          </a:ln>
        </p:spPr>
      </p:sp>
      <p:sp>
        <p:nvSpPr>
          <p:cNvPr id="32" name="Text 30"/>
          <p:cNvSpPr txBox="1"/>
          <p:nvPr/>
        </p:nvSpPr>
        <p:spPr>
          <a:xfrm>
            <a:off x="8174736" y="3151632"/>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6</a:t>
            </a:r>
            <a:endParaRPr lang="en-US" sz="1300" dirty="0"/>
          </a:p>
        </p:txBody>
      </p:sp>
      <p:sp>
        <p:nvSpPr>
          <p:cNvPr id="33" name="Text 31"/>
          <p:cNvSpPr txBox="1"/>
          <p:nvPr/>
        </p:nvSpPr>
        <p:spPr>
          <a:xfrm>
            <a:off x="8650224" y="3151632"/>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Dispatch</a:t>
            </a:r>
            <a:endParaRPr lang="en-US" sz="1300" dirty="0"/>
          </a:p>
        </p:txBody>
      </p:sp>
      <p:sp>
        <p:nvSpPr>
          <p:cNvPr id="34" name="Text 32"/>
          <p:cNvSpPr txBox="1"/>
          <p:nvPr/>
        </p:nvSpPr>
        <p:spPr>
          <a:xfrm>
            <a:off x="8193024" y="3608832"/>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Sources deliver; the battery's charge updates</a:t>
            </a:r>
            <a:endParaRPr lang="en-US" sz="1150" dirty="0"/>
          </a:p>
        </p:txBody>
      </p:sp>
      <p:sp>
        <p:nvSpPr>
          <p:cNvPr id="35" name="Shape 33"/>
          <p:cNvSpPr/>
          <p:nvPr/>
        </p:nvSpPr>
        <p:spPr>
          <a:xfrm>
            <a:off x="548640" y="4712208"/>
            <a:ext cx="3593592" cy="1505712"/>
          </a:xfrm>
          <a:prstGeom prst="roundRect">
            <a:avLst>
              <a:gd name="adj" fmla="val 7287"/>
            </a:avLst>
          </a:prstGeom>
          <a:solidFill>
            <a:srgbClr val="F3F6F9"/>
          </a:solidFill>
          <a:ln w="12700">
            <a:solidFill>
              <a:srgbClr val="F3F6F9"/>
            </a:solidFill>
            <a:prstDash val="solid"/>
          </a:ln>
        </p:spPr>
      </p:sp>
      <p:sp>
        <p:nvSpPr>
          <p:cNvPr id="36" name="Shape 34"/>
          <p:cNvSpPr/>
          <p:nvPr/>
        </p:nvSpPr>
        <p:spPr>
          <a:xfrm>
            <a:off x="658368" y="4821936"/>
            <a:ext cx="384048" cy="384048"/>
          </a:xfrm>
          <a:prstGeom prst="ellipse">
            <a:avLst/>
          </a:prstGeom>
          <a:solidFill>
            <a:srgbClr val="F2A541"/>
          </a:solidFill>
          <a:ln w="12700">
            <a:solidFill>
              <a:srgbClr val="F2A541"/>
            </a:solidFill>
            <a:prstDash val="solid"/>
          </a:ln>
        </p:spPr>
      </p:sp>
      <p:sp>
        <p:nvSpPr>
          <p:cNvPr id="37" name="Text 35"/>
          <p:cNvSpPr txBox="1"/>
          <p:nvPr/>
        </p:nvSpPr>
        <p:spPr>
          <a:xfrm>
            <a:off x="658368" y="4821936"/>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7</a:t>
            </a:r>
            <a:endParaRPr lang="en-US" sz="1300" dirty="0"/>
          </a:p>
        </p:txBody>
      </p:sp>
      <p:sp>
        <p:nvSpPr>
          <p:cNvPr id="38" name="Text 36"/>
          <p:cNvSpPr txBox="1"/>
          <p:nvPr/>
        </p:nvSpPr>
        <p:spPr>
          <a:xfrm>
            <a:off x="1133856" y="4821936"/>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Reality</a:t>
            </a:r>
            <a:endParaRPr lang="en-US" sz="1300" dirty="0"/>
          </a:p>
        </p:txBody>
      </p:sp>
      <p:sp>
        <p:nvSpPr>
          <p:cNvPr id="39" name="Text 37"/>
          <p:cNvSpPr txBox="1"/>
          <p:nvPr/>
        </p:nvSpPr>
        <p:spPr>
          <a:xfrm>
            <a:off x="676656" y="5279136"/>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The slot happens — real demand is revealed</a:t>
            </a:r>
            <a:endParaRPr lang="en-US" sz="1150" dirty="0"/>
          </a:p>
        </p:txBody>
      </p:sp>
      <p:sp>
        <p:nvSpPr>
          <p:cNvPr id="40" name="Shape 38"/>
          <p:cNvSpPr/>
          <p:nvPr/>
        </p:nvSpPr>
        <p:spPr>
          <a:xfrm>
            <a:off x="4306824" y="4712208"/>
            <a:ext cx="3593592" cy="1505712"/>
          </a:xfrm>
          <a:prstGeom prst="roundRect">
            <a:avLst>
              <a:gd name="adj" fmla="val 7287"/>
            </a:avLst>
          </a:prstGeom>
          <a:solidFill>
            <a:srgbClr val="F3F6F9"/>
          </a:solidFill>
          <a:ln w="12700">
            <a:solidFill>
              <a:srgbClr val="F3F6F9"/>
            </a:solidFill>
            <a:prstDash val="solid"/>
          </a:ln>
        </p:spPr>
      </p:sp>
      <p:sp>
        <p:nvSpPr>
          <p:cNvPr id="41" name="Shape 39"/>
          <p:cNvSpPr/>
          <p:nvPr/>
        </p:nvSpPr>
        <p:spPr>
          <a:xfrm>
            <a:off x="4416552" y="4821936"/>
            <a:ext cx="384048" cy="384048"/>
          </a:xfrm>
          <a:prstGeom prst="ellipse">
            <a:avLst/>
          </a:prstGeom>
          <a:solidFill>
            <a:srgbClr val="F2A541"/>
          </a:solidFill>
          <a:ln w="12700">
            <a:solidFill>
              <a:srgbClr val="F2A541"/>
            </a:solidFill>
            <a:prstDash val="solid"/>
          </a:ln>
        </p:spPr>
      </p:sp>
      <p:sp>
        <p:nvSpPr>
          <p:cNvPr id="42" name="Text 40"/>
          <p:cNvSpPr txBox="1"/>
          <p:nvPr/>
        </p:nvSpPr>
        <p:spPr>
          <a:xfrm>
            <a:off x="4416552" y="4821936"/>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8</a:t>
            </a:r>
            <a:endParaRPr lang="en-US" sz="1300" dirty="0"/>
          </a:p>
        </p:txBody>
      </p:sp>
      <p:sp>
        <p:nvSpPr>
          <p:cNvPr id="43" name="Text 41"/>
          <p:cNvSpPr txBox="1"/>
          <p:nvPr/>
        </p:nvSpPr>
        <p:spPr>
          <a:xfrm>
            <a:off x="4892040" y="4821936"/>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Settle</a:t>
            </a:r>
            <a:endParaRPr lang="en-US" sz="1300" dirty="0"/>
          </a:p>
        </p:txBody>
      </p:sp>
      <p:sp>
        <p:nvSpPr>
          <p:cNvPr id="44" name="Text 42"/>
          <p:cNvSpPr txBox="1"/>
          <p:nvPr/>
        </p:nvSpPr>
        <p:spPr>
          <a:xfrm>
            <a:off x="4434840" y="5279136"/>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Buildings serve critical first, defer or curtail the rest</a:t>
            </a:r>
            <a:endParaRPr lang="en-US" sz="1150" dirty="0"/>
          </a:p>
        </p:txBody>
      </p:sp>
      <p:sp>
        <p:nvSpPr>
          <p:cNvPr id="45" name="Shape 43"/>
          <p:cNvSpPr/>
          <p:nvPr/>
        </p:nvSpPr>
        <p:spPr>
          <a:xfrm>
            <a:off x="8065008" y="4712208"/>
            <a:ext cx="3593592" cy="1505712"/>
          </a:xfrm>
          <a:prstGeom prst="roundRect">
            <a:avLst>
              <a:gd name="adj" fmla="val 7287"/>
            </a:avLst>
          </a:prstGeom>
          <a:solidFill>
            <a:srgbClr val="F3F6F9"/>
          </a:solidFill>
          <a:ln w="12700">
            <a:solidFill>
              <a:srgbClr val="F3F6F9"/>
            </a:solidFill>
            <a:prstDash val="solid"/>
          </a:ln>
        </p:spPr>
      </p:sp>
      <p:sp>
        <p:nvSpPr>
          <p:cNvPr id="46" name="Shape 44"/>
          <p:cNvSpPr/>
          <p:nvPr/>
        </p:nvSpPr>
        <p:spPr>
          <a:xfrm>
            <a:off x="8174736" y="4821936"/>
            <a:ext cx="384048" cy="384048"/>
          </a:xfrm>
          <a:prstGeom prst="ellipse">
            <a:avLst/>
          </a:prstGeom>
          <a:solidFill>
            <a:srgbClr val="F2A541"/>
          </a:solidFill>
          <a:ln w="12700">
            <a:solidFill>
              <a:srgbClr val="F2A541"/>
            </a:solidFill>
            <a:prstDash val="solid"/>
          </a:ln>
        </p:spPr>
      </p:sp>
      <p:sp>
        <p:nvSpPr>
          <p:cNvPr id="47" name="Text 45"/>
          <p:cNvSpPr txBox="1"/>
          <p:nvPr/>
        </p:nvSpPr>
        <p:spPr>
          <a:xfrm>
            <a:off x="8174736" y="4821936"/>
            <a:ext cx="384048" cy="384048"/>
          </a:xfrm>
          <a:prstGeom prst="rect">
            <a:avLst/>
          </a:prstGeom>
          <a:noFill/>
          <a:ln/>
        </p:spPr>
        <p:txBody>
          <a:bodyPr wrap="square" lIns="0" tIns="0" rIns="0" bIns="0" rtlCol="0" anchor="ctr"/>
          <a:lstStyle/>
          <a:p>
            <a:pPr algn="ctr" indent="0" marL="0">
              <a:buNone/>
            </a:pPr>
            <a:r>
              <a:rPr lang="en-US" sz="1300" b="1" dirty="0">
                <a:solidFill>
                  <a:srgbClr val="12263A"/>
                </a:solidFill>
                <a:latin typeface="Calibri" pitchFamily="34" charset="0"/>
                <a:ea typeface="Calibri" pitchFamily="34" charset="-122"/>
                <a:cs typeface="Calibri" pitchFamily="34" charset="-120"/>
              </a:rPr>
              <a:t>9</a:t>
            </a:r>
            <a:endParaRPr lang="en-US" sz="1300" dirty="0"/>
          </a:p>
        </p:txBody>
      </p:sp>
      <p:sp>
        <p:nvSpPr>
          <p:cNvPr id="48" name="Text 46"/>
          <p:cNvSpPr txBox="1"/>
          <p:nvPr/>
        </p:nvSpPr>
        <p:spPr>
          <a:xfrm>
            <a:off x="8650224" y="4821936"/>
            <a:ext cx="2898648" cy="384048"/>
          </a:xfrm>
          <a:prstGeom prst="rect">
            <a:avLst/>
          </a:prstGeom>
          <a:noFill/>
          <a:ln/>
        </p:spPr>
        <p:txBody>
          <a:bodyPr wrap="square" lIns="0" tIns="0" rIns="0" bIns="0" rtlCol="0" anchor="ctr"/>
          <a:lstStyle/>
          <a:p>
            <a:pPr indent="0" marL="0">
              <a:buNone/>
            </a:pPr>
            <a:r>
              <a:rPr lang="en-US" sz="1300" b="1" dirty="0">
                <a:solidFill>
                  <a:srgbClr val="12263A"/>
                </a:solidFill>
                <a:latin typeface="Calibri" pitchFamily="34" charset="0"/>
                <a:ea typeface="Calibri" pitchFamily="34" charset="-122"/>
                <a:cs typeface="Calibri" pitchFamily="34" charset="-120"/>
              </a:rPr>
              <a:t>Feedback</a:t>
            </a:r>
            <a:endParaRPr lang="en-US" sz="1300" dirty="0"/>
          </a:p>
        </p:txBody>
      </p:sp>
      <p:sp>
        <p:nvSpPr>
          <p:cNvPr id="49" name="Text 47"/>
          <p:cNvSpPr txBox="1"/>
          <p:nvPr/>
        </p:nvSpPr>
        <p:spPr>
          <a:xfrm>
            <a:off x="8193024" y="5279136"/>
            <a:ext cx="3337560" cy="847344"/>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Outcomes carry into the next slot (backlog, charge, deprivation)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Algorithm 1 — Learned Demand Forecasting</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Algorithmic Modeling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Each building predicts its next 15 minutes with a regression model trained on its own history</a:t>
            </a:r>
            <a:endParaRPr lang="en-US" sz="1400" dirty="0"/>
          </a:p>
        </p:txBody>
      </p:sp>
      <p:sp>
        <p:nvSpPr>
          <p:cNvPr id="6" name="Shape 4"/>
          <p:cNvSpPr/>
          <p:nvPr/>
        </p:nvSpPr>
        <p:spPr>
          <a:xfrm>
            <a:off x="548640" y="1463040"/>
            <a:ext cx="11109960" cy="960120"/>
          </a:xfrm>
          <a:prstGeom prst="roundRect">
            <a:avLst>
              <a:gd name="adj" fmla="val 11429"/>
            </a:avLst>
          </a:prstGeom>
          <a:solidFill>
            <a:srgbClr val="FDF1DC"/>
          </a:solidFill>
          <a:ln w="12700">
            <a:solidFill>
              <a:srgbClr val="FDF1DC"/>
            </a:solidFill>
            <a:prstDash val="solid"/>
          </a:ln>
        </p:spPr>
      </p:sp>
      <p:sp>
        <p:nvSpPr>
          <p:cNvPr id="7" name="Text 5"/>
          <p:cNvSpPr txBox="1"/>
          <p:nvPr/>
        </p:nvSpPr>
        <p:spPr>
          <a:xfrm>
            <a:off x="777240" y="1463040"/>
            <a:ext cx="10698480" cy="960120"/>
          </a:xfrm>
          <a:prstGeom prst="rect">
            <a:avLst/>
          </a:prstGeom>
          <a:noFill/>
          <a:ln/>
        </p:spPr>
        <p:txBody>
          <a:bodyPr wrap="square" lIns="0" tIns="0" rIns="0" bIns="0" rtlCol="0" anchor="ctr"/>
          <a:lstStyle/>
          <a:p>
            <a:pPr indent="0" marL="0">
              <a:buNone/>
            </a:pPr>
            <a:r>
              <a:rPr lang="en-US" sz="2000" b="1" dirty="0">
                <a:solidFill>
                  <a:srgbClr val="12263A"/>
                </a:solidFill>
                <a:latin typeface="Cambria" pitchFamily="34" charset="0"/>
                <a:ea typeface="Cambria" pitchFamily="34" charset="-122"/>
                <a:cs typeface="Cambria" pitchFamily="34" charset="-120"/>
              </a:rPr>
              <a:t>Forecast(t+1)</a:t>
            </a:r>
            <a:pPr indent="0" marL="0">
              <a:buNone/>
            </a:pPr>
            <a:r>
              <a:rPr lang="en-US" sz="2000" dirty="0">
                <a:solidFill>
                  <a:srgbClr val="12263A"/>
                </a:solidFill>
                <a:latin typeface="Cambria" pitchFamily="34" charset="0"/>
                <a:ea typeface="Cambria" pitchFamily="34" charset="-122"/>
                <a:cs typeface="Cambria" pitchFamily="34" charset="-120"/>
              </a:rPr>
              <a:t> = w₀ + w₁·D(t) + w₂·D(t−1) + w₃·D(t−2) + w₄·D(t−95) + w₅·[D(t−95) − D(t−96)]</a:t>
            </a:r>
            <a:endParaRPr lang="en-US" sz="2000" dirty="0"/>
          </a:p>
        </p:txBody>
      </p:sp>
      <p:sp>
        <p:nvSpPr>
          <p:cNvPr id="8" name="Text 6"/>
          <p:cNvSpPr txBox="1"/>
          <p:nvPr/>
        </p:nvSpPr>
        <p:spPr>
          <a:xfrm>
            <a:off x="548640" y="2487168"/>
            <a:ext cx="11109960" cy="320040"/>
          </a:xfrm>
          <a:prstGeom prst="rect">
            <a:avLst/>
          </a:prstGeom>
          <a:noFill/>
          <a:ln/>
        </p:spPr>
        <p:txBody>
          <a:bodyPr wrap="square" lIns="0" tIns="0" rIns="0" bIns="0" rtlCol="0" anchor="t"/>
          <a:lstStyle/>
          <a:p>
            <a:pPr indent="0" marL="0">
              <a:buNone/>
            </a:pPr>
            <a:r>
              <a:rPr lang="en-US" sz="1200" i="1" dirty="0">
                <a:solidFill>
                  <a:srgbClr val="5B6675"/>
                </a:solidFill>
                <a:latin typeface="Calibri" pitchFamily="34" charset="0"/>
                <a:ea typeface="Calibri" pitchFamily="34" charset="-122"/>
                <a:cs typeface="Calibri" pitchFamily="34" charset="-120"/>
              </a:rPr>
              <a:t>D(t) = demand in the current 15-minute slot  ·  one day = 96 slots, so t−95 is the slot we are predicting, one day earlier</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926080"/>
          <a:ext cx="6858000" cy="914400"/>
        </p:xfrm>
        <a:graphic>
          <a:graphicData uri="http://schemas.openxmlformats.org/drawingml/2006/table">
            <a:tbl>
              <a:tblPr/>
              <a:tblGrid>
                <a:gridCol w="1737360"/>
                <a:gridCol w="2514600"/>
                <a:gridCol w="2606040"/>
              </a:tblGrid>
              <a:tr h="54864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Input</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In plain words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Why it helps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r>
              <a:tr h="548640">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D(t)</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Demand right now</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The best single clue to the next 15 minutes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D(t−1), D(t−2)</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Demand 15 and 30 minutes ago</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Shows whether demand is rising or falling</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548640">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D(t−95)</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Demand at the same time yesterday</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Captures the daily routine: classes, lab hours, hostel evenings</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D(t−95) − D(t−96)</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How demand changed at this time yesterday</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Anticipates ramps, e.g. the 9 am jump</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548640">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w₀</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A constant</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Calibri" pitchFamily="34" charset="0"/>
                          <a:ea typeface="Calibri" pitchFamily="34" charset="-122"/>
                          <a:cs typeface="Calibri" pitchFamily="34" charset="-120"/>
                        </a:rPr>
                        <a:t>The building's baseline level</a:t>
                      </a:r>
                      <a:endParaRPr lang="en-US" sz="135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bl>
          </a:graphicData>
        </a:graphic>
      </p:graphicFrame>
      <p:sp>
        <p:nvSpPr>
          <p:cNvPr id="10" name="Shape 7"/>
          <p:cNvSpPr/>
          <p:nvPr/>
        </p:nvSpPr>
        <p:spPr>
          <a:xfrm>
            <a:off x="7680960" y="2926080"/>
            <a:ext cx="3977640" cy="3291840"/>
          </a:xfrm>
          <a:prstGeom prst="roundRect">
            <a:avLst>
              <a:gd name="adj" fmla="val 3333"/>
            </a:avLst>
          </a:prstGeom>
          <a:solidFill>
            <a:srgbClr val="F3F6F9"/>
          </a:solidFill>
          <a:ln w="12700">
            <a:solidFill>
              <a:srgbClr val="F3F6F9"/>
            </a:solidFill>
            <a:prstDash val="solid"/>
          </a:ln>
        </p:spPr>
      </p:sp>
      <p:sp>
        <p:nvSpPr>
          <p:cNvPr id="11" name="Text 8"/>
          <p:cNvSpPr txBox="1"/>
          <p:nvPr/>
        </p:nvSpPr>
        <p:spPr>
          <a:xfrm>
            <a:off x="7863840" y="3035808"/>
            <a:ext cx="3657600" cy="365760"/>
          </a:xfrm>
          <a:prstGeom prst="rect">
            <a:avLst/>
          </a:prstGeom>
          <a:noFill/>
          <a:ln/>
        </p:spPr>
        <p:txBody>
          <a:bodyPr wrap="square" lIns="0" tIns="0" rIns="0" bIns="0" rtlCol="0" anchor="t"/>
          <a:lstStyle/>
          <a:p>
            <a:pPr indent="0" marL="0">
              <a:buNone/>
            </a:pPr>
            <a:r>
              <a:rPr lang="en-US" sz="1500" b="1" dirty="0">
                <a:solidFill>
                  <a:srgbClr val="12263A"/>
                </a:solidFill>
                <a:latin typeface="Cambria" pitchFamily="34" charset="0"/>
                <a:ea typeface="Cambria" pitchFamily="34" charset="-122"/>
                <a:cs typeface="Cambria" pitchFamily="34" charset="-120"/>
              </a:rPr>
              <a:t>How the weights w are learned</a:t>
            </a:r>
            <a:endParaRPr lang="en-US" sz="1500" dirty="0"/>
          </a:p>
        </p:txBody>
      </p:sp>
      <p:sp>
        <p:nvSpPr>
          <p:cNvPr id="12" name="Text 9"/>
          <p:cNvSpPr txBox="1"/>
          <p:nvPr/>
        </p:nvSpPr>
        <p:spPr>
          <a:xfrm>
            <a:off x="7863840" y="3474720"/>
            <a:ext cx="3657600" cy="411480"/>
          </a:xfrm>
          <a:prstGeom prst="rect">
            <a:avLst/>
          </a:prstGeom>
          <a:noFill/>
          <a:ln/>
        </p:spPr>
        <p:txBody>
          <a:bodyPr wrap="square" lIns="0" tIns="0" rIns="0" bIns="0" rtlCol="0" anchor="t"/>
          <a:lstStyle/>
          <a:p>
            <a:pPr indent="0" marL="0">
              <a:buNone/>
            </a:pPr>
            <a:r>
              <a:rPr lang="en-US" sz="1400" dirty="0">
                <a:solidFill>
                  <a:srgbClr val="12263A"/>
                </a:solidFill>
                <a:latin typeface="Cambria" pitchFamily="34" charset="0"/>
                <a:ea typeface="Cambria" pitchFamily="34" charset="-122"/>
                <a:cs typeface="Cambria" pitchFamily="34" charset="-120"/>
              </a:rPr>
              <a:t>minimise   Σ (actual − forecast)²  +  λ·Σ wᵢ²</a:t>
            </a:r>
            <a:endParaRPr lang="en-US" sz="1400" dirty="0"/>
          </a:p>
        </p:txBody>
      </p:sp>
      <p:sp>
        <p:nvSpPr>
          <p:cNvPr id="13" name="Text 10"/>
          <p:cNvSpPr txBox="1"/>
          <p:nvPr/>
        </p:nvSpPr>
        <p:spPr>
          <a:xfrm>
            <a:off x="7863840" y="4069080"/>
            <a:ext cx="3611880" cy="210312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Ridge regression over the last 7 days; λ = 1 stops it over-fitting noise</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Solved exactly, refreshed every 4 hours; every building has its own weights</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First 1.5 days: not enough history, so it falls back to a moving average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Forecasting — Does Learning Help?</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Algorithmic Modeling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Tested fairly: model chosen on some random seeds, scored on seeds it never saw</a:t>
            </a:r>
            <a:endParaRPr lang="en-US" sz="1400" dirty="0"/>
          </a:p>
        </p:txBody>
      </p:sp>
      <p:graphicFrame>
        <p:nvGraphicFramePr>
          <p:cNvPr id="6" name="Chart 0" descr=""/>
          <p:cNvGraphicFramePr/>
          <p:nvPr/>
        </p:nvGraphicFramePr>
        <p:xfrm>
          <a:off x="548640" y="141732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863840" y="1600200"/>
            <a:ext cx="3749040" cy="685800"/>
          </a:xfrm>
          <a:prstGeom prst="rect">
            <a:avLst/>
          </a:prstGeom>
          <a:noFill/>
          <a:ln/>
        </p:spPr>
        <p:txBody>
          <a:bodyPr wrap="square" lIns="0" tIns="0" rIns="0" bIns="0" rtlCol="0" anchor="t"/>
          <a:lstStyle/>
          <a:p>
            <a:pPr indent="0" marL="0">
              <a:buNone/>
            </a:pPr>
            <a:r>
              <a:rPr lang="en-US" sz="3800" b="1" dirty="0">
                <a:solidFill>
                  <a:srgbClr val="1BAF7A"/>
                </a:solidFill>
                <a:latin typeface="Cambria" pitchFamily="34" charset="0"/>
                <a:ea typeface="Cambria" pitchFamily="34" charset="-122"/>
                <a:cs typeface="Cambria" pitchFamily="34" charset="-120"/>
              </a:rPr>
              <a:t>26%</a:t>
            </a:r>
            <a:endParaRPr lang="en-US" sz="3800" dirty="0"/>
          </a:p>
        </p:txBody>
      </p:sp>
      <p:sp>
        <p:nvSpPr>
          <p:cNvPr id="8" name="Text 5"/>
          <p:cNvSpPr txBox="1"/>
          <p:nvPr/>
        </p:nvSpPr>
        <p:spPr>
          <a:xfrm>
            <a:off x="7863840" y="2313432"/>
            <a:ext cx="374904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lower error than the best simple method (3.51 vs 4.74 kW)</a:t>
            </a:r>
            <a:endParaRPr lang="en-US" sz="1250" dirty="0"/>
          </a:p>
        </p:txBody>
      </p:sp>
      <p:sp>
        <p:nvSpPr>
          <p:cNvPr id="9" name="Text 6"/>
          <p:cNvSpPr txBox="1"/>
          <p:nvPr/>
        </p:nvSpPr>
        <p:spPr>
          <a:xfrm>
            <a:off x="7863840" y="3017520"/>
            <a:ext cx="3749040" cy="685800"/>
          </a:xfrm>
          <a:prstGeom prst="rect">
            <a:avLst/>
          </a:prstGeom>
          <a:noFill/>
          <a:ln/>
        </p:spPr>
        <p:txBody>
          <a:bodyPr wrap="square" lIns="0" tIns="0" rIns="0" bIns="0" rtlCol="0" anchor="t"/>
          <a:lstStyle/>
          <a:p>
            <a:pPr indent="0" marL="0">
              <a:buNone/>
            </a:pPr>
            <a:r>
              <a:rPr lang="en-US" sz="3800" b="1" dirty="0">
                <a:solidFill>
                  <a:srgbClr val="12263A"/>
                </a:solidFill>
                <a:latin typeface="Cambria" pitchFamily="34" charset="0"/>
                <a:ea typeface="Cambria" pitchFamily="34" charset="-122"/>
                <a:cs typeface="Cambria" pitchFamily="34" charset="-120"/>
              </a:rPr>
              <a:t>≈3.0 kW</a:t>
            </a:r>
            <a:endParaRPr lang="en-US" sz="3800" dirty="0"/>
          </a:p>
        </p:txBody>
      </p:sp>
      <p:sp>
        <p:nvSpPr>
          <p:cNvPr id="10" name="Text 7"/>
          <p:cNvSpPr txBox="1"/>
          <p:nvPr/>
        </p:nvSpPr>
        <p:spPr>
          <a:xfrm>
            <a:off x="7863840" y="3730752"/>
            <a:ext cx="374904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the noise floor: random spikes no model can predict</a:t>
            </a:r>
            <a:endParaRPr lang="en-US" sz="1250" dirty="0"/>
          </a:p>
        </p:txBody>
      </p:sp>
      <p:sp>
        <p:nvSpPr>
          <p:cNvPr id="11" name="Text 8"/>
          <p:cNvSpPr txBox="1"/>
          <p:nvPr/>
        </p:nvSpPr>
        <p:spPr>
          <a:xfrm>
            <a:off x="7863840" y="4480560"/>
            <a:ext cx="3749040" cy="1097280"/>
          </a:xfrm>
          <a:prstGeom prst="rect">
            <a:avLst/>
          </a:prstGeom>
          <a:noFill/>
          <a:ln/>
        </p:spPr>
        <p:txBody>
          <a:bodyPr wrap="square" lIns="0" tIns="0" rIns="0" bIns="0" rtlCol="0" anchor="t"/>
          <a:lstStyle/>
          <a:p>
            <a:pPr indent="0" marL="0">
              <a:buNone/>
            </a:pPr>
            <a:r>
              <a:rPr lang="en-US" sz="1300" i="1" dirty="0">
                <a:solidFill>
                  <a:srgbClr val="5B6675"/>
                </a:solidFill>
                <a:latin typeface="Calibri" pitchFamily="34" charset="0"/>
                <a:ea typeface="Calibri" pitchFamily="34" charset="-122"/>
                <a:cs typeface="Calibri" pitchFamily="34" charset="-120"/>
              </a:rPr>
              <a:t>Backtest never uses future data: each forecast only sees readings before the slot it predicts.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Algorithm 2 — The Building's Decision Model</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Algorithmic Modeling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Deterministic, explainable rules turn a forecast into a bid</a:t>
            </a:r>
            <a:endParaRPr lang="en-US" sz="1400" dirty="0"/>
          </a:p>
        </p:txBody>
      </p:sp>
      <p:sp>
        <p:nvSpPr>
          <p:cNvPr id="6" name="Shape 4"/>
          <p:cNvSpPr/>
          <p:nvPr/>
        </p:nvSpPr>
        <p:spPr>
          <a:xfrm>
            <a:off x="548640" y="1508760"/>
            <a:ext cx="5486400" cy="2194560"/>
          </a:xfrm>
          <a:prstGeom prst="roundRect">
            <a:avLst>
              <a:gd name="adj" fmla="val 5000"/>
            </a:avLst>
          </a:prstGeom>
          <a:solidFill>
            <a:srgbClr val="F3F6F9"/>
          </a:solidFill>
          <a:ln w="12700">
            <a:solidFill>
              <a:srgbClr val="F3F6F9"/>
            </a:solidFill>
            <a:prstDash val="solid"/>
          </a:ln>
        </p:spPr>
      </p:sp>
      <p:sp>
        <p:nvSpPr>
          <p:cNvPr id="7" name="Shape 5"/>
          <p:cNvSpPr/>
          <p:nvPr/>
        </p:nvSpPr>
        <p:spPr>
          <a:xfrm>
            <a:off x="777240" y="1737360"/>
            <a:ext cx="585216" cy="585216"/>
          </a:xfrm>
          <a:prstGeom prst="ellipse">
            <a:avLst/>
          </a:prstGeom>
          <a:solidFill>
            <a:srgbClr val="F2A541"/>
          </a:solidFill>
          <a:ln w="12700">
            <a:solidFill>
              <a:srgbClr val="F2A541"/>
            </a:solidFill>
            <a:prstDash val="solid"/>
          </a:ln>
        </p:spPr>
      </p:sp>
      <p:pic>
        <p:nvPicPr>
          <p:cNvPr id="8" name="Image 0" descr="preencoded.png">    </p:cNvPr>
          <p:cNvPicPr>
            <a:picLocks noChangeAspect="1"/>
          </p:cNvPicPr>
          <p:nvPr/>
        </p:nvPicPr>
        <p:blipFill>
          <a:blip r:embed="rId1"/>
          <a:stretch>
            <a:fillRect/>
          </a:stretch>
        </p:blipFill>
        <p:spPr>
          <a:xfrm>
            <a:off x="917692" y="1877812"/>
            <a:ext cx="304312" cy="304312"/>
          </a:xfrm>
          <a:prstGeom prst="rect">
            <a:avLst/>
          </a:prstGeom>
        </p:spPr>
      </p:pic>
      <p:sp>
        <p:nvSpPr>
          <p:cNvPr id="9" name="Text 6"/>
          <p:cNvSpPr txBox="1"/>
          <p:nvPr/>
        </p:nvSpPr>
        <p:spPr>
          <a:xfrm>
            <a:off x="1554480" y="1783080"/>
            <a:ext cx="4297680" cy="502920"/>
          </a:xfrm>
          <a:prstGeom prst="rect">
            <a:avLst/>
          </a:prstGeom>
          <a:noFill/>
          <a:ln/>
        </p:spPr>
        <p:txBody>
          <a:bodyPr wrap="square" lIns="0" tIns="0" rIns="0" bIns="0" rtlCol="0" anchor="ctr"/>
          <a:lstStyle/>
          <a:p>
            <a:pPr indent="0" marL="0">
              <a:buNone/>
            </a:pPr>
            <a:r>
              <a:rPr lang="en-US" sz="1700" b="1" dirty="0">
                <a:solidFill>
                  <a:srgbClr val="12263A"/>
                </a:solidFill>
                <a:latin typeface="Cambria" pitchFamily="34" charset="0"/>
                <a:ea typeface="Cambria" pitchFamily="34" charset="-122"/>
                <a:cs typeface="Cambria" pitchFamily="34" charset="-120"/>
              </a:rPr>
              <a:t>Load classification</a:t>
            </a:r>
            <a:endParaRPr lang="en-US" sz="1700" dirty="0"/>
          </a:p>
        </p:txBody>
      </p:sp>
      <p:sp>
        <p:nvSpPr>
          <p:cNvPr id="10" name="Text 7"/>
          <p:cNvSpPr txBox="1"/>
          <p:nvPr/>
        </p:nvSpPr>
        <p:spPr>
          <a:xfrm>
            <a:off x="822960" y="2514600"/>
            <a:ext cx="4983480" cy="1005840"/>
          </a:xfrm>
          <a:prstGeom prst="rect">
            <a:avLst/>
          </a:prstGeom>
          <a:noFill/>
          <a:ln/>
        </p:spPr>
        <p:txBody>
          <a:bodyPr wrap="square" lIns="0" tIns="0" rIns="0" bIns="0" rtlCol="0" anchor="t"/>
          <a:lstStyle/>
          <a:p>
            <a:pPr indent="0" marL="0">
              <a:buNone/>
            </a:pPr>
            <a:r>
              <a:rPr lang="en-US" sz="1250" dirty="0">
                <a:solidFill>
                  <a:srgbClr val="1B2430"/>
                </a:solidFill>
                <a:latin typeface="Courier New" pitchFamily="34" charset="0"/>
                <a:ea typeface="Courier New" pitchFamily="34" charset="-122"/>
                <a:cs typeface="Courier New" pitchFamily="34" charset="-120"/>
              </a:rPr>
              <a:t>critical = min(forecast, max(floor, critical_fraction × forecast))</a:t>
            </a:r>
            <a:endParaRPr lang="en-US" sz="1250" dirty="0"/>
          </a:p>
          <a:p>
            <a:pPr indent="0" marL="0">
              <a:buNone/>
            </a:pPr>
            <a:r>
              <a:rPr lang="en-US" sz="1250" dirty="0">
                <a:solidFill>
                  <a:srgbClr val="1B2430"/>
                </a:solidFill>
                <a:latin typeface="Courier New" pitchFamily="34" charset="0"/>
                <a:ea typeface="Courier New" pitchFamily="34" charset="-122"/>
                <a:cs typeface="Courier New" pitchFamily="34" charset="-120"/>
              </a:rPr>
              <a:t>minimum = critical + comfort floor</a:t>
            </a:r>
            <a:endParaRPr lang="en-US" sz="1250" dirty="0"/>
          </a:p>
        </p:txBody>
      </p:sp>
      <p:sp>
        <p:nvSpPr>
          <p:cNvPr id="11" name="Shape 8"/>
          <p:cNvSpPr/>
          <p:nvPr/>
        </p:nvSpPr>
        <p:spPr>
          <a:xfrm>
            <a:off x="6172200" y="1508760"/>
            <a:ext cx="5486400" cy="2194560"/>
          </a:xfrm>
          <a:prstGeom prst="roundRect">
            <a:avLst>
              <a:gd name="adj" fmla="val 5000"/>
            </a:avLst>
          </a:prstGeom>
          <a:solidFill>
            <a:srgbClr val="F3F6F9"/>
          </a:solidFill>
          <a:ln w="12700">
            <a:solidFill>
              <a:srgbClr val="F3F6F9"/>
            </a:solidFill>
            <a:prstDash val="solid"/>
          </a:ln>
        </p:spPr>
      </p:sp>
      <p:sp>
        <p:nvSpPr>
          <p:cNvPr id="12" name="Shape 9"/>
          <p:cNvSpPr/>
          <p:nvPr/>
        </p:nvSpPr>
        <p:spPr>
          <a:xfrm>
            <a:off x="6400800" y="1737360"/>
            <a:ext cx="585216" cy="585216"/>
          </a:xfrm>
          <a:prstGeom prst="ellipse">
            <a:avLst/>
          </a:prstGeom>
          <a:solidFill>
            <a:srgbClr val="F2A541"/>
          </a:solidFill>
          <a:ln w="12700">
            <a:solidFill>
              <a:srgbClr val="F2A541"/>
            </a:solidFill>
            <a:prstDash val="solid"/>
          </a:ln>
        </p:spPr>
      </p:sp>
      <p:pic>
        <p:nvPicPr>
          <p:cNvPr id="13" name="Image 1" descr="preencoded.png">    </p:cNvPr>
          <p:cNvPicPr>
            <a:picLocks noChangeAspect="1"/>
          </p:cNvPicPr>
          <p:nvPr/>
        </p:nvPicPr>
        <p:blipFill>
          <a:blip r:embed="rId2"/>
          <a:stretch>
            <a:fillRect/>
          </a:stretch>
        </p:blipFill>
        <p:spPr>
          <a:xfrm>
            <a:off x="6541252" y="1877812"/>
            <a:ext cx="304312" cy="304312"/>
          </a:xfrm>
          <a:prstGeom prst="rect">
            <a:avLst/>
          </a:prstGeom>
        </p:spPr>
      </p:pic>
      <p:sp>
        <p:nvSpPr>
          <p:cNvPr id="14" name="Text 10"/>
          <p:cNvSpPr txBox="1"/>
          <p:nvPr/>
        </p:nvSpPr>
        <p:spPr>
          <a:xfrm>
            <a:off x="7178040" y="1783080"/>
            <a:ext cx="4297680" cy="502920"/>
          </a:xfrm>
          <a:prstGeom prst="rect">
            <a:avLst/>
          </a:prstGeom>
          <a:noFill/>
          <a:ln/>
        </p:spPr>
        <p:txBody>
          <a:bodyPr wrap="square" lIns="0" tIns="0" rIns="0" bIns="0" rtlCol="0" anchor="ctr"/>
          <a:lstStyle/>
          <a:p>
            <a:pPr indent="0" marL="0">
              <a:buNone/>
            </a:pPr>
            <a:r>
              <a:rPr lang="en-US" sz="1700" b="1" dirty="0">
                <a:solidFill>
                  <a:srgbClr val="12263A"/>
                </a:solidFill>
                <a:latin typeface="Cambria" pitchFamily="34" charset="0"/>
                <a:ea typeface="Cambria" pitchFamily="34" charset="-122"/>
                <a:cs typeface="Cambria" pitchFamily="34" charset="-120"/>
              </a:rPr>
              <a:t>Priority score (0–1)</a:t>
            </a:r>
            <a:endParaRPr lang="en-US" sz="1700" dirty="0"/>
          </a:p>
        </p:txBody>
      </p:sp>
      <p:sp>
        <p:nvSpPr>
          <p:cNvPr id="15" name="Text 11"/>
          <p:cNvSpPr txBox="1"/>
          <p:nvPr/>
        </p:nvSpPr>
        <p:spPr>
          <a:xfrm>
            <a:off x="6446520" y="2514600"/>
            <a:ext cx="4983480" cy="1005840"/>
          </a:xfrm>
          <a:prstGeom prst="rect">
            <a:avLst/>
          </a:prstGeom>
          <a:noFill/>
          <a:ln/>
        </p:spPr>
        <p:txBody>
          <a:bodyPr wrap="square" lIns="0" tIns="0" rIns="0" bIns="0" rtlCol="0" anchor="t"/>
          <a:lstStyle/>
          <a:p>
            <a:pPr indent="0" marL="0">
              <a:buNone/>
            </a:pPr>
            <a:r>
              <a:rPr lang="en-US" sz="1250" dirty="0">
                <a:solidFill>
                  <a:srgbClr val="1B2430"/>
                </a:solidFill>
                <a:latin typeface="Courier New" pitchFamily="34" charset="0"/>
                <a:ea typeface="Courier New" pitchFamily="34" charset="-122"/>
                <a:cs typeface="Courier New" pitchFamily="34" charset="-120"/>
              </a:rPr>
              <a:t>weighted sum of: criticality · building importance ·</a:t>
            </a:r>
            <a:endParaRPr lang="en-US" sz="1250" dirty="0"/>
          </a:p>
          <a:p>
            <a:pPr indent="0" marL="0">
              <a:buNone/>
            </a:pPr>
            <a:r>
              <a:rPr lang="en-US" sz="1250" dirty="0">
                <a:solidFill>
                  <a:srgbClr val="1B2430"/>
                </a:solidFill>
                <a:latin typeface="Courier New" pitchFamily="34" charset="0"/>
                <a:ea typeface="Courier New" pitchFamily="34" charset="-122"/>
                <a:cs typeface="Courier New" pitchFamily="34" charset="-120"/>
              </a:rPr>
              <a:t>urgency of postponed energy · recent deprivation</a:t>
            </a:r>
            <a:endParaRPr lang="en-US" sz="1250" dirty="0"/>
          </a:p>
        </p:txBody>
      </p:sp>
      <p:sp>
        <p:nvSpPr>
          <p:cNvPr id="16" name="Shape 12"/>
          <p:cNvSpPr/>
          <p:nvPr/>
        </p:nvSpPr>
        <p:spPr>
          <a:xfrm>
            <a:off x="548640" y="3886200"/>
            <a:ext cx="5486400" cy="2194560"/>
          </a:xfrm>
          <a:prstGeom prst="roundRect">
            <a:avLst>
              <a:gd name="adj" fmla="val 5000"/>
            </a:avLst>
          </a:prstGeom>
          <a:solidFill>
            <a:srgbClr val="F3F6F9"/>
          </a:solidFill>
          <a:ln w="12700">
            <a:solidFill>
              <a:srgbClr val="F3F6F9"/>
            </a:solidFill>
            <a:prstDash val="solid"/>
          </a:ln>
        </p:spPr>
      </p:sp>
      <p:sp>
        <p:nvSpPr>
          <p:cNvPr id="17" name="Shape 13"/>
          <p:cNvSpPr/>
          <p:nvPr/>
        </p:nvSpPr>
        <p:spPr>
          <a:xfrm>
            <a:off x="777240" y="4114800"/>
            <a:ext cx="585216" cy="585216"/>
          </a:xfrm>
          <a:prstGeom prst="ellipse">
            <a:avLst/>
          </a:prstGeom>
          <a:solidFill>
            <a:srgbClr val="F2A541"/>
          </a:solidFill>
          <a:ln w="12700">
            <a:solidFill>
              <a:srgbClr val="F2A541"/>
            </a:solidFill>
            <a:prstDash val="solid"/>
          </a:ln>
        </p:spPr>
      </p:sp>
      <p:pic>
        <p:nvPicPr>
          <p:cNvPr id="18" name="Image 2" descr="preencoded.png">    </p:cNvPr>
          <p:cNvPicPr>
            <a:picLocks noChangeAspect="1"/>
          </p:cNvPicPr>
          <p:nvPr/>
        </p:nvPicPr>
        <p:blipFill>
          <a:blip r:embed="rId3"/>
          <a:stretch>
            <a:fillRect/>
          </a:stretch>
        </p:blipFill>
        <p:spPr>
          <a:xfrm>
            <a:off x="917692" y="4255252"/>
            <a:ext cx="304312" cy="304312"/>
          </a:xfrm>
          <a:prstGeom prst="rect">
            <a:avLst/>
          </a:prstGeom>
        </p:spPr>
      </p:pic>
      <p:sp>
        <p:nvSpPr>
          <p:cNvPr id="19" name="Text 14"/>
          <p:cNvSpPr txBox="1"/>
          <p:nvPr/>
        </p:nvSpPr>
        <p:spPr>
          <a:xfrm>
            <a:off x="1554480" y="4160520"/>
            <a:ext cx="4297680" cy="502920"/>
          </a:xfrm>
          <a:prstGeom prst="rect">
            <a:avLst/>
          </a:prstGeom>
          <a:noFill/>
          <a:ln/>
        </p:spPr>
        <p:txBody>
          <a:bodyPr wrap="square" lIns="0" tIns="0" rIns="0" bIns="0" rtlCol="0" anchor="ctr"/>
          <a:lstStyle/>
          <a:p>
            <a:pPr indent="0" marL="0">
              <a:buNone/>
            </a:pPr>
            <a:r>
              <a:rPr lang="en-US" sz="1700" b="1" dirty="0">
                <a:solidFill>
                  <a:srgbClr val="12263A"/>
                </a:solidFill>
                <a:latin typeface="Cambria" pitchFamily="34" charset="0"/>
                <a:ea typeface="Cambria" pitchFamily="34" charset="-122"/>
                <a:cs typeface="Cambria" pitchFamily="34" charset="-120"/>
              </a:rPr>
              <a:t>Willingness to pay</a:t>
            </a:r>
            <a:endParaRPr lang="en-US" sz="1700" dirty="0"/>
          </a:p>
        </p:txBody>
      </p:sp>
      <p:sp>
        <p:nvSpPr>
          <p:cNvPr id="20" name="Text 15"/>
          <p:cNvSpPr txBox="1"/>
          <p:nvPr/>
        </p:nvSpPr>
        <p:spPr>
          <a:xfrm>
            <a:off x="822960" y="4892040"/>
            <a:ext cx="4983480" cy="1005840"/>
          </a:xfrm>
          <a:prstGeom prst="rect">
            <a:avLst/>
          </a:prstGeom>
          <a:noFill/>
          <a:ln/>
        </p:spPr>
        <p:txBody>
          <a:bodyPr wrap="square" lIns="0" tIns="0" rIns="0" bIns="0" rtlCol="0" anchor="t"/>
          <a:lstStyle/>
          <a:p>
            <a:pPr indent="0" marL="0">
              <a:buNone/>
            </a:pPr>
            <a:r>
              <a:rPr lang="en-US" sz="1250" dirty="0">
                <a:solidFill>
                  <a:srgbClr val="1B2430"/>
                </a:solidFill>
                <a:latin typeface="Courier New" pitchFamily="34" charset="0"/>
                <a:ea typeface="Courier New" pitchFamily="34" charset="-122"/>
                <a:cs typeface="Courier New" pitchFamily="34" charset="-120"/>
              </a:rPr>
              <a:t>base price → cap, rising with priority,</a:t>
            </a:r>
            <a:endParaRPr lang="en-US" sz="1250" dirty="0"/>
          </a:p>
          <a:p>
            <a:pPr indent="0" marL="0">
              <a:buNone/>
            </a:pPr>
            <a:r>
              <a:rPr lang="en-US" sz="1250" dirty="0">
                <a:solidFill>
                  <a:srgbClr val="1B2430"/>
                </a:solidFill>
                <a:latin typeface="Courier New" pitchFamily="34" charset="0"/>
                <a:ea typeface="Courier New" pitchFamily="34" charset="-122"/>
                <a:cs typeface="Courier New" pitchFamily="34" charset="-120"/>
              </a:rPr>
              <a:t>scarcity and deprivation</a:t>
            </a:r>
            <a:endParaRPr lang="en-US" sz="1250" dirty="0"/>
          </a:p>
        </p:txBody>
      </p:sp>
      <p:sp>
        <p:nvSpPr>
          <p:cNvPr id="21" name="Shape 16"/>
          <p:cNvSpPr/>
          <p:nvPr/>
        </p:nvSpPr>
        <p:spPr>
          <a:xfrm>
            <a:off x="6172200" y="3886200"/>
            <a:ext cx="5486400" cy="2194560"/>
          </a:xfrm>
          <a:prstGeom prst="roundRect">
            <a:avLst>
              <a:gd name="adj" fmla="val 5000"/>
            </a:avLst>
          </a:prstGeom>
          <a:solidFill>
            <a:srgbClr val="F3F6F9"/>
          </a:solidFill>
          <a:ln w="12700">
            <a:solidFill>
              <a:srgbClr val="F3F6F9"/>
            </a:solidFill>
            <a:prstDash val="solid"/>
          </a:ln>
        </p:spPr>
      </p:sp>
      <p:sp>
        <p:nvSpPr>
          <p:cNvPr id="22" name="Shape 17"/>
          <p:cNvSpPr/>
          <p:nvPr/>
        </p:nvSpPr>
        <p:spPr>
          <a:xfrm>
            <a:off x="6400800" y="4114800"/>
            <a:ext cx="585216" cy="585216"/>
          </a:xfrm>
          <a:prstGeom prst="ellipse">
            <a:avLst/>
          </a:prstGeom>
          <a:solidFill>
            <a:srgbClr val="F2A541"/>
          </a:solidFill>
          <a:ln w="12700">
            <a:solidFill>
              <a:srgbClr val="F2A541"/>
            </a:solidFill>
            <a:prstDash val="solid"/>
          </a:ln>
        </p:spPr>
      </p:sp>
      <p:pic>
        <p:nvPicPr>
          <p:cNvPr id="23" name="Image 3" descr="preencoded.png">    </p:cNvPr>
          <p:cNvPicPr>
            <a:picLocks noChangeAspect="1"/>
          </p:cNvPicPr>
          <p:nvPr/>
        </p:nvPicPr>
        <p:blipFill>
          <a:blip r:embed="rId4"/>
          <a:stretch>
            <a:fillRect/>
          </a:stretch>
        </p:blipFill>
        <p:spPr>
          <a:xfrm>
            <a:off x="6541252" y="4255252"/>
            <a:ext cx="304312" cy="304312"/>
          </a:xfrm>
          <a:prstGeom prst="rect">
            <a:avLst/>
          </a:prstGeom>
        </p:spPr>
      </p:pic>
      <p:sp>
        <p:nvSpPr>
          <p:cNvPr id="24" name="Text 18"/>
          <p:cNvSpPr txBox="1"/>
          <p:nvPr/>
        </p:nvSpPr>
        <p:spPr>
          <a:xfrm>
            <a:off x="7178040" y="4160520"/>
            <a:ext cx="4297680" cy="502920"/>
          </a:xfrm>
          <a:prstGeom prst="rect">
            <a:avLst/>
          </a:prstGeom>
          <a:noFill/>
          <a:ln/>
        </p:spPr>
        <p:txBody>
          <a:bodyPr wrap="square" lIns="0" tIns="0" rIns="0" bIns="0" rtlCol="0" anchor="ctr"/>
          <a:lstStyle/>
          <a:p>
            <a:pPr indent="0" marL="0">
              <a:buNone/>
            </a:pPr>
            <a:r>
              <a:rPr lang="en-US" sz="1700" b="1" dirty="0">
                <a:solidFill>
                  <a:srgbClr val="12263A"/>
                </a:solidFill>
                <a:latin typeface="Cambria" pitchFamily="34" charset="0"/>
                <a:ea typeface="Cambria" pitchFamily="34" charset="-122"/>
                <a:cs typeface="Cambria" pitchFamily="34" charset="-120"/>
              </a:rPr>
              <a:t>Demand response</a:t>
            </a:r>
            <a:endParaRPr lang="en-US" sz="1700" dirty="0"/>
          </a:p>
        </p:txBody>
      </p:sp>
      <p:sp>
        <p:nvSpPr>
          <p:cNvPr id="25" name="Text 19"/>
          <p:cNvSpPr txBox="1"/>
          <p:nvPr/>
        </p:nvSpPr>
        <p:spPr>
          <a:xfrm>
            <a:off x="6446520" y="4892040"/>
            <a:ext cx="4983480" cy="1005840"/>
          </a:xfrm>
          <a:prstGeom prst="rect">
            <a:avLst/>
          </a:prstGeom>
          <a:noFill/>
          <a:ln/>
        </p:spPr>
        <p:txBody>
          <a:bodyPr wrap="square" lIns="0" tIns="0" rIns="0" bIns="0" rtlCol="0" anchor="t"/>
          <a:lstStyle/>
          <a:p>
            <a:pPr indent="0" marL="0">
              <a:buNone/>
            </a:pPr>
            <a:r>
              <a:rPr lang="en-US" sz="1250" dirty="0">
                <a:solidFill>
                  <a:srgbClr val="1B2430"/>
                </a:solidFill>
                <a:latin typeface="Courier New" pitchFamily="34" charset="0"/>
                <a:ea typeface="Courier New" pitchFamily="34" charset="-122"/>
                <a:cs typeface="Courier New" pitchFamily="34" charset="-120"/>
              </a:rPr>
              <a:t>requested −= scarcity × 0.5 × (requested − minimum)</a:t>
            </a:r>
            <a:endParaRPr lang="en-US" sz="1250" dirty="0"/>
          </a:p>
          <a:p>
            <a:pPr indent="0" marL="0">
              <a:buNone/>
            </a:pPr>
            <a:r>
              <a:rPr lang="en-US" sz="1250" dirty="0">
                <a:solidFill>
                  <a:srgbClr val="1B2430"/>
                </a:solidFill>
                <a:latin typeface="Courier New" pitchFamily="34" charset="0"/>
                <a:ea typeface="Courier New" pitchFamily="34" charset="-122"/>
                <a:cs typeface="Courier New" pitchFamily="34" charset="-120"/>
              </a:rPr>
              <a:t>critical and minimum load are never cut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Search &amp; Optimisation — Market Clearing</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Search Strategy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Who gets power is an optimisation problem solved exactly every 15 minutes</a:t>
            </a:r>
            <a:endParaRPr lang="en-US" sz="1400" dirty="0"/>
          </a:p>
        </p:txBody>
      </p:sp>
      <p:sp>
        <p:nvSpPr>
          <p:cNvPr id="6" name="Shape 4"/>
          <p:cNvSpPr/>
          <p:nvPr/>
        </p:nvSpPr>
        <p:spPr>
          <a:xfrm>
            <a:off x="548640" y="1463040"/>
            <a:ext cx="5394960" cy="2148840"/>
          </a:xfrm>
          <a:prstGeom prst="roundRect">
            <a:avLst>
              <a:gd name="adj" fmla="val 5106"/>
            </a:avLst>
          </a:prstGeom>
          <a:solidFill>
            <a:srgbClr val="FDF1DC"/>
          </a:solidFill>
          <a:ln w="12700">
            <a:solidFill>
              <a:srgbClr val="FDF1DC"/>
            </a:solidFill>
            <a:prstDash val="solid"/>
          </a:ln>
        </p:spPr>
      </p:sp>
      <p:sp>
        <p:nvSpPr>
          <p:cNvPr id="7" name="Text 5"/>
          <p:cNvSpPr txBox="1"/>
          <p:nvPr/>
        </p:nvSpPr>
        <p:spPr>
          <a:xfrm>
            <a:off x="777240" y="1600200"/>
            <a:ext cx="5029200" cy="1371600"/>
          </a:xfrm>
          <a:prstGeom prst="rect">
            <a:avLst/>
          </a:prstGeom>
          <a:noFill/>
          <a:ln/>
        </p:spPr>
        <p:txBody>
          <a:bodyPr wrap="square" lIns="0" tIns="0" rIns="0" bIns="0" rtlCol="0" anchor="t"/>
          <a:lstStyle/>
          <a:p>
            <a:pPr indent="0" marL="0">
              <a:buNone/>
            </a:pPr>
            <a:r>
              <a:rPr lang="en-US" sz="1250" dirty="0">
                <a:solidFill>
                  <a:srgbClr val="12263A"/>
                </a:solidFill>
                <a:latin typeface="Courier New" pitchFamily="34" charset="0"/>
                <a:ea typeface="Courier New" pitchFamily="34" charset="-122"/>
                <a:cs typeface="Courier New" pitchFamily="34" charset="-120"/>
              </a:rPr>
              <a:t>maximise   Σᵢ Uᵢ(xᵢ)</a:t>
            </a:r>
            <a:endParaRPr lang="en-US" sz="1250" dirty="0"/>
          </a:p>
          <a:p>
            <a:pPr indent="0" marL="0">
              <a:buNone/>
            </a:pPr>
            <a:r>
              <a:rPr lang="en-US" sz="1250" dirty="0">
                <a:solidFill>
                  <a:srgbClr val="12263A"/>
                </a:solidFill>
                <a:latin typeface="Courier New" pitchFamily="34" charset="0"/>
                <a:ea typeface="Courier New" pitchFamily="34" charset="-122"/>
                <a:cs typeface="Courier New" pitchFamily="34" charset="-120"/>
              </a:rPr>
              <a:t>subject to Σᵢ xᵢ ≤ available supply</a:t>
            </a:r>
            <a:endParaRPr lang="en-US" sz="1250" dirty="0"/>
          </a:p>
          <a:p>
            <a:pPr indent="0" marL="0">
              <a:buNone/>
            </a:pPr>
            <a:r>
              <a:rPr lang="en-US" sz="1250" dirty="0">
                <a:solidFill>
                  <a:srgbClr val="12263A"/>
                </a:solidFill>
                <a:latin typeface="Courier New" pitchFamily="34" charset="0"/>
                <a:ea typeface="Courier New" pitchFamily="34" charset="-122"/>
                <a:cs typeface="Courier New" pitchFamily="34" charset="-120"/>
              </a:rPr>
              <a:t>           0 ≤ xᵢ ≤ requestedᵢ</a:t>
            </a:r>
            <a:endParaRPr lang="en-US" sz="1250" dirty="0"/>
          </a:p>
          <a:p>
            <a:pPr indent="0" marL="0">
              <a:buNone/>
            </a:pPr>
            <a:r>
              <a:rPr lang="en-US" sz="1250" dirty="0">
                <a:solidFill>
                  <a:srgbClr val="12263A"/>
                </a:solidFill>
                <a:latin typeface="Courier New" pitchFamily="34" charset="0"/>
                <a:ea typeface="Courier New" pitchFamily="34" charset="-122"/>
                <a:cs typeface="Courier New" pitchFamily="34" charset="-120"/>
              </a:rPr>
              <a:t>           xᵢ ≥ criticalᵢ (if supply allows)</a:t>
            </a:r>
            <a:endParaRPr lang="en-US" sz="1250" dirty="0"/>
          </a:p>
        </p:txBody>
      </p:sp>
      <p:sp>
        <p:nvSpPr>
          <p:cNvPr id="8" name="Text 6"/>
          <p:cNvSpPr txBox="1"/>
          <p:nvPr/>
        </p:nvSpPr>
        <p:spPr>
          <a:xfrm>
            <a:off x="777240" y="2926080"/>
            <a:ext cx="4983480" cy="685800"/>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Uᵢ is piecewise concave: critical ≫ minimum ≫ flexible (scored by criticality, priority, price, deprivation). Solved as a continuous bounded knapsack — exact, O(N log N).</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440680" cy="914400"/>
        </p:xfrm>
        <a:graphic>
          <a:graphicData uri="http://schemas.openxmlformats.org/drawingml/2006/table">
            <a:tbl>
              <a:tblPr/>
              <a:tblGrid>
                <a:gridCol w="1417320"/>
                <a:gridCol w="2697480"/>
                <a:gridCol w="1325880"/>
              </a:tblGrid>
              <a:tr h="42976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2263A"/>
                    </a:solidFill>
                  </a:tcPr>
                </a:tc>
              </a:tr>
              <a:tr h="429768">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Proportional</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Everyone gets the same fraction</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Priority-only</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Whole requests by priority</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Weak baseline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r h="429768">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Greedy tiers</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Critical → minimum → flexible by score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Critical first</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Optimised</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Welfare-maximising knapsack</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Full GridWeave</a:t>
                      </a:r>
                      <a:endParaRPr lang="en-US" sz="1200" dirty="0">
                        <a:latin typeface="Calibri" charset="0"/>
                        <a:ea typeface="Calibri" charset="0"/>
                        <a:cs typeface="Calibri" charset="0"/>
                      </a:endParaRPr>
                    </a:p>
                  </a:txBody>
                  <a:tcPr marL="76200" marR="76200" marT="50800" marB="508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F6F9"/>
                    </a:solidFill>
                  </a:tcPr>
                </a:tc>
              </a:tr>
            </a:tbl>
          </a:graphicData>
        </a:graphic>
      </p:graphicFrame>
      <p:sp>
        <p:nvSpPr>
          <p:cNvPr id="10" name="Shape 7"/>
          <p:cNvSpPr/>
          <p:nvPr/>
        </p:nvSpPr>
        <p:spPr>
          <a:xfrm>
            <a:off x="548640" y="3977640"/>
            <a:ext cx="3611880" cy="2240280"/>
          </a:xfrm>
          <a:prstGeom prst="roundRect">
            <a:avLst>
              <a:gd name="adj" fmla="val 4898"/>
            </a:avLst>
          </a:prstGeom>
          <a:solidFill>
            <a:srgbClr val="F3F6F9"/>
          </a:solidFill>
          <a:ln w="12700">
            <a:solidFill>
              <a:srgbClr val="F3F6F9"/>
            </a:solidFill>
            <a:prstDash val="solid"/>
          </a:ln>
        </p:spPr>
      </p:sp>
      <p:sp>
        <p:nvSpPr>
          <p:cNvPr id="11" name="Shape 8"/>
          <p:cNvSpPr/>
          <p:nvPr/>
        </p:nvSpPr>
        <p:spPr>
          <a:xfrm>
            <a:off x="749808" y="4178808"/>
            <a:ext cx="548640" cy="548640"/>
          </a:xfrm>
          <a:prstGeom prst="ellipse">
            <a:avLst/>
          </a:prstGeom>
          <a:solidFill>
            <a:srgbClr val="F2A541"/>
          </a:solidFill>
          <a:ln w="12700">
            <a:solidFill>
              <a:srgbClr val="F2A541"/>
            </a:solidFill>
            <a:prstDash val="solid"/>
          </a:ln>
        </p:spPr>
      </p:sp>
      <p:pic>
        <p:nvPicPr>
          <p:cNvPr id="12" name="Image 0" descr="preencoded.png">    </p:cNvPr>
          <p:cNvPicPr>
            <a:picLocks noChangeAspect="1"/>
          </p:cNvPicPr>
          <p:nvPr/>
        </p:nvPicPr>
        <p:blipFill>
          <a:blip r:embed="rId1"/>
          <a:stretch>
            <a:fillRect/>
          </a:stretch>
        </p:blipFill>
        <p:spPr>
          <a:xfrm>
            <a:off x="881482" y="4310482"/>
            <a:ext cx="285293" cy="285293"/>
          </a:xfrm>
          <a:prstGeom prst="rect">
            <a:avLst/>
          </a:prstGeom>
        </p:spPr>
      </p:pic>
      <p:sp>
        <p:nvSpPr>
          <p:cNvPr id="13" name="Text 9"/>
          <p:cNvSpPr txBox="1"/>
          <p:nvPr/>
        </p:nvSpPr>
        <p:spPr>
          <a:xfrm>
            <a:off x="1444752" y="4206240"/>
            <a:ext cx="2606040" cy="502920"/>
          </a:xfrm>
          <a:prstGeom prst="rect">
            <a:avLst/>
          </a:prstGeom>
          <a:noFill/>
          <a:ln/>
        </p:spPr>
        <p:txBody>
          <a:bodyPr wrap="square" lIns="0" tIns="0" rIns="0" bIns="0" rtlCol="0" anchor="ctr"/>
          <a:lstStyle/>
          <a:p>
            <a:pPr indent="0" marL="0">
              <a:buNone/>
            </a:pPr>
            <a:r>
              <a:rPr lang="en-US" sz="1450" b="1" dirty="0">
                <a:solidFill>
                  <a:srgbClr val="12263A"/>
                </a:solidFill>
                <a:latin typeface="Cambria" pitchFamily="34" charset="0"/>
                <a:ea typeface="Cambria" pitchFamily="34" charset="-122"/>
                <a:cs typeface="Cambria" pitchFamily="34" charset="-120"/>
              </a:rPr>
              <a:t>Merit-order dispatch</a:t>
            </a:r>
            <a:endParaRPr lang="en-US" sz="1450" dirty="0"/>
          </a:p>
        </p:txBody>
      </p:sp>
      <p:sp>
        <p:nvSpPr>
          <p:cNvPr id="14" name="Text 10"/>
          <p:cNvSpPr txBox="1"/>
          <p:nvPr/>
        </p:nvSpPr>
        <p:spPr>
          <a:xfrm>
            <a:off x="777240" y="4892040"/>
            <a:ext cx="3200400" cy="1188720"/>
          </a:xfrm>
          <a:prstGeom prst="rect">
            <a:avLst/>
          </a:prstGeom>
          <a:noFill/>
          <a:ln/>
        </p:spPr>
        <p:txBody>
          <a:bodyPr wrap="square" lIns="0" tIns="0" rIns="0" bIns="0" rtlCol="0" anchor="t"/>
          <a:lstStyle/>
          <a:p>
            <a:pPr indent="0" marL="0">
              <a:buNone/>
            </a:pPr>
            <a:r>
              <a:rPr lang="en-US" sz="1250" dirty="0">
                <a:solidFill>
                  <a:srgbClr val="1B2430"/>
                </a:solidFill>
                <a:latin typeface="Calibri" pitchFamily="34" charset="0"/>
                <a:ea typeface="Calibri" pitchFamily="34" charset="-122"/>
                <a:cs typeface="Calibri" pitchFamily="34" charset="-120"/>
              </a:rPr>
              <a:t>Cheapest source first: solar (free) → battery → grid</a:t>
            </a:r>
            <a:endParaRPr lang="en-US" sz="1250" dirty="0"/>
          </a:p>
        </p:txBody>
      </p:sp>
      <p:sp>
        <p:nvSpPr>
          <p:cNvPr id="15" name="Shape 11"/>
          <p:cNvSpPr/>
          <p:nvPr/>
        </p:nvSpPr>
        <p:spPr>
          <a:xfrm>
            <a:off x="4297680" y="3977640"/>
            <a:ext cx="3611880" cy="2240280"/>
          </a:xfrm>
          <a:prstGeom prst="roundRect">
            <a:avLst>
              <a:gd name="adj" fmla="val 4898"/>
            </a:avLst>
          </a:prstGeom>
          <a:solidFill>
            <a:srgbClr val="F3F6F9"/>
          </a:solidFill>
          <a:ln w="12700">
            <a:solidFill>
              <a:srgbClr val="F3F6F9"/>
            </a:solidFill>
            <a:prstDash val="solid"/>
          </a:ln>
        </p:spPr>
      </p:sp>
      <p:sp>
        <p:nvSpPr>
          <p:cNvPr id="16" name="Shape 12"/>
          <p:cNvSpPr/>
          <p:nvPr/>
        </p:nvSpPr>
        <p:spPr>
          <a:xfrm>
            <a:off x="4498848" y="4178808"/>
            <a:ext cx="548640" cy="548640"/>
          </a:xfrm>
          <a:prstGeom prst="ellipse">
            <a:avLst/>
          </a:prstGeom>
          <a:solidFill>
            <a:srgbClr val="F2A541"/>
          </a:solidFill>
          <a:ln w="12700">
            <a:solidFill>
              <a:srgbClr val="F2A541"/>
            </a:solidFill>
            <a:prstDash val="solid"/>
          </a:ln>
        </p:spPr>
      </p:sp>
      <p:pic>
        <p:nvPicPr>
          <p:cNvPr id="17" name="Image 1" descr="preencoded.png">    </p:cNvPr>
          <p:cNvPicPr>
            <a:picLocks noChangeAspect="1"/>
          </p:cNvPicPr>
          <p:nvPr/>
        </p:nvPicPr>
        <p:blipFill>
          <a:blip r:embed="rId2"/>
          <a:stretch>
            <a:fillRect/>
          </a:stretch>
        </p:blipFill>
        <p:spPr>
          <a:xfrm>
            <a:off x="4630522" y="4310482"/>
            <a:ext cx="285293" cy="285293"/>
          </a:xfrm>
          <a:prstGeom prst="rect">
            <a:avLst/>
          </a:prstGeom>
        </p:spPr>
      </p:pic>
      <p:sp>
        <p:nvSpPr>
          <p:cNvPr id="18" name="Text 13"/>
          <p:cNvSpPr txBox="1"/>
          <p:nvPr/>
        </p:nvSpPr>
        <p:spPr>
          <a:xfrm>
            <a:off x="5193792" y="4206240"/>
            <a:ext cx="2606040" cy="502920"/>
          </a:xfrm>
          <a:prstGeom prst="rect">
            <a:avLst/>
          </a:prstGeom>
          <a:noFill/>
          <a:ln/>
        </p:spPr>
        <p:txBody>
          <a:bodyPr wrap="square" lIns="0" tIns="0" rIns="0" bIns="0" rtlCol="0" anchor="ctr"/>
          <a:lstStyle/>
          <a:p>
            <a:pPr indent="0" marL="0">
              <a:buNone/>
            </a:pPr>
            <a:r>
              <a:rPr lang="en-US" sz="1450" b="1" dirty="0">
                <a:solidFill>
                  <a:srgbClr val="12263A"/>
                </a:solidFill>
                <a:latin typeface="Cambria" pitchFamily="34" charset="0"/>
                <a:ea typeface="Cambria" pitchFamily="34" charset="-122"/>
                <a:cs typeface="Cambria" pitchFamily="34" charset="-120"/>
              </a:rPr>
              <a:t>Emergency rationing</a:t>
            </a:r>
            <a:endParaRPr lang="en-US" sz="1450" dirty="0"/>
          </a:p>
        </p:txBody>
      </p:sp>
      <p:sp>
        <p:nvSpPr>
          <p:cNvPr id="19" name="Text 14"/>
          <p:cNvSpPr txBox="1"/>
          <p:nvPr/>
        </p:nvSpPr>
        <p:spPr>
          <a:xfrm>
            <a:off x="4526280" y="4892040"/>
            <a:ext cx="3200400" cy="1188720"/>
          </a:xfrm>
          <a:prstGeom prst="rect">
            <a:avLst/>
          </a:prstGeom>
          <a:noFill/>
          <a:ln/>
        </p:spPr>
        <p:txBody>
          <a:bodyPr wrap="square" lIns="0" tIns="0" rIns="0" bIns="0" rtlCol="0" anchor="t"/>
          <a:lstStyle/>
          <a:p>
            <a:pPr indent="0" marL="0">
              <a:buNone/>
            </a:pPr>
            <a:r>
              <a:rPr lang="en-US" sz="1250" dirty="0">
                <a:solidFill>
                  <a:srgbClr val="1B2430"/>
                </a:solidFill>
                <a:latin typeface="Calibri" pitchFamily="34" charset="0"/>
                <a:ea typeface="Calibri" pitchFamily="34" charset="-122"/>
                <a:cs typeface="Calibri" pitchFamily="34" charset="-120"/>
              </a:rPr>
              <a:t>Supply below total critical load → shared pro rata, every shortfall reported</a:t>
            </a:r>
            <a:endParaRPr lang="en-US" sz="1250" dirty="0"/>
          </a:p>
        </p:txBody>
      </p:sp>
      <p:sp>
        <p:nvSpPr>
          <p:cNvPr id="20" name="Shape 15"/>
          <p:cNvSpPr/>
          <p:nvPr/>
        </p:nvSpPr>
        <p:spPr>
          <a:xfrm>
            <a:off x="8046720" y="3977640"/>
            <a:ext cx="3611880" cy="2240280"/>
          </a:xfrm>
          <a:prstGeom prst="roundRect">
            <a:avLst>
              <a:gd name="adj" fmla="val 4898"/>
            </a:avLst>
          </a:prstGeom>
          <a:solidFill>
            <a:srgbClr val="F3F6F9"/>
          </a:solidFill>
          <a:ln w="12700">
            <a:solidFill>
              <a:srgbClr val="F3F6F9"/>
            </a:solidFill>
            <a:prstDash val="solid"/>
          </a:ln>
        </p:spPr>
      </p:sp>
      <p:sp>
        <p:nvSpPr>
          <p:cNvPr id="21" name="Shape 16"/>
          <p:cNvSpPr/>
          <p:nvPr/>
        </p:nvSpPr>
        <p:spPr>
          <a:xfrm>
            <a:off x="8247888" y="4178808"/>
            <a:ext cx="548640" cy="548640"/>
          </a:xfrm>
          <a:prstGeom prst="ellipse">
            <a:avLst/>
          </a:prstGeom>
          <a:solidFill>
            <a:srgbClr val="F2A541"/>
          </a:solidFill>
          <a:ln w="12700">
            <a:solidFill>
              <a:srgbClr val="F2A541"/>
            </a:solidFill>
            <a:prstDash val="solid"/>
          </a:ln>
        </p:spPr>
      </p:sp>
      <p:pic>
        <p:nvPicPr>
          <p:cNvPr id="22" name="Image 2" descr="preencoded.png">    </p:cNvPr>
          <p:cNvPicPr>
            <a:picLocks noChangeAspect="1"/>
          </p:cNvPicPr>
          <p:nvPr/>
        </p:nvPicPr>
        <p:blipFill>
          <a:blip r:embed="rId3"/>
          <a:stretch>
            <a:fillRect/>
          </a:stretch>
        </p:blipFill>
        <p:spPr>
          <a:xfrm>
            <a:off x="8379562" y="4310482"/>
            <a:ext cx="285293" cy="285293"/>
          </a:xfrm>
          <a:prstGeom prst="rect">
            <a:avLst/>
          </a:prstGeom>
        </p:spPr>
      </p:pic>
      <p:sp>
        <p:nvSpPr>
          <p:cNvPr id="23" name="Text 17"/>
          <p:cNvSpPr txBox="1"/>
          <p:nvPr/>
        </p:nvSpPr>
        <p:spPr>
          <a:xfrm>
            <a:off x="8942832" y="4206240"/>
            <a:ext cx="2606040" cy="502920"/>
          </a:xfrm>
          <a:prstGeom prst="rect">
            <a:avLst/>
          </a:prstGeom>
          <a:noFill/>
          <a:ln/>
        </p:spPr>
        <p:txBody>
          <a:bodyPr wrap="square" lIns="0" tIns="0" rIns="0" bIns="0" rtlCol="0" anchor="ctr"/>
          <a:lstStyle/>
          <a:p>
            <a:pPr indent="0" marL="0">
              <a:buNone/>
            </a:pPr>
            <a:r>
              <a:rPr lang="en-US" sz="1450" b="1" dirty="0">
                <a:solidFill>
                  <a:srgbClr val="12263A"/>
                </a:solidFill>
                <a:latin typeface="Cambria" pitchFamily="34" charset="0"/>
                <a:ea typeface="Cambria" pitchFamily="34" charset="-122"/>
                <a:cs typeface="Cambria" pitchFamily="34" charset="-120"/>
              </a:rPr>
              <a:t>Battery pricing</a:t>
            </a:r>
            <a:endParaRPr lang="en-US" sz="1450" dirty="0"/>
          </a:p>
        </p:txBody>
      </p:sp>
      <p:sp>
        <p:nvSpPr>
          <p:cNvPr id="24" name="Text 18"/>
          <p:cNvSpPr txBox="1"/>
          <p:nvPr/>
        </p:nvSpPr>
        <p:spPr>
          <a:xfrm>
            <a:off x="8275320" y="4892040"/>
            <a:ext cx="3200400" cy="1188720"/>
          </a:xfrm>
          <a:prstGeom prst="rect">
            <a:avLst/>
          </a:prstGeom>
          <a:noFill/>
          <a:ln/>
        </p:spPr>
        <p:txBody>
          <a:bodyPr wrap="square" lIns="0" tIns="0" rIns="0" bIns="0" rtlCol="0" anchor="t"/>
          <a:lstStyle/>
          <a:p>
            <a:pPr indent="0" marL="0">
              <a:buNone/>
            </a:pPr>
            <a:r>
              <a:rPr lang="en-US" sz="1250" dirty="0">
                <a:solidFill>
                  <a:srgbClr val="1B2430"/>
                </a:solidFill>
                <a:latin typeface="Calibri" pitchFamily="34" charset="0"/>
                <a:ea typeface="Calibri" pitchFamily="34" charset="-122"/>
                <a:cs typeface="Calibri" pitchFamily="34" charset="-120"/>
              </a:rPr>
              <a:t>Offer = wear cost + cost of stored energy ÷ efficiency (charged off-peak ≈ 12.5/kWh)</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Algorithm 3 — Battery Scheduling by Price</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Algorithmic Modeling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Charges when power is cheap; the market uses it only when it beats the grid</a:t>
            </a:r>
            <a:endParaRPr lang="en-US" sz="1400" dirty="0"/>
          </a:p>
        </p:txBody>
      </p:sp>
      <p:graphicFrame>
        <p:nvGraphicFramePr>
          <p:cNvPr id="6" name="Chart 0" descr=""/>
          <p:cNvGraphicFramePr/>
          <p:nvPr/>
        </p:nvGraphicFramePr>
        <p:xfrm>
          <a:off x="548640" y="1417320"/>
          <a:ext cx="7406640" cy="48463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229600" y="1554480"/>
            <a:ext cx="3429000" cy="45720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Recharges 00:00–06:00 at the 5/kWh off-peak tariff, using only spare grid capacity</a:t>
            </a:r>
            <a:endParaRPr lang="en-US" sz="1300" dirty="0"/>
          </a:p>
          <a:p>
            <a:pPr marL="203200" indent="-2032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Tracks the average cost of the energy it holds; offers at wear cost + that cost</a:t>
            </a:r>
            <a:endParaRPr lang="en-US" sz="1300" dirty="0"/>
          </a:p>
          <a:p>
            <a:pPr marL="203200" indent="-2032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After charging it offers at ≈ 12.5/kWh, so the market saves it for the 18/kWh evening peak — or an outage</a:t>
            </a:r>
            <a:endParaRPr lang="en-US" sz="1300" dirty="0"/>
          </a:p>
          <a:p>
            <a:pPr marL="203200" indent="-2032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Result: it refills every night and discharges when it adds value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Does the Algorithm Matter? Before → After</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Algorithmic Modeling · 3M</a:t>
            </a:r>
            <a:endParaRPr lang="en-US" sz="1150" dirty="0"/>
          </a:p>
        </p:txBody>
      </p:sp>
      <p:sp>
        <p:nvSpPr>
          <p:cNvPr id="5" name="Text 3"/>
          <p:cNvSpPr txBox="1"/>
          <p:nvPr/>
        </p:nvSpPr>
        <p:spPr>
          <a:xfrm>
            <a:off x="548640" y="987552"/>
            <a:ext cx="11064240" cy="365760"/>
          </a:xfrm>
          <a:prstGeom prst="rect">
            <a:avLst/>
          </a:prstGeom>
          <a:noFill/>
          <a:ln/>
        </p:spPr>
        <p:txBody>
          <a:bodyPr wrap="square" lIns="0" tIns="0" rIns="0" bIns="0" rtlCol="0" anchor="ctr"/>
          <a:lstStyle/>
          <a:p>
            <a:pPr indent="0" marL="0">
              <a:buNone/>
            </a:pPr>
            <a:r>
              <a:rPr lang="en-US" sz="1400" i="1" dirty="0">
                <a:solidFill>
                  <a:srgbClr val="5B6675"/>
                </a:solidFill>
                <a:latin typeface="Calibri" pitchFamily="34" charset="0"/>
                <a:ea typeface="Calibri" pitchFamily="34" charset="-122"/>
                <a:cs typeface="Calibri" pitchFamily="34" charset="-120"/>
              </a:rPr>
              <a:t>Same campus, same demand, same events — only the decision-making changes</a:t>
            </a:r>
            <a:endParaRPr lang="en-US" sz="1400" dirty="0"/>
          </a:p>
        </p:txBody>
      </p:sp>
      <p:graphicFrame>
        <p:nvGraphicFramePr>
          <p:cNvPr id="6" name="Chart 0" descr=""/>
          <p:cNvGraphicFramePr/>
          <p:nvPr/>
        </p:nvGraphicFramePr>
        <p:xfrm>
          <a:off x="548640" y="1417320"/>
          <a:ext cx="7589520" cy="48463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412480" y="1600200"/>
            <a:ext cx="3246120" cy="685800"/>
          </a:xfrm>
          <a:prstGeom prst="rect">
            <a:avLst/>
          </a:prstGeom>
          <a:noFill/>
          <a:ln/>
        </p:spPr>
        <p:txBody>
          <a:bodyPr wrap="square" lIns="0" tIns="0" rIns="0" bIns="0" rtlCol="0" anchor="t"/>
          <a:lstStyle/>
          <a:p>
            <a:pPr indent="0" marL="0">
              <a:buNone/>
            </a:pPr>
            <a:r>
              <a:rPr lang="en-US" sz="3800" b="1" dirty="0">
                <a:solidFill>
                  <a:srgbClr val="1BAF7A"/>
                </a:solidFill>
                <a:latin typeface="Cambria" pitchFamily="34" charset="0"/>
                <a:ea typeface="Cambria" pitchFamily="34" charset="-122"/>
                <a:cs typeface="Cambria" pitchFamily="34" charset="-120"/>
              </a:rPr>
              <a:t>3.8×</a:t>
            </a:r>
            <a:endParaRPr lang="en-US" sz="3800" dirty="0"/>
          </a:p>
        </p:txBody>
      </p:sp>
      <p:sp>
        <p:nvSpPr>
          <p:cNvPr id="8" name="Text 5"/>
          <p:cNvSpPr txBox="1"/>
          <p:nvPr/>
        </p:nvSpPr>
        <p:spPr>
          <a:xfrm>
            <a:off x="8412480" y="2313432"/>
            <a:ext cx="324612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less critical load unserved in a daytime grid outage (113 → 30 kWh)</a:t>
            </a:r>
            <a:endParaRPr lang="en-US" sz="1250" dirty="0"/>
          </a:p>
        </p:txBody>
      </p:sp>
      <p:sp>
        <p:nvSpPr>
          <p:cNvPr id="9" name="Text 6"/>
          <p:cNvSpPr txBox="1"/>
          <p:nvPr/>
        </p:nvSpPr>
        <p:spPr>
          <a:xfrm>
            <a:off x="8412480" y="3063240"/>
            <a:ext cx="3246120" cy="685800"/>
          </a:xfrm>
          <a:prstGeom prst="rect">
            <a:avLst/>
          </a:prstGeom>
          <a:noFill/>
          <a:ln/>
        </p:spPr>
        <p:txBody>
          <a:bodyPr wrap="square" lIns="0" tIns="0" rIns="0" bIns="0" rtlCol="0" anchor="t"/>
          <a:lstStyle/>
          <a:p>
            <a:pPr indent="0" marL="0">
              <a:buNone/>
            </a:pPr>
            <a:r>
              <a:rPr lang="en-US" sz="3800" b="1" dirty="0">
                <a:solidFill>
                  <a:srgbClr val="1BAF7A"/>
                </a:solidFill>
                <a:latin typeface="Cambria" pitchFamily="34" charset="0"/>
                <a:ea typeface="Cambria" pitchFamily="34" charset="-122"/>
                <a:cs typeface="Cambria" pitchFamily="34" charset="-120"/>
              </a:rPr>
              <a:t>8×</a:t>
            </a:r>
            <a:endParaRPr lang="en-US" sz="3800" dirty="0"/>
          </a:p>
        </p:txBody>
      </p:sp>
      <p:sp>
        <p:nvSpPr>
          <p:cNvPr id="10" name="Text 7"/>
          <p:cNvSpPr txBox="1"/>
          <p:nvPr/>
        </p:nvSpPr>
        <p:spPr>
          <a:xfrm>
            <a:off x="8412480" y="3776472"/>
            <a:ext cx="3246120" cy="548640"/>
          </a:xfrm>
          <a:prstGeom prst="rect">
            <a:avLst/>
          </a:prstGeom>
          <a:noFill/>
          <a:ln/>
        </p:spPr>
        <p:txBody>
          <a:bodyPr wrap="square" lIns="0" tIns="0" rIns="0" bIns="0" rtlCol="0" anchor="t"/>
          <a:lstStyle/>
          <a:p>
            <a:pPr indent="0" marL="0">
              <a:buNone/>
            </a:pPr>
            <a:r>
              <a:rPr lang="en-US" sz="1250" dirty="0">
                <a:solidFill>
                  <a:srgbClr val="5B6675"/>
                </a:solidFill>
                <a:latin typeface="Calibri" pitchFamily="34" charset="0"/>
                <a:ea typeface="Calibri" pitchFamily="34" charset="-122"/>
                <a:cs typeface="Calibri" pitchFamily="34" charset="-120"/>
              </a:rPr>
              <a:t>less under severe scarcity (387 → 47 kWh)</a:t>
            </a:r>
            <a:endParaRPr lang="en-US" sz="1250" dirty="0"/>
          </a:p>
        </p:txBody>
      </p:sp>
      <p:sp>
        <p:nvSpPr>
          <p:cNvPr id="11" name="Text 8"/>
          <p:cNvSpPr txBox="1"/>
          <p:nvPr/>
        </p:nvSpPr>
        <p:spPr>
          <a:xfrm>
            <a:off x="8412480" y="4526280"/>
            <a:ext cx="3246120" cy="1280160"/>
          </a:xfrm>
          <a:prstGeom prst="rect">
            <a:avLst/>
          </a:prstGeom>
          <a:noFill/>
          <a:ln/>
        </p:spPr>
        <p:txBody>
          <a:bodyPr wrap="square" lIns="0" tIns="0" rIns="0" bIns="0" rtlCol="0" anchor="t"/>
          <a:lstStyle/>
          <a:p>
            <a:pPr indent="0" marL="0">
              <a:buNone/>
            </a:pPr>
            <a:r>
              <a:rPr lang="en-US" sz="1300" i="1" dirty="0">
                <a:solidFill>
                  <a:srgbClr val="5B6675"/>
                </a:solidFill>
                <a:latin typeface="Calibri" pitchFamily="34" charset="0"/>
                <a:ea typeface="Calibri" pitchFamily="34" charset="-122"/>
                <a:cs typeface="Calibri" pitchFamily="34" charset="-120"/>
              </a:rPr>
              <a:t>Trade-off: protecting critical load costs some equality — fairness 0.989 → 0.918 under scarcity.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Assumptions &amp; Anticipated Questions</a:t>
            </a:r>
            <a:endParaRPr lang="en-US" sz="3000" dirty="0"/>
          </a:p>
        </p:txBody>
      </p:sp>
      <p:sp>
        <p:nvSpPr>
          <p:cNvPr id="3" name="Shape 1"/>
          <p:cNvSpPr/>
          <p:nvPr/>
        </p:nvSpPr>
        <p:spPr>
          <a:xfrm>
            <a:off x="9372600" y="411480"/>
            <a:ext cx="2286000" cy="457200"/>
          </a:xfrm>
          <a:prstGeom prst="roundRect">
            <a:avLst>
              <a:gd name="adj" fmla="val 50000"/>
            </a:avLst>
          </a:prstGeom>
          <a:solidFill>
            <a:srgbClr val="FDF1DC"/>
          </a:solidFill>
          <a:ln w="12700">
            <a:solidFill>
              <a:srgbClr val="F2A541"/>
            </a:solidFill>
            <a:prstDash val="solid"/>
          </a:ln>
        </p:spPr>
      </p:sp>
      <p:sp>
        <p:nvSpPr>
          <p:cNvPr id="4" name="Text 2"/>
          <p:cNvSpPr txBox="1"/>
          <p:nvPr/>
        </p:nvSpPr>
        <p:spPr>
          <a:xfrm>
            <a:off x="9372600" y="411480"/>
            <a:ext cx="2286000" cy="457200"/>
          </a:xfrm>
          <a:prstGeom prst="rect">
            <a:avLst/>
          </a:prstGeom>
          <a:noFill/>
          <a:ln/>
        </p:spPr>
        <p:txBody>
          <a:bodyPr wrap="square" lIns="0" tIns="0" rIns="0" bIns="0" rtlCol="0" anchor="ctr"/>
          <a:lstStyle/>
          <a:p>
            <a:pPr algn="ctr" indent="0" marL="0">
              <a:buNone/>
            </a:pPr>
            <a:r>
              <a:rPr lang="en-US" sz="1150" b="1" dirty="0">
                <a:solidFill>
                  <a:srgbClr val="12263A"/>
                </a:solidFill>
                <a:latin typeface="Calibri" pitchFamily="34" charset="0"/>
                <a:ea typeface="Calibri" pitchFamily="34" charset="-122"/>
                <a:cs typeface="Calibri" pitchFamily="34" charset="-120"/>
              </a:rPr>
              <a:t>Q&amp;A · 1M</a:t>
            </a:r>
            <a:endParaRPr lang="en-US" sz="1150" dirty="0"/>
          </a:p>
        </p:txBody>
      </p:sp>
      <p:sp>
        <p:nvSpPr>
          <p:cNvPr id="5" name="Shape 3"/>
          <p:cNvSpPr/>
          <p:nvPr/>
        </p:nvSpPr>
        <p:spPr>
          <a:xfrm>
            <a:off x="548640" y="1371600"/>
            <a:ext cx="4937760" cy="4846320"/>
          </a:xfrm>
          <a:prstGeom prst="roundRect">
            <a:avLst>
              <a:gd name="adj" fmla="val 2264"/>
            </a:avLst>
          </a:prstGeom>
          <a:solidFill>
            <a:srgbClr val="F3F6F9"/>
          </a:solidFill>
          <a:ln w="12700">
            <a:solidFill>
              <a:srgbClr val="F3F6F9"/>
            </a:solidFill>
            <a:prstDash val="solid"/>
          </a:ln>
        </p:spPr>
      </p:sp>
      <p:sp>
        <p:nvSpPr>
          <p:cNvPr id="6" name="Text 4"/>
          <p:cNvSpPr txBox="1"/>
          <p:nvPr/>
        </p:nvSpPr>
        <p:spPr>
          <a:xfrm>
            <a:off x="777240" y="1508760"/>
            <a:ext cx="4572000" cy="411480"/>
          </a:xfrm>
          <a:prstGeom prst="rect">
            <a:avLst/>
          </a:prstGeom>
          <a:noFill/>
          <a:ln/>
        </p:spPr>
        <p:txBody>
          <a:bodyPr wrap="square" lIns="0" tIns="0" rIns="0" bIns="0" rtlCol="0" anchor="t"/>
          <a:lstStyle/>
          <a:p>
            <a:pPr indent="0" marL="0">
              <a:buNone/>
            </a:pPr>
            <a:r>
              <a:rPr lang="en-US" sz="1600" b="1" dirty="0">
                <a:solidFill>
                  <a:srgbClr val="12263A"/>
                </a:solidFill>
                <a:latin typeface="Cambria" pitchFamily="34" charset="0"/>
                <a:ea typeface="Cambria" pitchFamily="34" charset="-122"/>
                <a:cs typeface="Cambria" pitchFamily="34" charset="-120"/>
              </a:rPr>
              <a:t>Modelling assumptions</a:t>
            </a:r>
            <a:endParaRPr lang="en-US" sz="1600" dirty="0"/>
          </a:p>
        </p:txBody>
      </p:sp>
      <p:sp>
        <p:nvSpPr>
          <p:cNvPr id="7" name="Text 5"/>
          <p:cNvSpPr txBox="1"/>
          <p:nvPr/>
        </p:nvSpPr>
        <p:spPr>
          <a:xfrm>
            <a:off x="777240" y="2057400"/>
            <a:ext cx="4526280" cy="41148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Synthetic demand: realistic occupancy timetables with noise, not metered data</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15-minute slots; power is an average over the slot</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Buildings can switch their own flexible loads</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Postponed energy must be served within 2 hours</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Bids are honest forecasts (the market is not made cheat-proof)</a:t>
            </a:r>
            <a:endParaRPr lang="en-US" sz="1500" dirty="0"/>
          </a:p>
        </p:txBody>
      </p:sp>
      <p:sp>
        <p:nvSpPr>
          <p:cNvPr id="8" name="Shape 6"/>
          <p:cNvSpPr/>
          <p:nvPr/>
        </p:nvSpPr>
        <p:spPr>
          <a:xfrm>
            <a:off x="5760720" y="1371600"/>
            <a:ext cx="5897880" cy="1097280"/>
          </a:xfrm>
          <a:prstGeom prst="roundRect">
            <a:avLst>
              <a:gd name="adj" fmla="val 10000"/>
            </a:avLst>
          </a:prstGeom>
          <a:solidFill>
            <a:srgbClr val="FDF1DC"/>
          </a:solidFill>
          <a:ln w="12700">
            <a:solidFill>
              <a:srgbClr val="FDF1DC"/>
            </a:solidFill>
            <a:prstDash val="solid"/>
          </a:ln>
        </p:spPr>
      </p:sp>
      <p:sp>
        <p:nvSpPr>
          <p:cNvPr id="9" name="Text 7"/>
          <p:cNvSpPr txBox="1"/>
          <p:nvPr/>
        </p:nvSpPr>
        <p:spPr>
          <a:xfrm>
            <a:off x="5943600" y="1499616"/>
            <a:ext cx="5577840" cy="36576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Is this machine learning?</a:t>
            </a:r>
            <a:endParaRPr lang="en-US" sz="1350" dirty="0"/>
          </a:p>
        </p:txBody>
      </p:sp>
      <p:sp>
        <p:nvSpPr>
          <p:cNvPr id="10" name="Text 8"/>
          <p:cNvSpPr txBox="1"/>
          <p:nvPr/>
        </p:nvSpPr>
        <p:spPr>
          <a:xfrm>
            <a:off x="5943600" y="1810512"/>
            <a:ext cx="5577840" cy="640080"/>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The forecaster is: a supervised model trained per building, tested on held-out data. The market is exact optimisation.</a:t>
            </a:r>
            <a:endParaRPr lang="en-US" sz="1200" dirty="0"/>
          </a:p>
        </p:txBody>
      </p:sp>
      <p:sp>
        <p:nvSpPr>
          <p:cNvPr id="11" name="Shape 9"/>
          <p:cNvSpPr/>
          <p:nvPr/>
        </p:nvSpPr>
        <p:spPr>
          <a:xfrm>
            <a:off x="5760720" y="2587752"/>
            <a:ext cx="5897880" cy="1097280"/>
          </a:xfrm>
          <a:prstGeom prst="roundRect">
            <a:avLst>
              <a:gd name="adj" fmla="val 10000"/>
            </a:avLst>
          </a:prstGeom>
          <a:solidFill>
            <a:srgbClr val="FDF1DC"/>
          </a:solidFill>
          <a:ln w="12700">
            <a:solidFill>
              <a:srgbClr val="FDF1DC"/>
            </a:solidFill>
            <a:prstDash val="solid"/>
          </a:ln>
        </p:spPr>
      </p:sp>
      <p:sp>
        <p:nvSpPr>
          <p:cNvPr id="12" name="Text 10"/>
          <p:cNvSpPr txBox="1"/>
          <p:nvPr/>
        </p:nvSpPr>
        <p:spPr>
          <a:xfrm>
            <a:off x="5943600" y="2715768"/>
            <a:ext cx="5577840" cy="36576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Where is the search?</a:t>
            </a:r>
            <a:endParaRPr lang="en-US" sz="1350" dirty="0"/>
          </a:p>
        </p:txBody>
      </p:sp>
      <p:sp>
        <p:nvSpPr>
          <p:cNvPr id="13" name="Text 11"/>
          <p:cNvSpPr txBox="1"/>
          <p:nvPr/>
        </p:nvSpPr>
        <p:spPr>
          <a:xfrm>
            <a:off x="5943600" y="3026664"/>
            <a:ext cx="5577840" cy="640080"/>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Market clearing — a welfare-maximising knapsack, exact in O(N log N) — and merit-order dispatch.</a:t>
            </a:r>
            <a:endParaRPr lang="en-US" sz="1200" dirty="0"/>
          </a:p>
        </p:txBody>
      </p:sp>
      <p:sp>
        <p:nvSpPr>
          <p:cNvPr id="14" name="Shape 12"/>
          <p:cNvSpPr/>
          <p:nvPr/>
        </p:nvSpPr>
        <p:spPr>
          <a:xfrm>
            <a:off x="5760720" y="3803904"/>
            <a:ext cx="5897880" cy="1097280"/>
          </a:xfrm>
          <a:prstGeom prst="roundRect">
            <a:avLst>
              <a:gd name="adj" fmla="val 10000"/>
            </a:avLst>
          </a:prstGeom>
          <a:solidFill>
            <a:srgbClr val="FDF1DC"/>
          </a:solidFill>
          <a:ln w="12700">
            <a:solidFill>
              <a:srgbClr val="FDF1DC"/>
            </a:solidFill>
            <a:prstDash val="solid"/>
          </a:ln>
        </p:spPr>
      </p:sp>
      <p:sp>
        <p:nvSpPr>
          <p:cNvPr id="15" name="Text 13"/>
          <p:cNvSpPr txBox="1"/>
          <p:nvPr/>
        </p:nvSpPr>
        <p:spPr>
          <a:xfrm>
            <a:off x="5943600" y="3931920"/>
            <a:ext cx="5577840" cy="36576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What guarantees critical load?</a:t>
            </a:r>
            <a:endParaRPr lang="en-US" sz="1350" dirty="0"/>
          </a:p>
        </p:txBody>
      </p:sp>
      <p:sp>
        <p:nvSpPr>
          <p:cNvPr id="16" name="Text 14"/>
          <p:cNvSpPr txBox="1"/>
          <p:nvPr/>
        </p:nvSpPr>
        <p:spPr>
          <a:xfrm>
            <a:off x="5943600" y="4242816"/>
            <a:ext cx="5577840" cy="640080"/>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The critical tier serves it fully whenever supply allows; below that it is shared and every shortfall is reported.</a:t>
            </a:r>
            <a:endParaRPr lang="en-US" sz="1200" dirty="0"/>
          </a:p>
        </p:txBody>
      </p:sp>
      <p:sp>
        <p:nvSpPr>
          <p:cNvPr id="17" name="Shape 15"/>
          <p:cNvSpPr/>
          <p:nvPr/>
        </p:nvSpPr>
        <p:spPr>
          <a:xfrm>
            <a:off x="5760720" y="5020056"/>
            <a:ext cx="5897880" cy="1097280"/>
          </a:xfrm>
          <a:prstGeom prst="roundRect">
            <a:avLst>
              <a:gd name="adj" fmla="val 10000"/>
            </a:avLst>
          </a:prstGeom>
          <a:solidFill>
            <a:srgbClr val="FDF1DC"/>
          </a:solidFill>
          <a:ln w="12700">
            <a:solidFill>
              <a:srgbClr val="FDF1DC"/>
            </a:solidFill>
            <a:prstDash val="solid"/>
          </a:ln>
        </p:spPr>
      </p:sp>
      <p:sp>
        <p:nvSpPr>
          <p:cNvPr id="18" name="Text 16"/>
          <p:cNvSpPr txBox="1"/>
          <p:nvPr/>
        </p:nvSpPr>
        <p:spPr>
          <a:xfrm>
            <a:off x="5943600" y="5148072"/>
            <a:ext cx="5577840" cy="36576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What if a forecast is wrong?</a:t>
            </a:r>
            <a:endParaRPr lang="en-US" sz="1350" dirty="0"/>
          </a:p>
        </p:txBody>
      </p:sp>
      <p:sp>
        <p:nvSpPr>
          <p:cNvPr id="19" name="Text 17"/>
          <p:cNvSpPr txBox="1"/>
          <p:nvPr/>
        </p:nvSpPr>
        <p:spPr>
          <a:xfrm>
            <a:off x="5943600" y="5458968"/>
            <a:ext cx="5577840" cy="640080"/>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Settlement uses real demand: under-forecasts show as shortfall or deferral, over-forecasts as unused allocation.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731520" y="1463040"/>
            <a:ext cx="10058400" cy="91440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2423160"/>
            <a:ext cx="10058400" cy="640080"/>
          </a:xfrm>
          <a:prstGeom prst="rect">
            <a:avLst/>
          </a:prstGeom>
          <a:noFill/>
          <a:ln/>
        </p:spPr>
        <p:txBody>
          <a:bodyPr wrap="square" lIns="0" tIns="0" rIns="0" bIns="0" rtlCol="0" anchor="t"/>
          <a:lstStyle/>
          <a:p>
            <a:pPr indent="0" marL="0">
              <a:buNone/>
            </a:pPr>
            <a:r>
              <a:rPr lang="en-US" sz="2600" dirty="0">
                <a:solidFill>
                  <a:srgbClr val="F2A541"/>
                </a:solidFill>
                <a:latin typeface="Calibri" pitchFamily="34" charset="0"/>
                <a:ea typeface="Calibri" pitchFamily="34" charset="-122"/>
                <a:cs typeface="Calibri" pitchFamily="34" charset="-120"/>
              </a:rPr>
              <a:t>Questions?</a:t>
            </a:r>
            <a:endParaRPr lang="en-US" sz="2600" dirty="0"/>
          </a:p>
        </p:txBody>
      </p:sp>
      <p:sp>
        <p:nvSpPr>
          <p:cNvPr id="4" name="Text 2"/>
          <p:cNvSpPr txBox="1"/>
          <p:nvPr/>
        </p:nvSpPr>
        <p:spPr>
          <a:xfrm>
            <a:off x="731520" y="3474720"/>
            <a:ext cx="10515600" cy="2011680"/>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DCE6F2"/>
                </a:solidFill>
                <a:latin typeface="Calibri" pitchFamily="34" charset="0"/>
                <a:ea typeface="Calibri" pitchFamily="34" charset="-122"/>
                <a:cs typeface="Calibri" pitchFamily="34" charset="-120"/>
              </a:rPr>
              <a:t>PEAS for 5 agent types, in a partially observable, stochastic, sequential, multi-agent environment</a:t>
            </a:r>
            <a:endParaRPr lang="en-US" sz="1600" dirty="0"/>
          </a:p>
          <a:p>
            <a:pPr marL="203200" indent="-203200">
              <a:spcAft>
                <a:spcPts val="600"/>
              </a:spcAft>
              <a:buSzPct val="100000"/>
              <a:buChar char="•"/>
            </a:pPr>
            <a:r>
              <a:rPr lang="en-US" sz="1600" dirty="0">
                <a:solidFill>
                  <a:srgbClr val="DCE6F2"/>
                </a:solidFill>
                <a:latin typeface="Calibri" pitchFamily="34" charset="0"/>
                <a:ea typeface="Calibri" pitchFamily="34" charset="-122"/>
                <a:cs typeface="Calibri" pitchFamily="34" charset="-120"/>
              </a:rPr>
              <a:t>Learned forecasting + exact welfare-maximising market clearing + cost-aware battery scheduling</a:t>
            </a:r>
            <a:endParaRPr lang="en-US" sz="1600" dirty="0"/>
          </a:p>
          <a:p>
            <a:pPr marL="203200" indent="-203200">
              <a:spcAft>
                <a:spcPts val="600"/>
              </a:spcAft>
              <a:buSzPct val="100000"/>
              <a:buChar char="•"/>
            </a:pPr>
            <a:r>
              <a:rPr lang="en-US" sz="1600" dirty="0">
                <a:solidFill>
                  <a:srgbClr val="DCE6F2"/>
                </a:solidFill>
                <a:latin typeface="Calibri" pitchFamily="34" charset="0"/>
                <a:ea typeface="Calibri" pitchFamily="34" charset="-122"/>
                <a:cs typeface="Calibri" pitchFamily="34" charset="-120"/>
              </a:rPr>
              <a:t>3.8× less critical load unserved in an outage than an equal-share baseline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GridWeave — Review 1</dc:title>
  <dc:subject>PptxGenJS Presentation</dc:subject>
  <dc:creator>PptxGenJS</dc:creator>
  <cp:lastModifiedBy>PptxGenJS</cp:lastModifiedBy>
  <cp:revision>1</cp:revision>
  <dcterms:created xsi:type="dcterms:W3CDTF">2026-09-30T15:50:56Z</dcterms:created>
  <dcterms:modified xsi:type="dcterms:W3CDTF">2026-09-30T15:50:56Z</dcterms:modified>
</cp:coreProperties>
</file>